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8.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9.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0.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4296ca7-31c8-fa98-0846-3cda024c417a}">
          <p14:sldIdLst>
            <p14:sldId id="256"/>
            <p14:sldId id="257"/>
            <p14:sldId id="258"/>
          </p14:sldIdLst>
        </p14:section>
        <p14:section name="Data" id="{c32c7c95-5a49-3a27-abca-fd23be1e499b}">
          <p14:sldIdLst>
            <p14:sldId id="259"/>
            <p14:sldId id="260"/>
            <p14:sldId id="261"/>
            <p14:sldId id="262"/>
          </p14:sldIdLst>
        </p14:section>
        <p14:section name="Baseline Model" id="{3995d6eb-ed37-165e-6a9a-4e396deb47fa}">
          <p14:sldIdLst>
            <p14:sldId id="263"/>
            <p14:sldId id="264"/>
            <p14:sldId id="265"/>
            <p14:sldId id="266"/>
            <p14:sldId id="267"/>
          </p14:sldIdLst>
        </p14:section>
        <p14:section name="Advanced Models" id="{85c866f6-93f7-9abf-2cae-bfab9d569672}">
          <p14:sldIdLst>
            <p14:sldId id="268"/>
            <p14:sldId id="269"/>
            <p14:sldId id="270"/>
            <p14:sldId id="271"/>
            <p14:sldId id="272"/>
          </p14:sldIdLst>
        </p14:section>
        <p14:section name="Recommendation" id="{c6231e9a-10b4-a3d2-2aec-101b6636d47e}">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F4B"/>
                </a:solidFill>
                <a:latin typeface="Calibri"/>
              </a:defRPr>
            </a:pPr>
            <a:r>
              <a:rPr sz="1300" b="0" i="0" u="none" strike="noStrike">
                <a:solidFill>
                  <a:srgbClr val="0B1F4B"/>
                </a:solidFill>
                <a:latin typeface="Calibri"/>
              </a:rPr>
              <a:t>Historical decision (target column: decision)</a:t>
            </a:r>
          </a:p>
        </c:rich>
      </c:tx>
      <c:layout/>
      <c:overlay val="0"/>
    </c:title>
    <c:autoTitleDeleted val="0"/>
    <c:plotArea>
      <c:layout/>
      <c:doughnutChart>
        <c:varyColors val="1"/>
        <c:ser>
          <c:idx val="0"/>
          <c:order val="0"/>
          <c:tx>
            <c:strRef>
              <c:f>Sheet1!$B$1</c:f>
              <c:strCache>
                <c:ptCount val="1"/>
                <c:pt idx="0">
                  <c:v>Decision</c:v>
                </c:pt>
              </c:strCache>
            </c:strRef>
          </c:tx>
          <c:spPr>
            <a:solidFill>
              <a:schemeClr val="accent1"/>
            </a:solidFill>
            <a:ln w="9525" cap="flat">
              <a:solidFill>
                <a:srgbClr val="F9F9F9"/>
              </a:solidFill>
              <a:prstDash val="solid"/>
              <a:round/>
            </a:ln>
            <a:effectLst/>
          </c:spPr>
          <c:dPt>
            <c:idx val="0"/>
            <c:bubble3D val="0"/>
            <c:spPr>
              <a:solidFill>
                <a:srgbClr val="2E9E5B"/>
              </a:solidFill>
              <a:ln w="25400" cap="flat">
                <a:solidFill>
                  <a:srgbClr val="FFFFFF"/>
                </a:solidFill>
                <a:prstDash val="solid"/>
                <a:round/>
              </a:ln>
              <a:effectLst/>
            </c:spPr>
          </c:dPt>
          <c:dPt>
            <c:idx val="1"/>
            <c:bubble3D val="0"/>
            <c:spPr>
              <a:solidFill>
                <a:srgbClr val="F28C28"/>
              </a:solidFill>
              <a:ln w="25400" cap="flat">
                <a:solidFill>
                  <a:srgbClr val="FFFFFF"/>
                </a:solidFill>
                <a:prstDash val="solid"/>
                <a:round/>
              </a:ln>
              <a:effectLst/>
            </c:spPr>
          </c:dPt>
          <c:dLbls>
            <c:dLbl>
              <c:idx val="0"/>
              <c:numFmt formatCode="0%" sourceLinked="0"/>
              <c:spPr/>
              <c:txPr>
                <a:bodyPr/>
                <a:lstStyle/>
                <a:p>
                  <a:pPr>
                    <a:defRPr sz="1300" b="1" i="0" u="none" strike="noStrike">
                      <a:solidFill>
                        <a:srgbClr val="FFFFFF"/>
                      </a:solidFill>
                      <a:latin typeface="Calibri"/>
                    </a:defRPr>
                  </a:pPr>
                </a:p>
              </c:txPr>
              <c:showLegendKey val="0"/>
              <c:showVal val="0"/>
              <c:showCatName val="0"/>
              <c:showSerName val="0"/>
              <c:showPercent val="1"/>
              <c:showBubbleSize val="0"/>
            </c:dLbl>
            <c:dLbl>
              <c:idx val="1"/>
              <c:numFmt formatCode="0%" sourceLinked="0"/>
              <c:spPr/>
              <c:txPr>
                <a:bodyPr/>
                <a:lstStyle/>
                <a:p>
                  <a:pPr>
                    <a:defRPr sz="1300" b="1" i="0" u="none" strike="noStrike">
                      <a:solidFill>
                        <a:srgbClr val="FFFFFF"/>
                      </a:solidFill>
                      <a:latin typeface="Calibri"/>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Approved (6,353)</c:v>
                </c:pt>
                <c:pt idx="1">
                  <c:v>Declined (5,647)</c:v>
                </c:pt>
              </c:strCache>
            </c:strRef>
          </c:cat>
          <c:val>
            <c:numRef>
              <c:f>Sheet1!$B$2:$B$3</c:f>
              <c:numCache>
                <c:ptCount val="2"/>
                <c:pt idx="0">
                  <c:v>6353</c:v>
                </c:pt>
                <c:pt idx="1">
                  <c:v>5647</c:v>
                </c:pt>
              </c:numCache>
            </c:numRef>
          </c:val>
        </c:ser>
        <c:firstSliceAng val="0"/>
        <c:holeSize val="58"/>
      </c:doughnutChart>
      <c:spPr>
        <a:noFill/>
        <a:ln>
          <a:noFill/>
        </a:ln>
        <a:effectLst/>
      </c:spPr>
    </c:plotArea>
    <c:legend>
      <c:legendPos val="b"/>
      <c:overlay val="0"/>
      <c:txPr>
        <a:bodyPr/>
        <a:lstStyle/>
        <a:p>
          <a:pPr>
            <a:defRPr sz="1200">
              <a:solidFill>
                <a:srgbClr val="1F2A44"/>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F4B"/>
                </a:solidFill>
                <a:latin typeface="Calibri"/>
              </a:defRPr>
            </a:pPr>
            <a:r>
              <a:rPr sz="1300" b="0" i="0" u="none" strike="noStrike">
                <a:solidFill>
                  <a:srgbClr val="0B1F4B"/>
                </a:solidFill>
                <a:latin typeface="Calibri"/>
              </a:rPr>
              <a:t>Approval rate by credit-score band (%)</a:t>
            </a:r>
          </a:p>
        </c:rich>
      </c:tx>
      <c:layout/>
      <c:overlay val="0"/>
    </c:title>
    <c:autoTitleDeleted val="0"/>
    <c:plotArea>
      <c:layout/>
      <c:barChart>
        <c:barDir val="col"/>
        <c:grouping val="clustered"/>
        <c:varyColors val="0"/>
        <c:ser>
          <c:idx val="0"/>
          <c:order val="0"/>
          <c:tx>
            <c:strRef>
              <c:f>Sheet1!$B$1</c:f>
              <c:strCache>
                <c:ptCount val="1"/>
                <c:pt idx="0">
                  <c:v>Approval rate (%)</c:v>
                </c:pt>
              </c:strCache>
            </c:strRef>
          </c:tx>
          <c:spPr>
            <a:solidFill>
              <a:srgbClr val="D64545"/>
            </a:solidFill>
            <a:effectLst/>
          </c:spPr>
          <c:invertIfNegative val="0"/>
          <c:dLbls>
            <c:numFmt formatCode="0.0" sourceLinked="0"/>
            <c:txPr>
              <a:bodyPr/>
              <a:lstStyle/>
              <a:p>
                <a:pPr>
                  <a:defRPr b="0" i="0" strike="noStrike" sz="1100" u="none">
                    <a:solidFill>
                      <a:srgbClr val="1F2A44"/>
                    </a:solidFill>
                    <a:latin typeface="Calibri"/>
                  </a:defRPr>
                </a:pPr>
              </a:p>
            </c:txPr>
            <c:showLegendKey val="0"/>
            <c:showVal val="1"/>
            <c:showCatName val="0"/>
            <c:showSerName val="0"/>
            <c:showPercent val="0"/>
            <c:showBubbleSize val="0"/>
            <c:showLeaderLines val="0"/>
          </c:dLbls>
          <c:dPt>
            <c:idx val="0"/>
            <c:invertIfNegative val="0"/>
            <c:bubble3D val="0"/>
            <c:spPr>
              <a:solidFill>
                <a:srgbClr val="D64545"/>
              </a:solidFill>
              <a:effectLst/>
            </c:spPr>
          </c:dPt>
          <c:dPt>
            <c:idx val="1"/>
            <c:invertIfNegative val="0"/>
            <c:bubble3D val="0"/>
            <c:spPr>
              <a:solidFill>
                <a:srgbClr val="D64545"/>
              </a:solidFill>
              <a:effectLst/>
            </c:spPr>
          </c:dPt>
          <c:dPt>
            <c:idx val="2"/>
            <c:invertIfNegative val="0"/>
            <c:bubble3D val="0"/>
            <c:spPr>
              <a:solidFill>
                <a:srgbClr val="F28C28"/>
              </a:solidFill>
              <a:effectLst/>
            </c:spPr>
          </c:dPt>
          <c:dPt>
            <c:idx val="3"/>
            <c:invertIfNegative val="0"/>
            <c:bubble3D val="0"/>
            <c:spPr>
              <a:solidFill>
                <a:srgbClr val="F28C28"/>
              </a:solidFill>
              <a:effectLst/>
            </c:spPr>
          </c:dPt>
          <c:dPt>
            <c:idx val="4"/>
            <c:invertIfNegative val="0"/>
            <c:bubble3D val="0"/>
            <c:spPr>
              <a:solidFill>
                <a:srgbClr val="2E9E5B"/>
              </a:solidFill>
              <a:effectLst/>
            </c:spPr>
          </c:dPt>
          <c:dPt>
            <c:idx val="5"/>
            <c:invertIfNegative val="0"/>
            <c:bubble3D val="0"/>
            <c:spPr>
              <a:solidFill>
                <a:srgbClr val="2E9E5B"/>
              </a:solidFill>
              <a:effectLst/>
            </c:spPr>
          </c:dPt>
          <c:dPt>
            <c:idx val="6"/>
            <c:invertIfNegative val="0"/>
            <c:bubble3D val="0"/>
            <c:spPr>
              <a:solidFill>
                <a:srgbClr val="00A6A6"/>
              </a:solidFill>
              <a:effectLst/>
            </c:spPr>
          </c:dPt>
          <c:cat>
            <c:multiLvlStrRef>
              <c:f>Sheet1!$A$2:$A$8</c:f>
              <c:multiLvlStrCache>
                <c:ptCount val="7"/>
                <c:lvl>
                  <c:pt idx="0">
                    <c:v>Below 600</c:v>
                  </c:pt>
                  <c:pt idx="1">
                    <c:v>600–649</c:v>
                  </c:pt>
                  <c:pt idx="2">
                    <c:v>650–699</c:v>
                  </c:pt>
                  <c:pt idx="3">
                    <c:v>700–749</c:v>
                  </c:pt>
                  <c:pt idx="4">
                    <c:v>750–799</c:v>
                  </c:pt>
                  <c:pt idx="5">
                    <c:v>800+</c:v>
                  </c:pt>
                  <c:pt idx="6">
                    <c:v>No score</c:v>
                  </c:pt>
                </c:lvl>
              </c:multiLvlStrCache>
            </c:multiLvlStrRef>
          </c:cat>
          <c:val>
            <c:numRef>
              <c:f>Sheet1!$B$2:$B$8</c:f>
              <c:numCache>
                <c:formatCode>General</c:formatCode>
                <c:ptCount val="7"/>
                <c:pt idx="0">
                  <c:v>2.03</c:v>
                </c:pt>
                <c:pt idx="1">
                  <c:v>3.22</c:v>
                </c:pt>
                <c:pt idx="2">
                  <c:v>32.5</c:v>
                </c:pt>
                <c:pt idx="3">
                  <c:v>54.37</c:v>
                </c:pt>
                <c:pt idx="4">
                  <c:v>77.2</c:v>
                </c:pt>
                <c:pt idx="5">
                  <c:v>85.19</c:v>
                </c:pt>
                <c:pt idx="6">
                  <c:v>53.9</c:v>
                </c:pt>
              </c:numCache>
            </c:numRef>
          </c:val>
        </c:ser>
        <c:dLbls>
          <c:numFmt formatCode="0.0" sourceLinked="0"/>
          <c:txPr>
            <a:bodyPr/>
            <a:lstStyle/>
            <a:p>
              <a:pPr>
                <a:defRPr b="0" i="0" strike="noStrike" sz="1100" u="none">
                  <a:solidFill>
                    <a:srgbClr val="1F2A44"/>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A44"/>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3E9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2"/>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F4B"/>
                </a:solidFill>
                <a:latin typeface="Calibri"/>
              </a:defRPr>
            </a:pPr>
            <a:r>
              <a:rPr sz="1300" b="0" i="0" u="none" strike="noStrike">
                <a:solidFill>
                  <a:srgbClr val="0B1F4B"/>
                </a:solidFill>
                <a:latin typeface="Calibri"/>
              </a:rPr>
              <a:t>Approval rate by employment type (%)</a:t>
            </a:r>
          </a:p>
        </c:rich>
      </c:tx>
      <c:layout/>
      <c:overlay val="0"/>
    </c:title>
    <c:autoTitleDeleted val="0"/>
    <c:plotArea>
      <c:layout/>
      <c:barChart>
        <c:barDir val="col"/>
        <c:grouping val="clustered"/>
        <c:varyColors val="0"/>
        <c:ser>
          <c:idx val="0"/>
          <c:order val="0"/>
          <c:tx>
            <c:strRef>
              <c:f>Sheet1!$B$1</c:f>
              <c:strCache>
                <c:ptCount val="1"/>
                <c:pt idx="0">
                  <c:v>Approval rate (%)</c:v>
                </c:pt>
              </c:strCache>
            </c:strRef>
          </c:tx>
          <c:spPr>
            <a:solidFill>
              <a:srgbClr val="6C4AB6"/>
            </a:solidFill>
            <a:effectLst/>
          </c:spPr>
          <c:invertIfNegative val="0"/>
          <c:dLbls>
            <c:numFmt formatCode="0.0" sourceLinked="0"/>
            <c:txPr>
              <a:bodyPr/>
              <a:lstStyle/>
              <a:p>
                <a:pPr>
                  <a:defRPr b="0" i="0" strike="noStrike" sz="1100" u="none">
                    <a:solidFill>
                      <a:srgbClr val="1F2A44"/>
                    </a:solidFill>
                    <a:latin typeface="Calibri"/>
                  </a:defRPr>
                </a:pPr>
              </a:p>
            </c:txPr>
            <c:showLegendKey val="0"/>
            <c:showVal val="1"/>
            <c:showCatName val="0"/>
            <c:showSerName val="0"/>
            <c:showPercent val="0"/>
            <c:showBubbleSize val="0"/>
            <c:showLeaderLines val="0"/>
          </c:dLbls>
          <c:dPt>
            <c:idx val="0"/>
            <c:invertIfNegative val="0"/>
            <c:bubble3D val="0"/>
            <c:spPr>
              <a:solidFill>
                <a:srgbClr val="6C4AB6"/>
              </a:solidFill>
              <a:effectLst/>
            </c:spPr>
          </c:dPt>
          <c:dPt>
            <c:idx val="1"/>
            <c:invertIfNegative val="0"/>
            <c:bubble3D val="0"/>
            <c:spPr>
              <a:solidFill>
                <a:srgbClr val="6C4AB6"/>
              </a:solidFill>
              <a:effectLst/>
            </c:spPr>
          </c:dPt>
          <c:dPt>
            <c:idx val="2"/>
            <c:invertIfNegative val="0"/>
            <c:bubble3D val="0"/>
            <c:spPr>
              <a:solidFill>
                <a:srgbClr val="6C4AB6"/>
              </a:solidFill>
              <a:effectLst/>
            </c:spPr>
          </c:dPt>
          <c:dPt>
            <c:idx val="3"/>
            <c:invertIfNegative val="0"/>
            <c:bubble3D val="0"/>
            <c:spPr>
              <a:solidFill>
                <a:srgbClr val="F28C28"/>
              </a:solidFill>
              <a:effectLst/>
            </c:spPr>
          </c:dPt>
          <c:cat>
            <c:multiLvlStrRef>
              <c:f>Sheet1!$A$2:$A$5</c:f>
              <c:multiLvlStrCache>
                <c:ptCount val="4"/>
                <c:lvl>
                  <c:pt idx="0">
                    <c:v>Salaried</c:v>
                  </c:pt>
                  <c:pt idx="1">
                    <c:v>Business Owner</c:v>
                  </c:pt>
                  <c:pt idx="2">
                    <c:v>Self-Employed</c:v>
                  </c:pt>
                  <c:pt idx="3">
                    <c:v>Gig / Contract</c:v>
                  </c:pt>
                </c:lvl>
              </c:multiLvlStrCache>
            </c:multiLvlStrRef>
          </c:cat>
          <c:val>
            <c:numRef>
              <c:f>Sheet1!$B$2:$B$5</c:f>
              <c:numCache>
                <c:formatCode>General</c:formatCode>
                <c:ptCount val="4"/>
                <c:pt idx="0">
                  <c:v>58.37</c:v>
                </c:pt>
                <c:pt idx="1">
                  <c:v>51.17</c:v>
                </c:pt>
                <c:pt idx="2">
                  <c:v>50.56</c:v>
                </c:pt>
                <c:pt idx="3">
                  <c:v>34.94</c:v>
                </c:pt>
              </c:numCache>
            </c:numRef>
          </c:val>
        </c:ser>
        <c:dLbls>
          <c:numFmt formatCode="0.0" sourceLinked="0"/>
          <c:txPr>
            <a:bodyPr/>
            <a:lstStyle/>
            <a:p>
              <a:pPr>
                <a:defRPr b="0" i="0" strike="noStrike" sz="1100" u="none">
                  <a:solidFill>
                    <a:srgbClr val="1F2A44"/>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A44"/>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3E9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2"/>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F4B"/>
                </a:solidFill>
                <a:latin typeface="Calibri"/>
              </a:defRPr>
            </a:pPr>
            <a:r>
              <a:rPr sz="1300" b="0" i="0" u="none" strike="noStrike">
                <a:solidFill>
                  <a:srgbClr val="0B1F4B"/>
                </a:solidFill>
                <a:latin typeface="Calibri"/>
              </a:rPr>
              <a:t>Historical approval rate falls as FOIR rises (%)</a:t>
            </a:r>
          </a:p>
        </c:rich>
      </c:tx>
      <c:layout/>
      <c:overlay val="0"/>
    </c:title>
    <c:autoTitleDeleted val="0"/>
    <c:plotArea>
      <c:layout/>
      <c:barChart>
        <c:barDir val="col"/>
        <c:grouping val="clustered"/>
        <c:varyColors val="0"/>
        <c:ser>
          <c:idx val="0"/>
          <c:order val="0"/>
          <c:tx>
            <c:strRef>
              <c:f>Sheet1!$B$1</c:f>
              <c:strCache>
                <c:ptCount val="1"/>
                <c:pt idx="0">
                  <c:v>Approval rate (%)</c:v>
                </c:pt>
              </c:strCache>
            </c:strRef>
          </c:tx>
          <c:spPr>
            <a:solidFill>
              <a:srgbClr val="2E9E5B"/>
            </a:solidFill>
            <a:effectLst/>
          </c:spPr>
          <c:invertIfNegative val="0"/>
          <c:dLbls>
            <c:numFmt formatCode="0.0" sourceLinked="0"/>
            <c:txPr>
              <a:bodyPr/>
              <a:lstStyle/>
              <a:p>
                <a:pPr>
                  <a:defRPr b="0" i="0" strike="noStrike" sz="1100" u="none">
                    <a:solidFill>
                      <a:srgbClr val="1F2A44"/>
                    </a:solidFill>
                    <a:latin typeface="Calibri"/>
                  </a:defRPr>
                </a:pPr>
              </a:p>
            </c:txPr>
            <c:showLegendKey val="0"/>
            <c:showVal val="1"/>
            <c:showCatName val="0"/>
            <c:showSerName val="0"/>
            <c:showPercent val="0"/>
            <c:showBubbleSize val="0"/>
            <c:showLeaderLines val="0"/>
          </c:dLbls>
          <c:dPt>
            <c:idx val="0"/>
            <c:invertIfNegative val="0"/>
            <c:bubble3D val="0"/>
            <c:spPr>
              <a:solidFill>
                <a:srgbClr val="2E9E5B"/>
              </a:solidFill>
              <a:effectLst/>
            </c:spPr>
          </c:dPt>
          <c:dPt>
            <c:idx val="1"/>
            <c:invertIfNegative val="0"/>
            <c:bubble3D val="0"/>
            <c:spPr>
              <a:solidFill>
                <a:srgbClr val="2E9E5B"/>
              </a:solidFill>
              <a:effectLst/>
            </c:spPr>
          </c:dPt>
          <c:dPt>
            <c:idx val="2"/>
            <c:invertIfNegative val="0"/>
            <c:bubble3D val="0"/>
            <c:spPr>
              <a:solidFill>
                <a:srgbClr val="F28C28"/>
              </a:solidFill>
              <a:effectLst/>
            </c:spPr>
          </c:dPt>
          <c:dPt>
            <c:idx val="3"/>
            <c:invertIfNegative val="0"/>
            <c:bubble3D val="0"/>
            <c:spPr>
              <a:solidFill>
                <a:srgbClr val="D64545"/>
              </a:solidFill>
              <a:effectLst/>
            </c:spPr>
          </c:dPt>
          <c:dPt>
            <c:idx val="4"/>
            <c:invertIfNegative val="0"/>
            <c:bubble3D val="0"/>
            <c:spPr>
              <a:solidFill>
                <a:srgbClr val="D64545"/>
              </a:solidFill>
              <a:effectLst/>
            </c:spPr>
          </c:dPt>
          <c:cat>
            <c:multiLvlStrRef>
              <c:f>Sheet1!$A$2:$A$6</c:f>
              <c:multiLvlStrCache>
                <c:ptCount val="5"/>
                <c:lvl>
                  <c:pt idx="0">
                    <c:v>Below 30%</c:v>
                  </c:pt>
                  <c:pt idx="1">
                    <c:v>30–40%</c:v>
                  </c:pt>
                  <c:pt idx="2">
                    <c:v>40–50%</c:v>
                  </c:pt>
                  <c:pt idx="3">
                    <c:v>50–55%</c:v>
                  </c:pt>
                  <c:pt idx="4">
                    <c:v>Above 55%</c:v>
                  </c:pt>
                </c:lvl>
              </c:multiLvlStrCache>
            </c:multiLvlStrRef>
          </c:cat>
          <c:val>
            <c:numRef>
              <c:f>Sheet1!$B$2:$B$6</c:f>
              <c:numCache>
                <c:formatCode>General</c:formatCode>
                <c:ptCount val="5"/>
                <c:pt idx="0">
                  <c:v>65.48</c:v>
                </c:pt>
                <c:pt idx="1">
                  <c:v>58.98</c:v>
                </c:pt>
                <c:pt idx="2">
                  <c:v>47.79</c:v>
                </c:pt>
                <c:pt idx="3">
                  <c:v>32.39</c:v>
                </c:pt>
                <c:pt idx="4">
                  <c:v>15.77</c:v>
                </c:pt>
              </c:numCache>
            </c:numRef>
          </c:val>
        </c:ser>
        <c:dLbls>
          <c:numFmt formatCode="0.0" sourceLinked="0"/>
          <c:txPr>
            <a:bodyPr/>
            <a:lstStyle/>
            <a:p>
              <a:pPr>
                <a:defRPr b="0" i="0" strike="noStrike" sz="1100" u="none">
                  <a:solidFill>
                    <a:srgbClr val="1F2A44"/>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B6B82"/>
                    </a:solidFill>
                    <a:latin typeface="Arial"/>
                  </a:defRPr>
                </a:pPr>
                <a:r>
                  <a:rPr sz="1100" b="0" i="0" u="none" strike="noStrike">
                    <a:solidFill>
                      <a:srgbClr val="5B6B82"/>
                    </a:solidFill>
                    <a:latin typeface="Arial"/>
                  </a:rPr>
                  <a:t>FOIR band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A44"/>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3E9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2"/>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F4B"/>
                </a:solidFill>
                <a:latin typeface="Calibri"/>
              </a:defRPr>
            </a:pPr>
            <a:r>
              <a:rPr sz="1300" b="0" i="0" u="none" strike="noStrike">
                <a:solidFill>
                  <a:srgbClr val="0B1F4B"/>
                </a:solidFill>
                <a:latin typeface="Calibri"/>
              </a:rPr>
              <a:t>Higher threshold = fewer wrong declines</a:t>
            </a:r>
          </a:p>
        </c:rich>
      </c:tx>
      <c:layout/>
      <c:overlay val="0"/>
    </c:title>
    <c:autoTitleDeleted val="0"/>
    <c:plotArea>
      <c:layout/>
      <c:lineChart>
        <c:varyColors val="0"/>
        <c:ser>
          <c:idx val="0"/>
          <c:order val="0"/>
          <c:tx>
            <c:strRef>
              <c:f>Sheet1!$B$1</c:f>
              <c:strCache>
                <c:ptCount val="1"/>
                <c:pt idx="0">
                  <c:v>% auto-declined</c:v>
                </c:pt>
              </c:strCache>
            </c:strRef>
          </c:tx>
          <c:spPr>
            <a:solidFill>
              <a:srgbClr val="00A6A6"/>
            </a:solidFill>
            <a:ln w="38100" cap="flat">
              <a:solidFill>
                <a:srgbClr val="00A6A6"/>
              </a:solidFill>
              <a:prstDash val="solid"/>
              <a:round/>
            </a:ln>
            <a:effectLst/>
          </c:spPr>
          <c:invertIfNegative val="0"/>
          <c:dLbls>
            <c:numFmt formatCode="#,##0" sourceLinked="0"/>
            <c:txPr>
              <a:bodyPr/>
              <a:lstStyle/>
              <a:p>
                <a:pPr>
                  <a:defRPr b="0" i="0" strike="noStrike" sz="1100" u="none">
                    <a:solidFill>
                      <a:srgbClr val="1F2A44"/>
                    </a:solidFill>
                    <a:latin typeface="Calibri"/>
                  </a:defRPr>
                </a:pPr>
              </a:p>
            </c:txPr>
            <c:showLegendKey val="0"/>
            <c:showVal val="0"/>
            <c:showCatName val="0"/>
            <c:showSerName val="0"/>
            <c:showPercent val="0"/>
            <c:showBubbleSize val="0"/>
            <c:showLeaderLines val="0"/>
          </c:dLbls>
          <c:marker>
            <c:symbol val="circle"/>
            <c:size val="7"/>
            <c:spPr>
              <a:solidFill>
                <a:srgbClr val="00A6A6"/>
              </a:solidFill>
              <a:ln w="9525" cap="flat">
                <a:solidFill>
                  <a:srgbClr val="00A6A6"/>
                </a:solidFill>
                <a:prstDash val="solid"/>
                <a:round/>
              </a:ln>
              <a:effectLst/>
            </c:spPr>
          </c:marker>
          <c:cat>
            <c:multiLvlStrRef>
              <c:f>Sheet1!$A$2:$A$8</c:f>
              <c:multiLvlStrCache>
                <c:ptCount val="7"/>
                <c:lvl>
                  <c:pt idx="0">
                    <c:v>0.50</c:v>
                  </c:pt>
                  <c:pt idx="1">
                    <c:v>0.60</c:v>
                  </c:pt>
                  <c:pt idx="2">
                    <c:v>0.70</c:v>
                  </c:pt>
                  <c:pt idx="3">
                    <c:v>0.80</c:v>
                  </c:pt>
                  <c:pt idx="4">
                    <c:v>0.85</c:v>
                  </c:pt>
                  <c:pt idx="5">
                    <c:v>0.90</c:v>
                  </c:pt>
                  <c:pt idx="6">
                    <c:v>0.95</c:v>
                  </c:pt>
                </c:lvl>
              </c:multiLvlStrCache>
            </c:multiLvlStrRef>
          </c:cat>
          <c:val>
            <c:numRef>
              <c:f>Sheet1!$B$2:$B$8</c:f>
              <c:numCache>
                <c:formatCode>General</c:formatCode>
                <c:ptCount val="7"/>
                <c:pt idx="0">
                  <c:v>44.75</c:v>
                </c:pt>
                <c:pt idx="1">
                  <c:v>37.17</c:v>
                </c:pt>
                <c:pt idx="2">
                  <c:v>30.67</c:v>
                </c:pt>
                <c:pt idx="3">
                  <c:v>23.67</c:v>
                </c:pt>
                <c:pt idx="4">
                  <c:v>19.12</c:v>
                </c:pt>
                <c:pt idx="5">
                  <c:v>14.62</c:v>
                </c:pt>
                <c:pt idx="6">
                  <c:v>9.67</c:v>
                </c:pt>
              </c:numCache>
            </c:numRef>
          </c:val>
          <c:smooth val="0"/>
        </c:ser>
        <c:ser>
          <c:idx val="1"/>
          <c:order val="1"/>
          <c:tx>
            <c:strRef>
              <c:f>Sheet1!$C$1</c:f>
              <c:strCache>
                <c:ptCount val="1"/>
                <c:pt idx="0">
                  <c:v>% wrongly declined</c:v>
                </c:pt>
              </c:strCache>
            </c:strRef>
          </c:tx>
          <c:spPr>
            <a:solidFill>
              <a:srgbClr val="F28C28"/>
            </a:solidFill>
            <a:ln w="38100" cap="flat">
              <a:solidFill>
                <a:srgbClr val="F28C28"/>
              </a:solidFill>
              <a:prstDash val="solid"/>
              <a:round/>
            </a:ln>
            <a:effectLst/>
          </c:spPr>
          <c:invertIfNegative val="0"/>
          <c:dLbls>
            <c:numFmt formatCode="#,##0" sourceLinked="0"/>
            <c:txPr>
              <a:bodyPr/>
              <a:lstStyle/>
              <a:p>
                <a:pPr>
                  <a:defRPr b="0" i="0" strike="noStrike" sz="1100" u="none">
                    <a:solidFill>
                      <a:srgbClr val="1F2A44"/>
                    </a:solidFill>
                    <a:latin typeface="Calibri"/>
                  </a:defRPr>
                </a:pPr>
              </a:p>
            </c:txPr>
            <c:showLegendKey val="0"/>
            <c:showVal val="0"/>
            <c:showCatName val="0"/>
            <c:showSerName val="0"/>
            <c:showPercent val="0"/>
            <c:showBubbleSize val="0"/>
            <c:showLeaderLines val="0"/>
          </c:dLbls>
          <c:marker>
            <c:symbol val="circle"/>
            <c:size val="7"/>
            <c:spPr>
              <a:solidFill>
                <a:srgbClr val="F28C28"/>
              </a:solidFill>
              <a:ln w="9525" cap="flat">
                <a:solidFill>
                  <a:srgbClr val="F28C28"/>
                </a:solidFill>
                <a:prstDash val="solid"/>
                <a:round/>
              </a:ln>
              <a:effectLst/>
            </c:spPr>
          </c:marker>
          <c:cat>
            <c:multiLvlStrRef>
              <c:f>Sheet1!$A$2:$A$8</c:f>
              <c:multiLvlStrCache>
                <c:ptCount val="7"/>
                <c:lvl>
                  <c:pt idx="0">
                    <c:v>0.50</c:v>
                  </c:pt>
                  <c:pt idx="1">
                    <c:v>0.60</c:v>
                  </c:pt>
                  <c:pt idx="2">
                    <c:v>0.70</c:v>
                  </c:pt>
                  <c:pt idx="3">
                    <c:v>0.80</c:v>
                  </c:pt>
                  <c:pt idx="4">
                    <c:v>0.85</c:v>
                  </c:pt>
                  <c:pt idx="5">
                    <c:v>0.90</c:v>
                  </c:pt>
                  <c:pt idx="6">
                    <c:v>0.95</c:v>
                  </c:pt>
                </c:lvl>
              </c:multiLvlStrCache>
            </c:multiLvlStrRef>
          </c:cat>
          <c:val>
            <c:numRef>
              <c:f>Sheet1!$C$2:$C$8</c:f>
              <c:numCache>
                <c:formatCode>General</c:formatCode>
                <c:ptCount val="7"/>
                <c:pt idx="0">
                  <c:v>21.42</c:v>
                </c:pt>
                <c:pt idx="1">
                  <c:v>16.7</c:v>
                </c:pt>
                <c:pt idx="2">
                  <c:v>11.68</c:v>
                </c:pt>
                <c:pt idx="3">
                  <c:v>7.39</c:v>
                </c:pt>
                <c:pt idx="4">
                  <c:v>5.66</c:v>
                </c:pt>
                <c:pt idx="5">
                  <c:v>4.27</c:v>
                </c:pt>
                <c:pt idx="6">
                  <c:v>2.16</c:v>
                </c:pt>
              </c:numCache>
            </c:numRef>
          </c:val>
          <c:smooth val="0"/>
        </c:ser>
        <c:ser>
          <c:idx val="2"/>
          <c:order val="2"/>
          <c:tx>
            <c:strRef>
              <c:f>Sheet1!$D$1</c:f>
              <c:strCache>
                <c:ptCount val="1"/>
                <c:pt idx="0">
                  <c:v>5% limit</c:v>
                </c:pt>
              </c:strCache>
            </c:strRef>
          </c:tx>
          <c:spPr>
            <a:solidFill>
              <a:srgbClr val="D64545"/>
            </a:solidFill>
            <a:ln w="38100" cap="flat">
              <a:solidFill>
                <a:srgbClr val="D64545"/>
              </a:solidFill>
              <a:prstDash val="solid"/>
              <a:round/>
            </a:ln>
            <a:effectLst/>
          </c:spPr>
          <c:invertIfNegative val="0"/>
          <c:dLbls>
            <c:numFmt formatCode="#,##0" sourceLinked="0"/>
            <c:txPr>
              <a:bodyPr/>
              <a:lstStyle/>
              <a:p>
                <a:pPr>
                  <a:defRPr b="0" i="0" strike="noStrike" sz="1100" u="none">
                    <a:solidFill>
                      <a:srgbClr val="1F2A44"/>
                    </a:solidFill>
                    <a:latin typeface="Calibri"/>
                  </a:defRPr>
                </a:pPr>
              </a:p>
            </c:txPr>
            <c:showLegendKey val="0"/>
            <c:showVal val="0"/>
            <c:showCatName val="0"/>
            <c:showSerName val="0"/>
            <c:showPercent val="0"/>
            <c:showBubbleSize val="0"/>
            <c:showLeaderLines val="0"/>
          </c:dLbls>
          <c:marker>
            <c:symbol val="circle"/>
            <c:size val="7"/>
            <c:spPr>
              <a:solidFill>
                <a:srgbClr val="D64545"/>
              </a:solidFill>
              <a:ln w="9525" cap="flat">
                <a:solidFill>
                  <a:srgbClr val="D64545"/>
                </a:solidFill>
                <a:prstDash val="solid"/>
                <a:round/>
              </a:ln>
              <a:effectLst/>
            </c:spPr>
          </c:marker>
          <c:cat>
            <c:multiLvlStrRef>
              <c:f>Sheet1!$A$2:$A$8</c:f>
              <c:multiLvlStrCache>
                <c:ptCount val="7"/>
                <c:lvl>
                  <c:pt idx="0">
                    <c:v>0.50</c:v>
                  </c:pt>
                  <c:pt idx="1">
                    <c:v>0.60</c:v>
                  </c:pt>
                  <c:pt idx="2">
                    <c:v>0.70</c:v>
                  </c:pt>
                  <c:pt idx="3">
                    <c:v>0.80</c:v>
                  </c:pt>
                  <c:pt idx="4">
                    <c:v>0.85</c:v>
                  </c:pt>
                  <c:pt idx="5">
                    <c:v>0.90</c:v>
                  </c:pt>
                  <c:pt idx="6">
                    <c:v>0.95</c:v>
                  </c:pt>
                </c:lvl>
              </c:multiLvlStrCache>
            </c:multiLvlStrRef>
          </c:cat>
          <c:val>
            <c:numRef>
              <c:f>Sheet1!$D$2:$D$8</c:f>
              <c:numCache>
                <c:formatCode>General</c:formatCode>
                <c:ptCount val="7"/>
                <c:pt idx="0">
                  <c:v>5</c:v>
                </c:pt>
                <c:pt idx="1">
                  <c:v>5</c:v>
                </c:pt>
                <c:pt idx="2">
                  <c:v>5</c:v>
                </c:pt>
                <c:pt idx="3">
                  <c:v>5</c:v>
                </c:pt>
                <c:pt idx="4">
                  <c:v>5</c:v>
                </c:pt>
                <c:pt idx="5">
                  <c:v>5</c:v>
                </c:pt>
                <c:pt idx="6">
                  <c:v>5</c:v>
                </c:pt>
              </c:numCache>
            </c:numRef>
          </c:val>
          <c:smooth val="0"/>
        </c:ser>
        <c:dLbls>
          <c:numFmt formatCode="#,##0" sourceLinked="0"/>
          <c:txPr>
            <a:bodyPr/>
            <a:lstStyle/>
            <a:p>
              <a:pPr>
                <a:defRPr b="0" i="0" strike="noStrike" sz="1100" u="none">
                  <a:solidFill>
                    <a:srgbClr val="1F2A44"/>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A44"/>
                </a:solidFill>
                <a:latin typeface="Calibri"/>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3E9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2"/>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A44"/>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F4B"/>
                </a:solidFill>
                <a:latin typeface="Calibri"/>
              </a:defRPr>
            </a:pPr>
            <a:r>
              <a:rPr sz="1300" b="0" i="0" u="none" strike="noStrike">
                <a:solidFill>
                  <a:srgbClr val="0B1F4B"/>
                </a:solidFill>
                <a:latin typeface="Calibri"/>
              </a:rPr>
              <a:t>Historical approval rate by employment type and gender (%)</a:t>
            </a:r>
          </a:p>
        </c:rich>
      </c:tx>
      <c:layout/>
      <c:overlay val="0"/>
    </c:title>
    <c:autoTitleDeleted val="0"/>
    <c:plotArea>
      <c:layout/>
      <c:barChart>
        <c:barDir val="col"/>
        <c:grouping val="clustered"/>
        <c:varyColors val="0"/>
        <c:ser>
          <c:idx val="0"/>
          <c:order val="0"/>
          <c:tx>
            <c:strRef>
              <c:f>Sheet1!$B$1</c:f>
              <c:strCache>
                <c:ptCount val="1"/>
                <c:pt idx="0">
                  <c:v>Female</c:v>
                </c:pt>
              </c:strCache>
            </c:strRef>
          </c:tx>
          <c:spPr>
            <a:solidFill>
              <a:srgbClr val="6C4AB6"/>
            </a:solidFill>
            <a:effectLst/>
          </c:spPr>
          <c:invertIfNegative val="0"/>
          <c:dLbls>
            <c:numFmt formatCode="0.0" sourceLinked="0"/>
            <c:txPr>
              <a:bodyPr/>
              <a:lstStyle/>
              <a:p>
                <a:pPr>
                  <a:defRPr b="0" i="0" strike="noStrike" sz="1000" u="none">
                    <a:solidFill>
                      <a:srgbClr val="1F2A44"/>
                    </a:solidFill>
                    <a:latin typeface="Calibri"/>
                  </a:defRPr>
                </a:pPr>
              </a:p>
            </c:txPr>
            <c:showLegendKey val="0"/>
            <c:showVal val="1"/>
            <c:showCatName val="0"/>
            <c:showSerName val="0"/>
            <c:showPercent val="0"/>
            <c:showBubbleSize val="0"/>
            <c:showLeaderLines val="0"/>
          </c:dLbls>
          <c:cat>
            <c:multiLvlStrRef>
              <c:f>Sheet1!$A$2:$A$5</c:f>
              <c:multiLvlStrCache>
                <c:ptCount val="4"/>
                <c:lvl>
                  <c:pt idx="0">
                    <c:v>Salaried</c:v>
                  </c:pt>
                  <c:pt idx="1">
                    <c:v>Business Owner</c:v>
                  </c:pt>
                  <c:pt idx="2">
                    <c:v>Self-Employed</c:v>
                  </c:pt>
                  <c:pt idx="3">
                    <c:v>Gig / Contract</c:v>
                  </c:pt>
                </c:lvl>
              </c:multiLvlStrCache>
            </c:multiLvlStrRef>
          </c:cat>
          <c:val>
            <c:numRef>
              <c:f>Sheet1!$B$2:$B$5</c:f>
              <c:numCache>
                <c:formatCode>General</c:formatCode>
                <c:ptCount val="4"/>
                <c:pt idx="0">
                  <c:v>56.79</c:v>
                </c:pt>
                <c:pt idx="1">
                  <c:v>51.62</c:v>
                </c:pt>
                <c:pt idx="2">
                  <c:v>47.63</c:v>
                </c:pt>
                <c:pt idx="3">
                  <c:v>34.65</c:v>
                </c:pt>
              </c:numCache>
            </c:numRef>
          </c:val>
        </c:ser>
        <c:ser>
          <c:idx val="1"/>
          <c:order val="1"/>
          <c:tx>
            <c:strRef>
              <c:f>Sheet1!$C$1</c:f>
              <c:strCache>
                <c:ptCount val="1"/>
                <c:pt idx="0">
                  <c:v>Male</c:v>
                </c:pt>
              </c:strCache>
            </c:strRef>
          </c:tx>
          <c:spPr>
            <a:solidFill>
              <a:srgbClr val="00A6A6"/>
            </a:solidFill>
            <a:effectLst/>
          </c:spPr>
          <c:invertIfNegative val="0"/>
          <c:dLbls>
            <c:numFmt formatCode="0.0" sourceLinked="0"/>
            <c:txPr>
              <a:bodyPr/>
              <a:lstStyle/>
              <a:p>
                <a:pPr>
                  <a:defRPr b="0" i="0" strike="noStrike" sz="1000" u="none">
                    <a:solidFill>
                      <a:srgbClr val="1F2A44"/>
                    </a:solidFill>
                    <a:latin typeface="Calibri"/>
                  </a:defRPr>
                </a:pPr>
              </a:p>
            </c:txPr>
            <c:showLegendKey val="0"/>
            <c:showVal val="1"/>
            <c:showCatName val="0"/>
            <c:showSerName val="0"/>
            <c:showPercent val="0"/>
            <c:showBubbleSize val="0"/>
            <c:showLeaderLines val="0"/>
          </c:dLbls>
          <c:cat>
            <c:multiLvlStrRef>
              <c:f>Sheet1!$A$2:$A$5</c:f>
              <c:multiLvlStrCache>
                <c:ptCount val="4"/>
                <c:lvl>
                  <c:pt idx="0">
                    <c:v>Salaried</c:v>
                  </c:pt>
                  <c:pt idx="1">
                    <c:v>Business Owner</c:v>
                  </c:pt>
                  <c:pt idx="2">
                    <c:v>Self-Employed</c:v>
                  </c:pt>
                  <c:pt idx="3">
                    <c:v>Gig / Contract</c:v>
                  </c:pt>
                </c:lvl>
              </c:multiLvlStrCache>
            </c:multiLvlStrRef>
          </c:cat>
          <c:val>
            <c:numRef>
              <c:f>Sheet1!$C$2:$C$5</c:f>
              <c:numCache>
                <c:formatCode>General</c:formatCode>
                <c:ptCount val="4"/>
                <c:pt idx="0">
                  <c:v>59.06</c:v>
                </c:pt>
                <c:pt idx="1">
                  <c:v>51.05</c:v>
                </c:pt>
                <c:pt idx="2">
                  <c:v>51.97</c:v>
                </c:pt>
                <c:pt idx="3">
                  <c:v>35.18</c:v>
                </c:pt>
              </c:numCache>
            </c:numRef>
          </c:val>
        </c:ser>
        <c:dLbls>
          <c:numFmt formatCode="0.0" sourceLinked="0"/>
          <c:txPr>
            <a:bodyPr/>
            <a:lstStyle/>
            <a:p>
              <a:pPr>
                <a:defRPr b="0" i="0" strike="noStrike" sz="1000" u="none">
                  <a:solidFill>
                    <a:srgbClr val="1F2A44"/>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A44"/>
                </a:solidFill>
                <a:latin typeface="Calibri"/>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6350" cap="flat">
              <a:solidFill>
                <a:srgbClr val="E3E9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2"/>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A44"/>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F4B"/>
                </a:solidFill>
                <a:latin typeface="Calibri"/>
              </a:defRPr>
            </a:pPr>
            <a:r>
              <a:rPr sz="1300" b="0" i="0" u="none" strike="noStrike">
                <a:solidFill>
                  <a:srgbClr val="0B1F4B"/>
                </a:solidFill>
                <a:latin typeface="Calibri"/>
              </a:rPr>
              <a:t>Mean 5-fold ROC-AUC (higher is better)</a:t>
            </a:r>
          </a:p>
        </c:rich>
      </c:tx>
      <c:layout/>
      <c:overlay val="0"/>
    </c:title>
    <c:autoTitleDeleted val="0"/>
    <c:plotArea>
      <c:layout/>
      <c:barChart>
        <c:barDir val="col"/>
        <c:grouping val="clustered"/>
        <c:varyColors val="0"/>
        <c:ser>
          <c:idx val="0"/>
          <c:order val="0"/>
          <c:tx>
            <c:strRef>
              <c:f>Sheet1!$B$1</c:f>
              <c:strCache>
                <c:ptCount val="1"/>
                <c:pt idx="0">
                  <c:v>Mean ROC-AUC</c:v>
                </c:pt>
              </c:strCache>
            </c:strRef>
          </c:tx>
          <c:spPr>
            <a:solidFill>
              <a:srgbClr val="2E9E5B"/>
            </a:solidFill>
            <a:effectLst/>
          </c:spPr>
          <c:invertIfNegative val="0"/>
          <c:dLbls>
            <c:numFmt formatCode="0.0000" sourceLinked="0"/>
            <c:txPr>
              <a:bodyPr/>
              <a:lstStyle/>
              <a:p>
                <a:pPr>
                  <a:defRPr b="0" i="0" strike="noStrike" sz="1100" u="none">
                    <a:solidFill>
                      <a:srgbClr val="1F2A44"/>
                    </a:solidFill>
                    <a:latin typeface="Calibri"/>
                  </a:defRPr>
                </a:pPr>
              </a:p>
            </c:txPr>
            <c:showLegendKey val="0"/>
            <c:showVal val="1"/>
            <c:showCatName val="0"/>
            <c:showSerName val="0"/>
            <c:showPercent val="0"/>
            <c:showBubbleSize val="0"/>
            <c:showLeaderLines val="0"/>
          </c:dLbls>
          <c:dPt>
            <c:idx val="0"/>
            <c:invertIfNegative val="0"/>
            <c:bubble3D val="0"/>
            <c:spPr>
              <a:solidFill>
                <a:srgbClr val="2E9E5B"/>
              </a:solidFill>
              <a:effectLst/>
            </c:spPr>
          </c:dPt>
          <c:dPt>
            <c:idx val="1"/>
            <c:invertIfNegative val="0"/>
            <c:bubble3D val="0"/>
            <c:spPr>
              <a:solidFill>
                <a:srgbClr val="6C4AB6"/>
              </a:solidFill>
              <a:effectLst/>
            </c:spPr>
          </c:dPt>
          <c:dPt>
            <c:idx val="2"/>
            <c:invertIfNegative val="0"/>
            <c:bubble3D val="0"/>
            <c:spPr>
              <a:solidFill>
                <a:srgbClr val="6C4AB6"/>
              </a:solidFill>
              <a:effectLst/>
            </c:spPr>
          </c:dPt>
          <c:dPt>
            <c:idx val="3"/>
            <c:invertIfNegative val="0"/>
            <c:bubble3D val="0"/>
            <c:spPr>
              <a:solidFill>
                <a:srgbClr val="6C4AB6"/>
              </a:solidFill>
              <a:effectLst/>
            </c:spPr>
          </c:dPt>
          <c:cat>
            <c:multiLvlStrRef>
              <c:f>Sheet1!$A$2:$A$5</c:f>
              <c:multiLvlStrCache>
                <c:ptCount val="4"/>
                <c:lvl>
                  <c:pt idx="0">
                    <c:v>Gradient Boosting</c:v>
                  </c:pt>
                  <c:pt idx="1">
                    <c:v>Random Forest</c:v>
                  </c:pt>
                  <c:pt idx="2">
                    <c:v>Logistic Regression</c:v>
                  </c:pt>
                  <c:pt idx="3">
                    <c:v>Decision Tree</c:v>
                  </c:pt>
                </c:lvl>
              </c:multiLvlStrCache>
            </c:multiLvlStrRef>
          </c:cat>
          <c:val>
            <c:numRef>
              <c:f>Sheet1!$B$2:$B$5</c:f>
              <c:numCache>
                <c:formatCode>General</c:formatCode>
                <c:ptCount val="4"/>
                <c:pt idx="0">
                  <c:v>0.8896</c:v>
                </c:pt>
                <c:pt idx="1">
                  <c:v>0.8773</c:v>
                </c:pt>
                <c:pt idx="2">
                  <c:v>0.8667</c:v>
                </c:pt>
                <c:pt idx="3">
                  <c:v>0.7187</c:v>
                </c:pt>
              </c:numCache>
            </c:numRef>
          </c:val>
        </c:ser>
        <c:dLbls>
          <c:numFmt formatCode="0.0000" sourceLinked="0"/>
          <c:txPr>
            <a:bodyPr/>
            <a:lstStyle/>
            <a:p>
              <a:pPr>
                <a:defRPr b="0" i="0" strike="noStrike" sz="1100" u="none">
                  <a:solidFill>
                    <a:srgbClr val="1F2A44"/>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A44"/>
                </a:solidFill>
                <a:latin typeface="Calibri"/>
              </a:defRPr>
            </a:pPr>
            <a:endParaRPr lang="en-US"/>
          </a:p>
        </c:txPr>
        <c:crossAx val="2094734552"/>
        <c:crosses val="autoZero"/>
        <c:auto val="1"/>
        <c:lblAlgn val="ctr"/>
        <c:noMultiLvlLbl val="1"/>
      </c:catAx>
      <c:valAx>
        <c:axId val="2094734552"/>
        <c:scaling>
          <c:orientation val="minMax"/>
          <c:max val="0.95"/>
          <c:min val="0.6"/>
        </c:scaling>
        <c:delete val="0"/>
        <c:axPos val="l"/>
        <c:majorGridlines>
          <c:spPr>
            <a:ln w="6350" cap="flat">
              <a:solidFill>
                <a:srgbClr val="E3E9F2"/>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2"/>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F4B"/>
                </a:solidFill>
                <a:latin typeface="Calibri"/>
              </a:defRPr>
            </a:pPr>
            <a:r>
              <a:rPr sz="1300" b="0" i="0" u="none" strike="noStrike">
                <a:solidFill>
                  <a:srgbClr val="0B1F4B"/>
                </a:solidFill>
                <a:latin typeface="Calibri"/>
              </a:rPr>
              <a:t>Top 8 features: Gradient Boosting</a:t>
            </a:r>
          </a:p>
        </c:rich>
      </c:tx>
      <c:layout/>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6C4AB6"/>
            </a:solidFill>
            <a:effectLst/>
          </c:spPr>
          <c:invertIfNegative val="0"/>
          <c:dLbls>
            <c:numFmt formatCode="0.0000" sourceLinked="0"/>
            <c:txPr>
              <a:bodyPr/>
              <a:lstStyle/>
              <a:p>
                <a:pPr>
                  <a:defRPr b="0" i="0" strike="noStrike" sz="1100" u="none">
                    <a:solidFill>
                      <a:srgbClr val="1F2A44"/>
                    </a:solidFill>
                    <a:latin typeface="Calibri"/>
                  </a:defRPr>
                </a:pPr>
              </a:p>
            </c:txPr>
            <c:showLegendKey val="0"/>
            <c:showVal val="1"/>
            <c:showCatName val="0"/>
            <c:showSerName val="0"/>
            <c:showPercent val="0"/>
            <c:showBubbleSize val="0"/>
            <c:showLeaderLines val="0"/>
          </c:dLbls>
          <c:dPt>
            <c:idx val="0"/>
            <c:invertIfNegative val="0"/>
            <c:bubble3D val="0"/>
            <c:spPr>
              <a:solidFill>
                <a:srgbClr val="6C4AB6"/>
              </a:solidFill>
              <a:effectLst/>
            </c:spPr>
          </c:dPt>
          <c:dPt>
            <c:idx val="1"/>
            <c:invertIfNegative val="0"/>
            <c:bubble3D val="0"/>
            <c:spPr>
              <a:solidFill>
                <a:srgbClr val="6C4AB6"/>
              </a:solidFill>
              <a:effectLst/>
            </c:spPr>
          </c:dPt>
          <c:dPt>
            <c:idx val="2"/>
            <c:invertIfNegative val="0"/>
            <c:bubble3D val="0"/>
            <c:spPr>
              <a:solidFill>
                <a:srgbClr val="6C4AB6"/>
              </a:solidFill>
              <a:effectLst/>
            </c:spPr>
          </c:dPt>
          <c:dPt>
            <c:idx val="3"/>
            <c:invertIfNegative val="0"/>
            <c:bubble3D val="0"/>
            <c:spPr>
              <a:solidFill>
                <a:srgbClr val="B7A4E3"/>
              </a:solidFill>
              <a:effectLst/>
            </c:spPr>
          </c:dPt>
          <c:dPt>
            <c:idx val="4"/>
            <c:invertIfNegative val="0"/>
            <c:bubble3D val="0"/>
            <c:spPr>
              <a:solidFill>
                <a:srgbClr val="B7A4E3"/>
              </a:solidFill>
              <a:effectLst/>
            </c:spPr>
          </c:dPt>
          <c:dPt>
            <c:idx val="5"/>
            <c:invertIfNegative val="0"/>
            <c:bubble3D val="0"/>
            <c:spPr>
              <a:solidFill>
                <a:srgbClr val="B7A4E3"/>
              </a:solidFill>
              <a:effectLst/>
            </c:spPr>
          </c:dPt>
          <c:dPt>
            <c:idx val="6"/>
            <c:invertIfNegative val="0"/>
            <c:bubble3D val="0"/>
            <c:spPr>
              <a:solidFill>
                <a:srgbClr val="B7A4E3"/>
              </a:solidFill>
              <a:effectLst/>
            </c:spPr>
          </c:dPt>
          <c:dPt>
            <c:idx val="7"/>
            <c:invertIfNegative val="0"/>
            <c:bubble3D val="0"/>
            <c:spPr>
              <a:solidFill>
                <a:srgbClr val="B7A4E3"/>
              </a:solidFill>
              <a:effectLst/>
            </c:spPr>
          </c:dPt>
          <c:cat>
            <c:multiLvlStrRef>
              <c:f>Sheet1!$A$2:$A$9</c:f>
              <c:multiLvlStrCache>
                <c:ptCount val="8"/>
                <c:lvl>
                  <c:pt idx="0">
                    <c:v>Delinquencies (24m)</c:v>
                  </c:pt>
                  <c:pt idx="1">
                    <c:v>Credit score</c:v>
                  </c:pt>
                  <c:pt idx="2">
                    <c:v>FOIR</c:v>
                  </c:pt>
                  <c:pt idx="3">
                    <c:v>Years in current job</c:v>
                  </c:pt>
                  <c:pt idx="4">
                    <c:v>New-to-credit flag</c:v>
                  </c:pt>
                  <c:pt idx="5">
                    <c:v>Gig / Contract</c:v>
                  </c:pt>
                  <c:pt idx="6">
                    <c:v>Loan-to-income</c:v>
                  </c:pt>
                  <c:pt idx="7">
                    <c:v>Salaried</c:v>
                  </c:pt>
                </c:lvl>
              </c:multiLvlStrCache>
            </c:multiLvlStrRef>
          </c:cat>
          <c:val>
            <c:numRef>
              <c:f>Sheet1!$B$2:$B$9</c:f>
              <c:numCache>
                <c:formatCode>General</c:formatCode>
                <c:ptCount val="8"/>
                <c:pt idx="0">
                  <c:v>0.3078</c:v>
                </c:pt>
                <c:pt idx="1">
                  <c:v>0.2872</c:v>
                </c:pt>
                <c:pt idx="2">
                  <c:v>0.2864</c:v>
                </c:pt>
                <c:pt idx="3">
                  <c:v>0.0289</c:v>
                </c:pt>
                <c:pt idx="4">
                  <c:v>0.0183</c:v>
                </c:pt>
                <c:pt idx="5">
                  <c:v>0.0172</c:v>
                </c:pt>
                <c:pt idx="6">
                  <c:v>0.0162</c:v>
                </c:pt>
                <c:pt idx="7">
                  <c:v>0.0158</c:v>
                </c:pt>
              </c:numCache>
            </c:numRef>
          </c:val>
        </c:ser>
        <c:dLbls>
          <c:numFmt formatCode="0.0000" sourceLinked="0"/>
          <c:txPr>
            <a:bodyPr/>
            <a:lstStyle/>
            <a:p>
              <a:pPr>
                <a:defRPr b="0" i="0" strike="noStrike" sz="1100" u="none">
                  <a:solidFill>
                    <a:srgbClr val="1F2A44"/>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A44"/>
                </a:solidFill>
                <a:latin typeface="Calibri"/>
              </a:defRPr>
            </a:pPr>
            <a:endParaRPr lang="en-US"/>
          </a:p>
        </c:txPr>
        <c:crossAx val="2094734552"/>
        <c:crosses val="autoZero"/>
        <c:auto val="1"/>
        <c:lblAlgn val="ctr"/>
        <c:noMultiLvlLbl val="1"/>
      </c:catAx>
      <c:valAx>
        <c:axId val="2094734552"/>
        <c:scaling>
          <c:orientation val="minMax"/>
          <c:max val="0.38"/>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82"/>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F4B"/>
                </a:solidFill>
                <a:latin typeface="Calibri"/>
              </a:defRPr>
            </a:pPr>
            <a:r>
              <a:rPr sz="1300" b="0" i="0" u="none" strike="noStrike">
                <a:solidFill>
                  <a:srgbClr val="0B1F4B"/>
                </a:solidFill>
                <a:latin typeface="Calibri"/>
              </a:rPr>
              <a:t>Share of applications in each lane (%)</a:t>
            </a:r>
          </a:p>
        </c:rich>
      </c:tx>
      <c:layout/>
      <c:overlay val="0"/>
    </c:title>
    <c:autoTitleDeleted val="0"/>
    <c:plotArea>
      <c:layout/>
      <c:barChart>
        <c:barDir val="col"/>
        <c:grouping val="stacked"/>
        <c:varyColors val="0"/>
        <c:ser>
          <c:idx val="0"/>
          <c:order val="0"/>
          <c:tx>
            <c:strRef>
              <c:f>Sheet1!$B$1</c:f>
              <c:strCache>
                <c:ptCount val="1"/>
                <c:pt idx="0">
                  <c:v>Auto-decline</c:v>
                </c:pt>
              </c:strCache>
            </c:strRef>
          </c:tx>
          <c:spPr>
            <a:solidFill>
              <a:srgbClr val="D64545"/>
            </a:solidFill>
            <a:effectLst/>
          </c:spPr>
          <c:invertIfNegative val="0"/>
          <c:dLbls>
            <c:numFmt formatCode="0.0" sourceLinked="0"/>
            <c:txPr>
              <a:bodyPr/>
              <a:lstStyle/>
              <a:p>
                <a:pPr>
                  <a:defRPr b="1" i="0" strike="noStrike" sz="12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Logistic Regression</c:v>
                  </c:pt>
                  <c:pt idx="1">
                    <c:v>Gradient Boosting</c:v>
                  </c:pt>
                </c:lvl>
              </c:multiLvlStrCache>
            </c:multiLvlStrRef>
          </c:cat>
          <c:val>
            <c:numRef>
              <c:f>Sheet1!$B$2:$B$3</c:f>
              <c:numCache>
                <c:formatCode>General</c:formatCode>
                <c:ptCount val="2"/>
                <c:pt idx="0">
                  <c:v>14.62</c:v>
                </c:pt>
                <c:pt idx="1">
                  <c:v>24.5</c:v>
                </c:pt>
              </c:numCache>
            </c:numRef>
          </c:val>
        </c:ser>
        <c:ser>
          <c:idx val="1"/>
          <c:order val="1"/>
          <c:tx>
            <c:strRef>
              <c:f>Sheet1!$C$1</c:f>
              <c:strCache>
                <c:ptCount val="1"/>
                <c:pt idx="0">
                  <c:v>Analyst review</c:v>
                </c:pt>
              </c:strCache>
            </c:strRef>
          </c:tx>
          <c:spPr>
            <a:solidFill>
              <a:srgbClr val="F28C28"/>
            </a:solidFill>
            <a:effectLst/>
          </c:spPr>
          <c:invertIfNegative val="0"/>
          <c:dLbls>
            <c:numFmt formatCode="0.0" sourceLinked="0"/>
            <c:txPr>
              <a:bodyPr/>
              <a:lstStyle/>
              <a:p>
                <a:pPr>
                  <a:defRPr b="1" i="0" strike="noStrike" sz="12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Logistic Regression</c:v>
                  </c:pt>
                  <c:pt idx="1">
                    <c:v>Gradient Boosting</c:v>
                  </c:pt>
                </c:lvl>
              </c:multiLvlStrCache>
            </c:multiLvlStrRef>
          </c:cat>
          <c:val>
            <c:numRef>
              <c:f>Sheet1!$C$2:$C$3</c:f>
              <c:numCache>
                <c:formatCode>General</c:formatCode>
                <c:ptCount val="2"/>
                <c:pt idx="0">
                  <c:v>69.96</c:v>
                </c:pt>
                <c:pt idx="1">
                  <c:v>56.5</c:v>
                </c:pt>
              </c:numCache>
            </c:numRef>
          </c:val>
        </c:ser>
        <c:ser>
          <c:idx val="2"/>
          <c:order val="2"/>
          <c:tx>
            <c:strRef>
              <c:f>Sheet1!$D$1</c:f>
              <c:strCache>
                <c:ptCount val="1"/>
                <c:pt idx="0">
                  <c:v>Fast-track</c:v>
                </c:pt>
              </c:strCache>
            </c:strRef>
          </c:tx>
          <c:spPr>
            <a:solidFill>
              <a:srgbClr val="2E9E5B"/>
            </a:solidFill>
            <a:effectLst/>
          </c:spPr>
          <c:invertIfNegative val="0"/>
          <c:dLbls>
            <c:numFmt formatCode="0.0" sourceLinked="0"/>
            <c:txPr>
              <a:bodyPr/>
              <a:lstStyle/>
              <a:p>
                <a:pPr>
                  <a:defRPr b="1" i="0" strike="noStrike" sz="12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Logistic Regression</c:v>
                  </c:pt>
                  <c:pt idx="1">
                    <c:v>Gradient Boosting</c:v>
                  </c:pt>
                </c:lvl>
              </c:multiLvlStrCache>
            </c:multiLvlStrRef>
          </c:cat>
          <c:val>
            <c:numRef>
              <c:f>Sheet1!$D$2:$D$3</c:f>
              <c:numCache>
                <c:formatCode>General</c:formatCode>
                <c:ptCount val="2"/>
                <c:pt idx="0">
                  <c:v>15.42</c:v>
                </c:pt>
                <c:pt idx="1">
                  <c:v>19</c:v>
                </c:pt>
              </c:numCache>
            </c:numRef>
          </c:val>
        </c:ser>
        <c:dLbls>
          <c:numFmt formatCode="0.0" sourceLinked="0"/>
          <c:txPr>
            <a:bodyPr/>
            <a:lstStyle/>
            <a:p>
              <a:pPr>
                <a:defRPr b="1" i="0" strike="noStrike" sz="1200" u="none">
                  <a:solidFill>
                    <a:srgbClr val="FFFFFF"/>
                  </a:solidFill>
                  <a:latin typeface="Calibri"/>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A44"/>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3E9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2"/>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A44"/>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F4B"/>
                </a:solidFill>
                <a:latin typeface="Calibri"/>
              </a:defRPr>
            </a:pPr>
            <a:r>
              <a:rPr sz="1300" b="0" i="0" u="none" strike="noStrike">
                <a:solidFill>
                  <a:srgbClr val="0B1F4B"/>
                </a:solidFill>
                <a:latin typeface="Calibri"/>
              </a:rPr>
              <a:t>Approval rate and model error by segment (%)</a:t>
            </a:r>
          </a:p>
        </c:rich>
      </c:tx>
      <c:layout/>
      <c:overlay val="0"/>
    </c:title>
    <c:autoTitleDeleted val="0"/>
    <c:plotArea>
      <c:layout/>
      <c:barChart>
        <c:barDir val="col"/>
        <c:grouping val="clustered"/>
        <c:varyColors val="0"/>
        <c:ser>
          <c:idx val="0"/>
          <c:order val="0"/>
          <c:tx>
            <c:strRef>
              <c:f>Sheet1!$B$1</c:f>
              <c:strCache>
                <c:ptCount val="1"/>
                <c:pt idx="0">
                  <c:v>Approval rate (%)</c:v>
                </c:pt>
              </c:strCache>
            </c:strRef>
          </c:tx>
          <c:spPr>
            <a:solidFill>
              <a:srgbClr val="00A6A6"/>
            </a:solidFill>
            <a:effectLst/>
          </c:spPr>
          <c:invertIfNegative val="0"/>
          <c:dLbls>
            <c:numFmt formatCode="0.0" sourceLinked="0"/>
            <c:txPr>
              <a:bodyPr/>
              <a:lstStyle/>
              <a:p>
                <a:pPr>
                  <a:defRPr b="0" i="0" strike="noStrike" sz="1000" u="none">
                    <a:solidFill>
                      <a:srgbClr val="1F2A44"/>
                    </a:solidFill>
                    <a:latin typeface="Calibri"/>
                  </a:defRPr>
                </a:pPr>
              </a:p>
            </c:txPr>
            <c:showLegendKey val="0"/>
            <c:showVal val="1"/>
            <c:showCatName val="0"/>
            <c:showSerName val="0"/>
            <c:showPercent val="0"/>
            <c:showBubbleSize val="0"/>
            <c:showLeaderLines val="0"/>
          </c:dLbls>
          <c:cat>
            <c:multiLvlStrRef>
              <c:f>Sheet1!$A$2:$A$5</c:f>
              <c:multiLvlStrCache>
                <c:ptCount val="4"/>
                <c:lvl>
                  <c:pt idx="0">
                    <c:v>Higher-Income</c:v>
                  </c:pt>
                  <c:pt idx="1">
                    <c:v>Moderate / Shorter Tenure</c:v>
                  </c:pt>
                  <c:pt idx="2">
                    <c:v>Established Employment</c:v>
                  </c:pt>
                  <c:pt idx="3">
                    <c:v>High FOIR</c:v>
                  </c:pt>
                </c:lvl>
              </c:multiLvlStrCache>
            </c:multiLvlStrRef>
          </c:cat>
          <c:val>
            <c:numRef>
              <c:f>Sheet1!$B$2:$B$5</c:f>
              <c:numCache>
                <c:formatCode>General</c:formatCode>
                <c:ptCount val="4"/>
                <c:pt idx="0">
                  <c:v>59.22</c:v>
                </c:pt>
                <c:pt idx="1">
                  <c:v>53.5</c:v>
                </c:pt>
                <c:pt idx="2">
                  <c:v>67.76</c:v>
                </c:pt>
                <c:pt idx="3">
                  <c:v>22.81</c:v>
                </c:pt>
              </c:numCache>
            </c:numRef>
          </c:val>
        </c:ser>
        <c:ser>
          <c:idx val="1"/>
          <c:order val="1"/>
          <c:tx>
            <c:strRef>
              <c:f>Sheet1!$C$1</c:f>
              <c:strCache>
                <c:ptCount val="1"/>
                <c:pt idx="0">
                  <c:v>Test error rate (%)</c:v>
                </c:pt>
              </c:strCache>
            </c:strRef>
          </c:tx>
          <c:spPr>
            <a:solidFill>
              <a:srgbClr val="F28C28"/>
            </a:solidFill>
            <a:effectLst/>
          </c:spPr>
          <c:invertIfNegative val="0"/>
          <c:dLbls>
            <c:numFmt formatCode="0.0" sourceLinked="0"/>
            <c:txPr>
              <a:bodyPr/>
              <a:lstStyle/>
              <a:p>
                <a:pPr>
                  <a:defRPr b="0" i="0" strike="noStrike" sz="1000" u="none">
                    <a:solidFill>
                      <a:srgbClr val="1F2A44"/>
                    </a:solidFill>
                    <a:latin typeface="Calibri"/>
                  </a:defRPr>
                </a:pPr>
              </a:p>
            </c:txPr>
            <c:showLegendKey val="0"/>
            <c:showVal val="1"/>
            <c:showCatName val="0"/>
            <c:showSerName val="0"/>
            <c:showPercent val="0"/>
            <c:showBubbleSize val="0"/>
            <c:showLeaderLines val="0"/>
          </c:dLbls>
          <c:cat>
            <c:multiLvlStrRef>
              <c:f>Sheet1!$A$2:$A$5</c:f>
              <c:multiLvlStrCache>
                <c:ptCount val="4"/>
                <c:lvl>
                  <c:pt idx="0">
                    <c:v>Higher-Income</c:v>
                  </c:pt>
                  <c:pt idx="1">
                    <c:v>Moderate / Shorter Tenure</c:v>
                  </c:pt>
                  <c:pt idx="2">
                    <c:v>Established Employment</c:v>
                  </c:pt>
                  <c:pt idx="3">
                    <c:v>High FOIR</c:v>
                  </c:pt>
                </c:lvl>
              </c:multiLvlStrCache>
            </c:multiLvlStrRef>
          </c:cat>
          <c:val>
            <c:numRef>
              <c:f>Sheet1!$C$2:$C$5</c:f>
              <c:numCache>
                <c:formatCode>General</c:formatCode>
                <c:ptCount val="4"/>
                <c:pt idx="0">
                  <c:v>26.13</c:v>
                </c:pt>
                <c:pt idx="1">
                  <c:v>20.24</c:v>
                </c:pt>
                <c:pt idx="2">
                  <c:v>18.28</c:v>
                </c:pt>
                <c:pt idx="3">
                  <c:v>14.25</c:v>
                </c:pt>
              </c:numCache>
            </c:numRef>
          </c:val>
        </c:ser>
        <c:dLbls>
          <c:numFmt formatCode="0.0" sourceLinked="0"/>
          <c:txPr>
            <a:bodyPr/>
            <a:lstStyle/>
            <a:p>
              <a:pPr>
                <a:defRPr b="0" i="0" strike="noStrike" sz="1000" u="none">
                  <a:solidFill>
                    <a:srgbClr val="1F2A44"/>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A44"/>
                </a:solidFill>
                <a:latin typeface="Calibri"/>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6350" cap="flat">
              <a:solidFill>
                <a:srgbClr val="E3E9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2"/>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A44"/>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project is the Credit Pre-Screening Engine, which is about making loan intake faster using machine learning. It is Mini Use Case 02 of Phase 2, in the banking and retail lending industry. I worked in Python, using Pandas and NumPy for data, Matplotlib and Seaborn for charts, and Scikit-learn for the models. Over the next slides I will take you from the business problem, to the data, to the models, and finally to a policy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Banks receive a very large number of loan applications, and every one gets the same slow manual review, even when the answer is obvious from the credit score or the repayment burden. Our bank receives about 3,000 personal-loan applications a month, each taking around 25 minutes, which is roughly 1,250 analyst hours every month. In our six months of historical data, 47 percent of applications were finally declined, so a lot of that effort ends in a decline. My solution is a machine-learning model that scores each application, and the objective is to automate the clear-cut cases while keeping mistakes under five percent in each automated 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CBIM problem canvas, which frames the project in a structured way. The situation is the 3,000 monthly applications with full manual review, and the complication is that clumsy automation could wrongly decline good customers or approve risky ones. The question is how much of the queue can be automated if each automated lane stays within a five percent error limit. Our single source of truth is the supplied CSV file, and the column called decision is what we predict. Success means respecting both error limits and reporting the hours saved for the Credit Policy Analyst, who is our main stakeholder.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dataset has 12,000 loan applications and 19 columns, covering April to September 2026. About 53 percent were approved and 47 percent declined, so the two classes are almost balanced, which makes accuracy a fair measure. The important columns are credit score, monthly income, existing EMI, proposed EMI and employment type. The most important column is decision. It records what the credit team really decided, so it is our target, and the model learns to copy those past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modelling, I inspected the data and cleaned it carefully. 441 monthly incomes were missing, mostly for business owners and self-employed professionals, so I filled them with the median income of the same employment type. 1,039 credit scores were blank, but every one of those applicants had zero months of credit history, so they are genuinely new to credit, and I kept them with a flag. I also found 28 incomes above 3 lakh a month, and 25 of them were exact multiples of 12, which suggests annual income entered by mistake. For this simulated data I divided those 25 by 12, and in a real bank I would verify them first. No rows were dropped, so all 12,000 applications were kept.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see how the bank has been deciding historically. The first chart shows approval by credit-score band. Below 650, approval is only two to three percent, then it jumps to 32 percent and climbs to 85 percent for scores above 800, so the team behaves as if there is an unwritten minimum score of about 650. The second chart shows employment type, where gig and contract workers are approved only 35 percent of the time compared with 58 percent for salaried applicants. This could be because of lower income or higher repayment burden, but we should check for bias, and these are only associations, not proof of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 created three features that describe affordability. FOIR is the share of monthly income that goes to loan payments, including the new loan. Loan-to-income compares the loan size to yearly income, and is_ntc flags people with no credit score. The chart shows approval is about 65 percent when FOIR is below 30 percent, but only 15.8 percent when it is above 55 percent. So repayment burden clearly matters to the credit team, and I propose 50 percent FOIR as a starting limit, with extra checks above it rather than automatic rejection.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started with Logistic Regression as a simple baseline model. It uses 12 input features, such as credit score, FOIR and delinquencies, including employment type and loan purpose. I split the data 80:20, so 9,600 rows were used for training and 2,400 were kept aside for testing. Missing values were filled, numbers were scaled and categories were one-hot encoded. On the test set the model reached 78.5 percent accuracy, 78.6 percent precision and 74.8 percent recall for declines, with a ROC-AUC of 0.867, which is a reasonable starting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confusion matrix for the baseline model. Of 1,271 applications that the credit team approved, the model would wrongly decline 230, which is 18.1 percent. We call these false declines. Accuracy tells us how many decisions match overall, precision tells us how trustworthy a decline prediction is, and recall tells us how many real declines we catch; the model also missed 285 real declines. False declines matter a lot in lending, because each one is a good customer lost and a person treated unfairly. That is why we cannot simply decline everyone the model flags at the default cut-off.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should not automatically decline everyone above the default cut-off of 0.50. At 0.50 the model would auto-decline about 45 percent of applications, but 21.4 percent of those were actually approved by the credit team, far above our five percent limit. I tested seven thresholds from 0.50 to 0.95, and the table shows the wrong-decline rate falling as the threshold rises. At 0.85 the error is 5.66 percent, still too high, but at 0.90 it is 4.27 percent. So 0.90 is the highest-coverage threshold that passes, and it auto-declines 14.62 percent of test applications, which is about 439 applications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Fairness matters because loan decisions affect people's lives. Historically men were approved 54.10 percent of the time and women 50.43 percent. Part of this may be applicant mix: women are 21.37 percent gig workers versus 11.64 percent for men, and their median income is 45,000 rupees versus 55,000. Within employment types the gap is small for business owners and gig workers, but larger for salaried and self-employed professionals. At the 0.90 threshold the model auto-declines 15.33 percent of women and 14.30 percent of men, a 1.03-point gap that does not prove discrimination but needs more checks. Removing gender from the features does not guarantee fairness, because other features can act as proxies.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interim briefing after the baseline model. I recommend an auto-decline threshold of 0.90, which keeps wrongly declined approvals at 4.27 percent, below the five percent limit. This takes about 439 applications a month out of manual review and saves roughly 182.8 analyst hours, based on 3,000 applications and 25 minutes each. The weakness is that this model only has an auto-decline lane, so about 85 percent of the queue still needs manual review, and false declines remain. In the next stage I compare stronger models and add a fast-track 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step I rebuilt the model as a pipeline. The pipeline accepts raw CSV rows, creates the features, and then a ColumnTransformer fills missing values, scales numbers and encodes categories before the classifier runs. The results matched the earlier model exactly, with the same 78.54 percent accuracy and identical predictions. The table shows decline probabilities for the five most recent applications; for example, APP111969 has only a 6.33 percent chance of decline, while APP111960 has 77.47 percent. Using a pipeline also prevents data leakage, which means test information sneaking into training, because everything is learned from the training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compared four models: Logistic Regression, Decision Tree, Random Forest and Gradient Boosting. To compare them fairly I used five-fold stratified cross-validation on the training set only, so the test set stayed untouched. The main measure is ROC-AUC, which shows how well a model separates risky from safe applicants. Gradient Boosting scored best at 0.8896, Random Forest 0.8773, Logistic Regression 0.8667, and the Decision Tree was far behind at 0.7187. I selected Gradient Boosting, and on the test set it gave 0.885 ROC-AUC and 80.3 percent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the top eight features that the Gradient Boosting model relies on. Delinquencies, credit score and FOIR are far ahead, and together they carry about 88 percent of the importance. This agrees with my earlier analysis, where the very low approvals below a score of 650 and the FOIR drop were clearly visible. Boosting ranks applicants better, but it is harder to explain than Logistic Regression, so Logistic Regression should remain as a benchmark. One caution: feature importance shows what helps prediction, not what causes a decision, and it does not prove fairness.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designed the two-lane pre-screener, which really has three routes. Applications with a very low approval probability go to auto-decline, those with a very high approval probability go to fast-track with a light-touch check, and everything uncertain goes to an analyst. There are two five percent limits: no more than five percent of auto-declined cases may have been approved, and no more than five percent of fast-tracked cases may have been declined. For Logistic Regression the thresholds are 0.10 and 0.90, and for Gradient Boosting they are 0.17 and 0.89. Both models stay within both limits, with errors between 4.05 and 4.61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compares the business impact of the two models for 3,000 applications a month. Logistic Regression automates about 901 applications, 439 declines and 462 fast-tracks, and saves about 375 analyst hours. Gradient Boosting automates about 1,305 applications, which is 43.5 percent of the queue, and saves about 544 hours. That is 404 fewer manual reviews and 168 more hours every month. It is important to separate queue coverage from real time savings. Coverage only tells us how many applications leave the manual queue, while the hours assume a full 25 minutes saved each, but fast-track cases still need a light-touch check, so actual savings will be somewhat 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recommendation to the Credit Policy Analyst is to pilot the Gradient Boosting model: auto-decline when the approval probability is below 0.17, which covers 24.5 percent, and fast-track at 0.89 or above, which covers 19 percent, leaving 56.5 percent with analysts. This saves about 544 analyst hours a month and needs 404 fewer reviews than Logistic Regression. Borderline cases, applicants with missing or limited credit history, and cases flagged by affordability or fairness checks should stay with humans. The bank should monitor approval, lane and error rates by gender and employment group, and run a shadow-mode pilot before going live. Finally, historical decisions may contain bias, so the model must support responsible human decisions, never replace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optional Step 5.12, where I used K-Means to find where the model struggles. The elbow plot declines gradually, so I chose four clusters as a reasonable choice, not the only one. Higher-Income Applicants had the highest Gradient Boosting error, 26.13 percent, so the bank should investigate those errors before relying on predictions there. The High FOIR segment has an average FOIR of 0.72 and the lowest approval rate, 22.81 percent, which supports extra affordability checks, but nobody should be declined just for belonging to a cluster. These labels are only for analysis and are never fed into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credit team's past decisions mainly follow credit score, FOIR and delinquencies, and machine learning can learn this pattern to support pre-screening. Gradient Boosting automated 43.5 percent of the queue against 30.0 percent for Logistic Regression, while keeping both lanes within the five percent limits. There are limits: the data covers only six months, it may carry past bias, and thresholds must be tested on new applications in shadow mode before deployment. I also completed the optional K-Means step, where the Higher-Income segment had the highest error at 26.13 percent. Thank you for listening, and I would be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4F7F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052560" cy="777240"/>
          </a:xfrm>
          <a:prstGeom prst="rect">
            <a:avLst/>
          </a:prstGeom>
          <a:noFill/>
          <a:ln/>
        </p:spPr>
        <p:txBody>
          <a:bodyPr wrap="square" rtlCol="0"/>
          <a:lstStyle>
            <a:lvl1pPr algn="l" indent="0" marL="0">
              <a:buNone/>
              <a:defRPr lang="en-US" sz="2800" b="1" dirty="0">
                <a:solidFill>
                  <a:srgbClr val="0B1F4B"/>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3" name="Text 0"/>
          <p:cNvSpPr/>
          <p:nvPr/>
        </p:nvSpPr>
        <p:spPr>
          <a:xfrm>
            <a:off x="548640" y="6400800"/>
            <a:ext cx="6858000" cy="320040"/>
          </a:xfrm>
          <a:prstGeom prst="rect">
            <a:avLst/>
          </a:prstGeom>
          <a:noFill/>
          <a:ln/>
        </p:spPr>
        <p:txBody>
          <a:bodyPr wrap="square" lIns="0" tIns="0" rIns="0" bIns="0" rtlCol="0" anchor="ctr"/>
          <a:lstStyle/>
          <a:p>
            <a:pPr indent="0" marL="0">
              <a:buNone/>
            </a:pPr>
            <a:r>
              <a:rPr lang="en-US" sz="1000" dirty="0">
                <a:solidFill>
                  <a:srgbClr val="5B6B82"/>
                </a:solidFill>
                <a:latin typeface="Calibri" pitchFamily="34" charset="0"/>
                <a:ea typeface="Calibri" pitchFamily="34" charset="-122"/>
                <a:cs typeface="Calibri" pitchFamily="34" charset="-120"/>
              </a:rPr>
              <a:t>Credit Pre-Screening Engine  |  Presented by D Koteswara Rao</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F4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8.xml"/><Relationship Id="rId3" Type="http://schemas.openxmlformats.org/officeDocument/2006/relationships/slide" Target="slide18.xml"/><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slideLayout" Target="../slideLayouts/slideLayout3.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1.xml"/><Relationship Id="rId2" Type="http://schemas.openxmlformats.org/officeDocument/2006/relationships/slide" Target="slide3.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4.xml"/><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chart" Target="/ppt/charts/chart1.xml"/><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4-4.png"/><Relationship Id="rId8" Type="http://schemas.openxmlformats.org/officeDocument/2006/relationships/image" Target="../media/image-4-5.png"/><Relationship Id="rId9" Type="http://schemas.openxmlformats.org/officeDocument/2006/relationships/image" Target="../media/image-4-6.pn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 Target="slide6.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 Target="slide7.xml"/><Relationship Id="rId3" Type="http://schemas.openxmlformats.org/officeDocument/2006/relationships/chart" Target="/ppt/charts/chart2.xml"/><Relationship Id="rId4" Type="http://schemas.openxmlformats.org/officeDocument/2006/relationships/chart" Target="/ppt/charts/chart3.xml"/><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 Target="slide8.xml"/><Relationship Id="rId3" Type="http://schemas.openxmlformats.org/officeDocument/2006/relationships/chart" Target="/ppt/charts/chart4.xml"/><Relationship Id="rId4" Type="http://schemas.openxmlformats.org/officeDocument/2006/relationships/image" Target="../media/image-7-1.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 Target="slide9.xml"/><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0.xml"/><Relationship Id="rId3" Type="http://schemas.openxmlformats.org/officeDocument/2006/relationships/image" Target="../media/image-9-1.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 Target="slide11.xml"/><Relationship Id="rId3" Type="http://schemas.openxmlformats.org/officeDocument/2006/relationships/chart" Target="/ppt/charts/chart5.xml"/><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 Target="slide12.xml"/><Relationship Id="rId3" Type="http://schemas.openxmlformats.org/officeDocument/2006/relationships/chart" Target="/ppt/charts/chart6.xml"/><Relationship Id="rId4" Type="http://schemas.openxmlformats.org/officeDocument/2006/relationships/image" Target="../media/image-11-1.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13.xml"/><Relationship Id="rId3" Type="http://schemas.openxmlformats.org/officeDocument/2006/relationships/image" Target="../media/image-12-1.png"/><Relationship Id="rId4" Type="http://schemas.openxmlformats.org/officeDocument/2006/relationships/image" Target="../media/image-12-2.png"/><Relationship Id="rId5" Type="http://schemas.openxmlformats.org/officeDocument/2006/relationships/image" Target="../media/image-12-3.png"/><Relationship Id="rId6" Type="http://schemas.openxmlformats.org/officeDocument/2006/relationships/image" Target="../media/image-12-4.png"/><Relationship Id="rId7" Type="http://schemas.openxmlformats.org/officeDocument/2006/relationships/image" Target="../media/image-12-5.png"/><Relationship Id="rId8" Type="http://schemas.openxmlformats.org/officeDocument/2006/relationships/image" Target="../media/image-12-6.png"/><Relationship Id="rId9" Type="http://schemas.openxmlformats.org/officeDocument/2006/relationships/slideLayout" Target="../slideLayouts/slideLayout2.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12.xml"/><Relationship Id="rId2" Type="http://schemas.openxmlformats.org/officeDocument/2006/relationships/slide" Target="slide14.xml"/><Relationship Id="rId3" Type="http://schemas.openxmlformats.org/officeDocument/2006/relationships/image" Target="../media/image-13-1.png"/><Relationship Id="rId4" Type="http://schemas.openxmlformats.org/officeDocument/2006/relationships/image" Target="../media/image-13-2.png"/><Relationship Id="rId5" Type="http://schemas.openxmlformats.org/officeDocument/2006/relationships/image" Target="../media/image-13-3.png"/><Relationship Id="rId6" Type="http://schemas.openxmlformats.org/officeDocument/2006/relationships/image" Target="../media/image-13-4.png"/><Relationship Id="rId7" Type="http://schemas.openxmlformats.org/officeDocument/2006/relationships/image" Target="../media/image-13-5.png"/><Relationship Id="rId8" Type="http://schemas.openxmlformats.org/officeDocument/2006/relationships/image" Target="../media/image-13-6.png"/><Relationship Id="rId9" Type="http://schemas.openxmlformats.org/officeDocument/2006/relationships/image" Target="../media/image-13-7.png"/><Relationship Id="rId10" Type="http://schemas.openxmlformats.org/officeDocument/2006/relationships/slideLayout" Target="../slideLayouts/slideLayout2.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13.xml"/><Relationship Id="rId2" Type="http://schemas.openxmlformats.org/officeDocument/2006/relationships/slide" Target="slide15.xml"/><Relationship Id="rId3" Type="http://schemas.openxmlformats.org/officeDocument/2006/relationships/chart" Target="/ppt/charts/chart7.xml"/><Relationship Id="rId4" Type="http://schemas.openxmlformats.org/officeDocument/2006/relationships/image" Target="../media/image-14-1.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 Target="slide16.xml"/><Relationship Id="rId3" Type="http://schemas.openxmlformats.org/officeDocument/2006/relationships/chart" Target="/ppt/charts/chart8.xml"/><Relationship Id="rId4" Type="http://schemas.openxmlformats.org/officeDocument/2006/relationships/image" Target="../media/image-15-1.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15.xml"/><Relationship Id="rId2" Type="http://schemas.openxmlformats.org/officeDocument/2006/relationships/slide" Target="slide17.xml"/><Relationship Id="rId3" Type="http://schemas.openxmlformats.org/officeDocument/2006/relationships/image" Target="../media/image-16-1.png"/><Relationship Id="rId4" Type="http://schemas.openxmlformats.org/officeDocument/2006/relationships/image" Target="../media/image-16-2.png"/><Relationship Id="rId5" Type="http://schemas.openxmlformats.org/officeDocument/2006/relationships/image" Target="../media/image-16-3.pn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 Target="slide18.xml"/><Relationship Id="rId3" Type="http://schemas.openxmlformats.org/officeDocument/2006/relationships/chart" Target="/ppt/charts/chart9.xml"/><Relationship Id="rId4" Type="http://schemas.openxmlformats.org/officeDocument/2006/relationships/image" Target="../media/image-17-1.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 Target="slide19.xml"/><Relationship Id="rId3" Type="http://schemas.openxmlformats.org/officeDocument/2006/relationships/image" Target="../media/image-18-1.png"/><Relationship Id="rId4" Type="http://schemas.openxmlformats.org/officeDocument/2006/relationships/image" Target="../media/image-18-2.png"/><Relationship Id="rId5" Type="http://schemas.openxmlformats.org/officeDocument/2006/relationships/image" Target="../media/image-18-3.png"/><Relationship Id="rId6" Type="http://schemas.openxmlformats.org/officeDocument/2006/relationships/image" Target="../media/image-18-4.png"/><Relationship Id="rId7" Type="http://schemas.openxmlformats.org/officeDocument/2006/relationships/image" Target="../media/image-18-5.png"/><Relationship Id="rId8" Type="http://schemas.openxmlformats.org/officeDocument/2006/relationships/image" Target="../media/image-18-6.png"/><Relationship Id="rId9" Type="http://schemas.openxmlformats.org/officeDocument/2006/relationships/slideLayout" Target="../slideLayouts/slideLayout2.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 Target="slide20.xml"/><Relationship Id="rId3" Type="http://schemas.openxmlformats.org/officeDocument/2006/relationships/chart" Target="/ppt/charts/chart10.xml"/><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slide" Target="slide19.xml"/><Relationship Id="rId3" Type="http://schemas.openxmlformats.org/officeDocument/2006/relationships/slide" Target="slide1.xml"/><Relationship Id="rId1" Type="http://schemas.openxmlformats.org/officeDocument/2006/relationships/image" Target="../media/image-20-1.png"/><Relationship Id="rId4" Type="http://schemas.openxmlformats.org/officeDocument/2006/relationships/slideLayout" Target="../slideLayouts/slideLayout3.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731520" y="822960"/>
            <a:ext cx="6400800" cy="274320"/>
          </a:xfrm>
          <a:prstGeom prst="rect">
            <a:avLst/>
          </a:prstGeom>
          <a:noFill/>
          <a:ln/>
        </p:spPr>
        <p:txBody>
          <a:bodyPr wrap="square" lIns="0" tIns="0" rIns="0" bIns="0" rtlCol="0" anchor="t"/>
          <a:lstStyle/>
          <a:p>
            <a:pPr indent="0" marL="0">
              <a:buNone/>
            </a:pPr>
            <a:r>
              <a:rPr lang="en-US" sz="1200" b="1" spc="200" kern="0" dirty="0">
                <a:solidFill>
                  <a:srgbClr val="7FE0E0"/>
                </a:solidFill>
                <a:latin typeface="Calibri" pitchFamily="34" charset="0"/>
                <a:ea typeface="Calibri" pitchFamily="34" charset="-122"/>
                <a:cs typeface="Calibri" pitchFamily="34" charset="-120"/>
              </a:rPr>
              <a:t>MINI USE CASE 02  ·  PHASE 2  ·  BFSI</a:t>
            </a:r>
            <a:endParaRPr lang="en-US" sz="1200" dirty="0"/>
          </a:p>
        </p:txBody>
      </p:sp>
      <p:sp>
        <p:nvSpPr>
          <p:cNvPr id="4" name="Text 1"/>
          <p:cNvSpPr txBox="1"/>
          <p:nvPr/>
        </p:nvSpPr>
        <p:spPr>
          <a:xfrm>
            <a:off x="731520" y="1280160"/>
            <a:ext cx="6217920" cy="1737360"/>
          </a:xfrm>
          <a:prstGeom prst="rect">
            <a:avLst/>
          </a:prstGeom>
          <a:noFill/>
          <a:ln/>
        </p:spPr>
        <p:txBody>
          <a:bodyPr wrap="square" lIns="0" tIns="0" rIns="0" bIns="0" rtlCol="0" anchor="t"/>
          <a:lstStyle/>
          <a:p>
            <a:pPr indent="0" marL="0">
              <a:buNone/>
            </a:pPr>
            <a:r>
              <a:rPr lang="en-US" sz="4600" b="1" dirty="0">
                <a:solidFill>
                  <a:srgbClr val="FFFFFF"/>
                </a:solidFill>
                <a:latin typeface="Calibri" pitchFamily="34" charset="0"/>
                <a:ea typeface="Calibri" pitchFamily="34" charset="-122"/>
                <a:cs typeface="Calibri" pitchFamily="34" charset="-120"/>
              </a:rPr>
              <a:t>Credit Pre-Screening Engine</a:t>
            </a:r>
            <a:endParaRPr lang="en-US" sz="4600" dirty="0"/>
          </a:p>
        </p:txBody>
      </p:sp>
      <p:sp>
        <p:nvSpPr>
          <p:cNvPr id="5" name="Text 2"/>
          <p:cNvSpPr txBox="1"/>
          <p:nvPr/>
        </p:nvSpPr>
        <p:spPr>
          <a:xfrm>
            <a:off x="731520" y="3108960"/>
            <a:ext cx="6035040" cy="457200"/>
          </a:xfrm>
          <a:prstGeom prst="rect">
            <a:avLst/>
          </a:prstGeom>
          <a:noFill/>
          <a:ln/>
        </p:spPr>
        <p:txBody>
          <a:bodyPr wrap="square" lIns="0" tIns="0" rIns="0" bIns="0" rtlCol="0" anchor="t"/>
          <a:lstStyle/>
          <a:p>
            <a:pPr indent="0" marL="0">
              <a:buNone/>
            </a:pPr>
            <a:r>
              <a:rPr lang="en-US" sz="2000" dirty="0">
                <a:solidFill>
                  <a:srgbClr val="7FE0E0"/>
                </a:solidFill>
                <a:latin typeface="Calibri" pitchFamily="34" charset="0"/>
                <a:ea typeface="Calibri" pitchFamily="34" charset="-122"/>
                <a:cs typeface="Calibri" pitchFamily="34" charset="-120"/>
              </a:rPr>
              <a:t>Loan Intake Optimisation with Machine Learning</a:t>
            </a:r>
            <a:endParaRPr lang="en-US" sz="2000" dirty="0"/>
          </a:p>
        </p:txBody>
      </p:sp>
      <p:sp>
        <p:nvSpPr>
          <p:cNvPr id="6" name="Text 3"/>
          <p:cNvSpPr txBox="1"/>
          <p:nvPr/>
        </p:nvSpPr>
        <p:spPr>
          <a:xfrm>
            <a:off x="731520" y="3749040"/>
            <a:ext cx="6035040" cy="320040"/>
          </a:xfrm>
          <a:prstGeom prst="rect">
            <a:avLst/>
          </a:prstGeom>
          <a:noFill/>
          <a:ln/>
        </p:spPr>
        <p:txBody>
          <a:bodyPr wrap="square" lIns="0" tIns="0" rIns="0" bIns="0" rtlCol="0" anchor="t"/>
          <a:lstStyle/>
          <a:p>
            <a:pPr indent="0" marL="0">
              <a:buNone/>
            </a:pPr>
            <a:r>
              <a:rPr lang="en-US" sz="1400" dirty="0">
                <a:solidFill>
                  <a:srgbClr val="B8C4DC"/>
                </a:solidFill>
                <a:latin typeface="Calibri" pitchFamily="34" charset="0"/>
                <a:ea typeface="Calibri" pitchFamily="34" charset="-122"/>
                <a:cs typeface="Calibri" pitchFamily="34" charset="-120"/>
              </a:rPr>
              <a:t>Banking and Retail Lending  |  BFSI</a:t>
            </a:r>
            <a:endParaRPr lang="en-US" sz="1400" dirty="0"/>
          </a:p>
        </p:txBody>
      </p:sp>
      <p:sp>
        <p:nvSpPr>
          <p:cNvPr id="7" name="Text 4"/>
          <p:cNvSpPr txBox="1"/>
          <p:nvPr/>
        </p:nvSpPr>
        <p:spPr>
          <a:xfrm>
            <a:off x="731520" y="4069080"/>
            <a:ext cx="6035040" cy="320040"/>
          </a:xfrm>
          <a:prstGeom prst="rect">
            <a:avLst/>
          </a:prstGeom>
          <a:noFill/>
          <a:ln/>
        </p:spPr>
        <p:txBody>
          <a:bodyPr wrap="square" lIns="0" tIns="0" rIns="0" bIns="0" rtlCol="0" anchor="t"/>
          <a:lstStyle/>
          <a:p>
            <a:pPr indent="0" marL="0">
              <a:buNone/>
            </a:pPr>
            <a:r>
              <a:rPr lang="en-US" sz="1300" dirty="0">
                <a:solidFill>
                  <a:srgbClr val="B8C4DC"/>
                </a:solidFill>
                <a:latin typeface="Calibri" pitchFamily="34" charset="0"/>
                <a:ea typeface="Calibri" pitchFamily="34" charset="-122"/>
                <a:cs typeface="Calibri" pitchFamily="34" charset="-120"/>
              </a:rPr>
              <a:t>Python · Pandas · NumPy · Matplotlib · Seaborn · Scikit-learn</a:t>
            </a:r>
            <a:endParaRPr lang="en-US" sz="1300" dirty="0"/>
          </a:p>
        </p:txBody>
      </p:sp>
      <p:sp>
        <p:nvSpPr>
          <p:cNvPr id="8" name="Text 5"/>
          <p:cNvSpPr txBox="1"/>
          <p:nvPr/>
        </p:nvSpPr>
        <p:spPr>
          <a:xfrm>
            <a:off x="731520" y="4572000"/>
            <a:ext cx="6035040" cy="365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Presented by D Koteswara Rao</a:t>
            </a:r>
            <a:endParaRPr lang="en-US" sz="1800" dirty="0"/>
          </a:p>
        </p:txBody>
      </p:sp>
      <p:sp>
        <p:nvSpPr>
          <p:cNvPr id="9" name="navButton"/>
          <p:cNvSpPr/>
          <p:nvPr/>
        </p:nvSpPr>
        <p:spPr>
          <a:xfrm>
            <a:off x="731520" y="5486400"/>
            <a:ext cx="1645920" cy="384048"/>
          </a:xfrm>
          <a:prstGeom prst="roundRect">
            <a:avLst>
              <a:gd name="adj" fmla="val 50000"/>
            </a:avLst>
          </a:prstGeom>
          <a:solidFill>
            <a:srgbClr val="FFFFFF"/>
          </a:solidFill>
          <a:ln w="12700">
            <a:solidFill>
              <a:srgbClr val="FFFFFF"/>
            </a:solidFill>
            <a:prstDash val="solid"/>
          </a:ln>
        </p:spPr>
      </p:sp>
      <p:sp>
        <p:nvSpPr>
          <p:cNvPr id="10" name="Text 7">
            <a:hlinkClick r:id="rId1" tooltip="Jump to The Problem" action="ppaction://hlinksldjump"/>
          </p:cNvPr>
          <p:cNvSpPr txBox="1"/>
          <p:nvPr/>
        </p:nvSpPr>
        <p:spPr>
          <a:xfrm>
            <a:off x="731520" y="5486400"/>
            <a:ext cx="1645920" cy="384048"/>
          </a:xfrm>
          <a:prstGeom prst="rect">
            <a:avLst/>
          </a:prstGeom>
          <a:noFill/>
          <a:ln/>
        </p:spPr>
        <p:txBody>
          <a:bodyPr wrap="square" lIns="0" tIns="0" rIns="0" bIns="0" rtlCol="0" anchor="ctr"/>
          <a:lstStyle/>
          <a:p>
            <a:pPr algn="ctr" indent="0" marL="0">
              <a:buNone/>
            </a:pPr>
            <a:r>
              <a:rPr lang="en-US" sz="1200" b="1" u="sng" dirty="0">
                <a:solidFill>
                  <a:srgbClr val="0B1F4B"/>
                </a:solidFill>
                <a:latin typeface="Calibri" pitchFamily="34" charset="0"/>
                <a:ea typeface="Calibri" pitchFamily="34" charset="-122"/>
                <a:cs typeface="Calibri" pitchFamily="34" charset="-120"/>
                <a:hlinkClick r:id="rId1" action="ppaction://hlinksldjump" tooltip="Jump to The Problem">
                  <a:extLst>
                    <a:ext uri="{A12FA001-AC4F-418D-AE19-62706E023703}">
                      <ahyp:hlinkClr xmlns:ahyp="http://schemas.microsoft.com/office/drawing/2018/hyperlinkcolor" val="tx"/>
                    </a:ext>
                  </a:extLst>
                </a:hlinkClick>
              </a:rPr>
              <a:t>The Problem ›</a:t>
            </a:r>
            <a:endParaRPr lang="en-US" sz="1200" dirty="0"/>
          </a:p>
        </p:txBody>
      </p:sp>
      <p:sp>
        <p:nvSpPr>
          <p:cNvPr id="11" name="navButton"/>
          <p:cNvSpPr/>
          <p:nvPr/>
        </p:nvSpPr>
        <p:spPr>
          <a:xfrm>
            <a:off x="2560320" y="5486400"/>
            <a:ext cx="1645920" cy="384048"/>
          </a:xfrm>
          <a:prstGeom prst="roundRect">
            <a:avLst>
              <a:gd name="adj" fmla="val 50000"/>
            </a:avLst>
          </a:prstGeom>
          <a:solidFill>
            <a:srgbClr val="FFFFFF"/>
          </a:solidFill>
          <a:ln w="12700">
            <a:solidFill>
              <a:srgbClr val="FFFFFF"/>
            </a:solidFill>
            <a:prstDash val="solid"/>
          </a:ln>
        </p:spPr>
      </p:sp>
      <p:sp>
        <p:nvSpPr>
          <p:cNvPr id="12" name="Text 9">
            <a:hlinkClick r:id="rId2" tooltip="Jump to Model Results" action="ppaction://hlinksldjump"/>
          </p:cNvPr>
          <p:cNvSpPr txBox="1"/>
          <p:nvPr/>
        </p:nvSpPr>
        <p:spPr>
          <a:xfrm>
            <a:off x="2560320" y="5486400"/>
            <a:ext cx="1645920" cy="384048"/>
          </a:xfrm>
          <a:prstGeom prst="rect">
            <a:avLst/>
          </a:prstGeom>
          <a:noFill/>
          <a:ln/>
        </p:spPr>
        <p:txBody>
          <a:bodyPr wrap="square" lIns="0" tIns="0" rIns="0" bIns="0" rtlCol="0" anchor="ctr"/>
          <a:lstStyle/>
          <a:p>
            <a:pPr algn="ctr" indent="0" marL="0">
              <a:buNone/>
            </a:pPr>
            <a:r>
              <a:rPr lang="en-US" sz="1200" b="1" u="sng" dirty="0">
                <a:solidFill>
                  <a:srgbClr val="0B1F4B"/>
                </a:solidFill>
                <a:latin typeface="Calibri" pitchFamily="34" charset="0"/>
                <a:ea typeface="Calibri" pitchFamily="34" charset="-122"/>
                <a:cs typeface="Calibri" pitchFamily="34" charset="-120"/>
                <a:hlinkClick r:id="rId2" action="ppaction://hlinksldjump" tooltip="Jump to Model Results">
                  <a:extLst>
                    <a:ext uri="{A12FA001-AC4F-418D-AE19-62706E023703}">
                      <ahyp:hlinkClr xmlns:ahyp="http://schemas.microsoft.com/office/drawing/2018/hyperlinkcolor" val="tx"/>
                    </a:ext>
                  </a:extLst>
                </a:hlinkClick>
              </a:rPr>
              <a:t>Model Results ›</a:t>
            </a:r>
            <a:endParaRPr lang="en-US" sz="1200" dirty="0"/>
          </a:p>
        </p:txBody>
      </p:sp>
      <p:sp>
        <p:nvSpPr>
          <p:cNvPr id="13" name="navButton"/>
          <p:cNvSpPr/>
          <p:nvPr/>
        </p:nvSpPr>
        <p:spPr>
          <a:xfrm>
            <a:off x="4389120" y="5486400"/>
            <a:ext cx="1645920" cy="384048"/>
          </a:xfrm>
          <a:prstGeom prst="roundRect">
            <a:avLst>
              <a:gd name="adj" fmla="val 50000"/>
            </a:avLst>
          </a:prstGeom>
          <a:solidFill>
            <a:srgbClr val="FFFFFF"/>
          </a:solidFill>
          <a:ln w="12700">
            <a:solidFill>
              <a:srgbClr val="FFFFFF"/>
            </a:solidFill>
            <a:prstDash val="solid"/>
          </a:ln>
        </p:spPr>
      </p:sp>
      <p:sp>
        <p:nvSpPr>
          <p:cNvPr id="14" name="Text 11">
            <a:hlinkClick r:id="rId3" tooltip="Jump to Recommendation" action="ppaction://hlinksldjump"/>
          </p:cNvPr>
          <p:cNvSpPr txBox="1"/>
          <p:nvPr/>
        </p:nvSpPr>
        <p:spPr>
          <a:xfrm>
            <a:off x="4389120" y="5486400"/>
            <a:ext cx="1645920" cy="384048"/>
          </a:xfrm>
          <a:prstGeom prst="rect">
            <a:avLst/>
          </a:prstGeom>
          <a:noFill/>
          <a:ln/>
        </p:spPr>
        <p:txBody>
          <a:bodyPr wrap="square" lIns="0" tIns="0" rIns="0" bIns="0" rtlCol="0" anchor="ctr"/>
          <a:lstStyle/>
          <a:p>
            <a:pPr algn="ctr" indent="0" marL="0">
              <a:buNone/>
            </a:pPr>
            <a:r>
              <a:rPr lang="en-US" sz="1200" b="1" u="sng" dirty="0">
                <a:solidFill>
                  <a:srgbClr val="0B1F4B"/>
                </a:solidFill>
                <a:latin typeface="Calibri" pitchFamily="34" charset="0"/>
                <a:ea typeface="Calibri" pitchFamily="34" charset="-122"/>
                <a:cs typeface="Calibri" pitchFamily="34" charset="-120"/>
                <a:hlinkClick r:id="rId3" action="ppaction://hlinksldjump" tooltip="Jump to Recommendation">
                  <a:extLst>
                    <a:ext uri="{A12FA001-AC4F-418D-AE19-62706E023703}">
                      <ahyp:hlinkClr xmlns:ahyp="http://schemas.microsoft.com/office/drawing/2018/hyperlinkcolor" val="tx"/>
                    </a:ext>
                  </a:extLst>
                </a:hlinkClick>
              </a:rPr>
              <a:t>Recommendation ›</a:t>
            </a:r>
            <a:endParaRPr lang="en-US" sz="1200" dirty="0"/>
          </a:p>
        </p:txBody>
      </p:sp>
      <p:sp>
        <p:nvSpPr>
          <p:cNvPr id="15" name="ring"/>
          <p:cNvSpPr/>
          <p:nvPr/>
        </p:nvSpPr>
        <p:spPr>
          <a:xfrm>
            <a:off x="6858000" y="960120"/>
            <a:ext cx="4937760" cy="4937760"/>
          </a:xfrm>
          <a:prstGeom prst="ellipse">
            <a:avLst/>
          </a:prstGeom>
          <a:solidFill>
            <a:srgbClr val="0B1F4B">
              <a:alpha val="0"/>
            </a:srgbClr>
          </a:solidFill>
          <a:ln w="19050">
            <a:solidFill>
              <a:srgbClr val="2B4A8F"/>
            </a:solidFill>
            <a:prstDash val="solid"/>
          </a:ln>
        </p:spPr>
      </p:sp>
      <p:sp>
        <p:nvSpPr>
          <p:cNvPr id="16" name="ring"/>
          <p:cNvSpPr/>
          <p:nvPr/>
        </p:nvSpPr>
        <p:spPr>
          <a:xfrm>
            <a:off x="7772400" y="1874520"/>
            <a:ext cx="3108960" cy="3108960"/>
          </a:xfrm>
          <a:prstGeom prst="ellipse">
            <a:avLst/>
          </a:prstGeom>
          <a:solidFill>
            <a:srgbClr val="0B1F4B">
              <a:alpha val="0"/>
            </a:srgbClr>
          </a:solidFill>
          <a:ln w="19050">
            <a:solidFill>
              <a:srgbClr val="2B4A8F"/>
            </a:solidFill>
            <a:prstDash val="solid"/>
          </a:ln>
        </p:spPr>
      </p:sp>
      <p:sp>
        <p:nvSpPr>
          <p:cNvPr id="17" name="iconCircle"/>
          <p:cNvSpPr/>
          <p:nvPr/>
        </p:nvSpPr>
        <p:spPr>
          <a:xfrm>
            <a:off x="8595360" y="2697480"/>
            <a:ext cx="1463040" cy="1463040"/>
          </a:xfrm>
          <a:prstGeom prst="ellipse">
            <a:avLst/>
          </a:prstGeom>
          <a:solidFill>
            <a:srgbClr val="00A6A6"/>
          </a:solidFill>
          <a:ln w="12700">
            <a:solidFill>
              <a:srgbClr val="00A6A6"/>
            </a:solidFill>
            <a:prstDash val="solid"/>
          </a:ln>
        </p:spPr>
      </p:sp>
      <p:pic>
        <p:nvPicPr>
          <p:cNvPr id="18" name="Image 0" descr="University icon">    </p:cNvPr>
          <p:cNvPicPr>
            <a:picLocks noChangeAspect="1"/>
          </p:cNvPicPr>
          <p:nvPr/>
        </p:nvPicPr>
        <p:blipFill>
          <a:blip r:embed="rId4"/>
          <a:stretch>
            <a:fillRect/>
          </a:stretch>
        </p:blipFill>
        <p:spPr>
          <a:xfrm>
            <a:off x="8961120" y="3063240"/>
            <a:ext cx="731520" cy="731520"/>
          </a:xfrm>
          <a:prstGeom prst="rect">
            <a:avLst/>
          </a:prstGeom>
        </p:spPr>
      </p:pic>
      <p:sp>
        <p:nvSpPr>
          <p:cNvPr id="19" name="iconCircle"/>
          <p:cNvSpPr/>
          <p:nvPr/>
        </p:nvSpPr>
        <p:spPr>
          <a:xfrm>
            <a:off x="10004514" y="825675"/>
            <a:ext cx="731520" cy="731520"/>
          </a:xfrm>
          <a:prstGeom prst="ellipse">
            <a:avLst/>
          </a:prstGeom>
          <a:solidFill>
            <a:srgbClr val="6C4AB6"/>
          </a:solidFill>
          <a:ln w="12700">
            <a:solidFill>
              <a:srgbClr val="6C4AB6"/>
            </a:solidFill>
            <a:prstDash val="solid"/>
          </a:ln>
        </p:spPr>
      </p:sp>
      <p:pic>
        <p:nvPicPr>
          <p:cNvPr id="20" name="Image 1" descr="Brain icon">    </p:cNvPr>
          <p:cNvPicPr>
            <a:picLocks noChangeAspect="1"/>
          </p:cNvPicPr>
          <p:nvPr/>
        </p:nvPicPr>
        <p:blipFill>
          <a:blip r:embed="rId5"/>
          <a:stretch>
            <a:fillRect/>
          </a:stretch>
        </p:blipFill>
        <p:spPr>
          <a:xfrm>
            <a:off x="10187394" y="1008555"/>
            <a:ext cx="365760" cy="365760"/>
          </a:xfrm>
          <a:prstGeom prst="rect">
            <a:avLst/>
          </a:prstGeom>
        </p:spPr>
      </p:pic>
      <p:sp>
        <p:nvSpPr>
          <p:cNvPr id="21" name="iconCircle"/>
          <p:cNvSpPr/>
          <p:nvPr/>
        </p:nvSpPr>
        <p:spPr>
          <a:xfrm>
            <a:off x="11345875" y="3702233"/>
            <a:ext cx="731520" cy="731520"/>
          </a:xfrm>
          <a:prstGeom prst="ellipse">
            <a:avLst/>
          </a:prstGeom>
          <a:solidFill>
            <a:srgbClr val="2E9E5B"/>
          </a:solidFill>
          <a:ln w="12700">
            <a:solidFill>
              <a:srgbClr val="2E9E5B"/>
            </a:solidFill>
            <a:prstDash val="solid"/>
          </a:ln>
        </p:spPr>
      </p:sp>
      <p:pic>
        <p:nvPicPr>
          <p:cNvPr id="22" name="Image 2" descr="ChartLine icon">    </p:cNvPr>
          <p:cNvPicPr>
            <a:picLocks noChangeAspect="1"/>
          </p:cNvPicPr>
          <p:nvPr/>
        </p:nvPicPr>
        <p:blipFill>
          <a:blip r:embed="rId6"/>
          <a:stretch>
            <a:fillRect/>
          </a:stretch>
        </p:blipFill>
        <p:spPr>
          <a:xfrm>
            <a:off x="11528755" y="3885113"/>
            <a:ext cx="365760" cy="365760"/>
          </a:xfrm>
          <a:prstGeom prst="rect">
            <a:avLst/>
          </a:prstGeom>
        </p:spPr>
      </p:pic>
      <p:sp>
        <p:nvSpPr>
          <p:cNvPr id="23" name="iconCircle"/>
          <p:cNvSpPr/>
          <p:nvPr/>
        </p:nvSpPr>
        <p:spPr>
          <a:xfrm>
            <a:off x="6823007" y="4297680"/>
            <a:ext cx="731520" cy="731520"/>
          </a:xfrm>
          <a:prstGeom prst="ellipse">
            <a:avLst/>
          </a:prstGeom>
          <a:solidFill>
            <a:srgbClr val="F28C28"/>
          </a:solidFill>
          <a:ln w="12700">
            <a:solidFill>
              <a:srgbClr val="F28C28"/>
            </a:solidFill>
            <a:prstDash val="solid"/>
          </a:ln>
        </p:spPr>
      </p:sp>
      <p:pic>
        <p:nvPicPr>
          <p:cNvPr id="24" name="Image 3" descr="Users icon">    </p:cNvPr>
          <p:cNvPicPr>
            <a:picLocks noChangeAspect="1"/>
          </p:cNvPicPr>
          <p:nvPr/>
        </p:nvPicPr>
        <p:blipFill>
          <a:blip r:embed="rId7"/>
          <a:stretch>
            <a:fillRect/>
          </a:stretch>
        </p:blipFill>
        <p:spPr>
          <a:xfrm>
            <a:off x="7005887" y="4480560"/>
            <a:ext cx="365760" cy="365760"/>
          </a:xfrm>
          <a:prstGeom prst="rect">
            <a:avLst/>
          </a:prstGeom>
        </p:spPr>
      </p:pic>
      <p:sp>
        <p:nvSpPr>
          <p:cNvPr id="25" name="iconCircle"/>
          <p:cNvSpPr/>
          <p:nvPr/>
        </p:nvSpPr>
        <p:spPr>
          <a:xfrm>
            <a:off x="7614901" y="2286000"/>
            <a:ext cx="731520" cy="731520"/>
          </a:xfrm>
          <a:prstGeom prst="ellipse">
            <a:avLst/>
          </a:prstGeom>
          <a:solidFill>
            <a:srgbClr val="00A6A6"/>
          </a:solidFill>
          <a:ln w="12700">
            <a:solidFill>
              <a:srgbClr val="00A6A6"/>
            </a:solidFill>
            <a:prstDash val="solid"/>
          </a:ln>
        </p:spPr>
      </p:sp>
      <p:pic>
        <p:nvPicPr>
          <p:cNvPr id="26" name="Image 4" descr="CreditCard icon">    </p:cNvPr>
          <p:cNvPicPr>
            <a:picLocks noChangeAspect="1"/>
          </p:cNvPicPr>
          <p:nvPr/>
        </p:nvPicPr>
        <p:blipFill>
          <a:blip r:embed="rId8"/>
          <a:stretch>
            <a:fillRect/>
          </a:stretch>
        </p:blipFill>
        <p:spPr>
          <a:xfrm>
            <a:off x="7797781" y="2468880"/>
            <a:ext cx="365760" cy="365760"/>
          </a:xfrm>
          <a:prstGeom prst="rect">
            <a:avLst/>
          </a:prstGeom>
        </p:spPr>
      </p:pic>
      <p:sp>
        <p:nvSpPr>
          <p:cNvPr id="27" name="iconCircle"/>
          <p:cNvSpPr/>
          <p:nvPr/>
        </p:nvSpPr>
        <p:spPr>
          <a:xfrm>
            <a:off x="9231053" y="4594104"/>
            <a:ext cx="731520" cy="731520"/>
          </a:xfrm>
          <a:prstGeom prst="ellipse">
            <a:avLst/>
          </a:prstGeom>
          <a:solidFill>
            <a:srgbClr val="3A6FD8"/>
          </a:solidFill>
          <a:ln w="12700">
            <a:solidFill>
              <a:srgbClr val="3A6FD8"/>
            </a:solidFill>
            <a:prstDash val="solid"/>
          </a:ln>
        </p:spPr>
      </p:sp>
      <p:pic>
        <p:nvPicPr>
          <p:cNvPr id="28" name="Image 5" descr="FileAlt icon">    </p:cNvPr>
          <p:cNvPicPr>
            <a:picLocks noChangeAspect="1"/>
          </p:cNvPicPr>
          <p:nvPr/>
        </p:nvPicPr>
        <p:blipFill>
          <a:blip r:embed="rId9"/>
          <a:stretch>
            <a:fillRect/>
          </a:stretch>
        </p:blipFill>
        <p:spPr>
          <a:xfrm>
            <a:off x="9413933" y="4776984"/>
            <a:ext cx="365760" cy="365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052560" cy="777240"/>
          </a:xfrm>
          <a:prstGeom prst="rect">
            <a:avLst/>
          </a:prstGeom>
          <a:noFill/>
          <a:ln/>
        </p:spPr>
        <p:txBody>
          <a:bodyPr wrap="square" lIns="0" tIns="0" rIns="0" bIns="0" rtlCol="0" anchor="ctr"/>
          <a:lstStyle/>
          <a:p>
            <a:pPr algn="l" indent="0" marL="0">
              <a:buNone/>
            </a:pPr>
            <a:r>
              <a:rPr lang="en-US" sz="2800" b="1" dirty="0">
                <a:solidFill>
                  <a:srgbClr val="0B1F4B"/>
                </a:solidFill>
                <a:latin typeface="Calibri" pitchFamily="34" charset="0"/>
                <a:ea typeface="Calibri" pitchFamily="34" charset="-122"/>
                <a:cs typeface="Calibri" pitchFamily="34" charset="-120"/>
              </a:rPr>
              <a:t>Introduction and the Business Problem</a:t>
            </a:r>
            <a:endParaRPr lang="en-US" sz="2800" dirty="0"/>
          </a:p>
        </p:txBody>
      </p:sp>
      <p:sp>
        <p:nvSpPr>
          <p:cNvPr id="3" name="tag"/>
          <p:cNvSpPr/>
          <p:nvPr/>
        </p:nvSpPr>
        <p:spPr>
          <a:xfrm>
            <a:off x="9738360" y="457200"/>
            <a:ext cx="1920240" cy="365760"/>
          </a:xfrm>
          <a:prstGeom prst="roundRect">
            <a:avLst>
              <a:gd name="adj" fmla="val 50000"/>
            </a:avLst>
          </a:prstGeom>
          <a:solidFill>
            <a:srgbClr val="00A6A6"/>
          </a:solidFill>
          <a:ln w="12700">
            <a:solidFill>
              <a:srgbClr val="00A6A6"/>
            </a:solidFill>
            <a:prstDash val="solid"/>
          </a:ln>
        </p:spPr>
      </p:sp>
      <p:sp>
        <p:nvSpPr>
          <p:cNvPr id="4" name="Text 2"/>
          <p:cNvSpPr txBox="1"/>
          <p:nvPr/>
        </p:nvSpPr>
        <p:spPr>
          <a:xfrm>
            <a:off x="9738360" y="457200"/>
            <a:ext cx="1920240"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BUSINESS CONTEXT</a:t>
            </a:r>
            <a:endParaRPr lang="en-US" sz="1000" dirty="0"/>
          </a:p>
        </p:txBody>
      </p:sp>
      <p:sp>
        <p:nvSpPr>
          <p:cNvPr id="5" name="Text 3"/>
          <p:cNvSpPr txBox="1"/>
          <p:nvPr/>
        </p:nvSpPr>
        <p:spPr>
          <a:xfrm>
            <a:off x="8229600" y="6400800"/>
            <a:ext cx="1554480" cy="32004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2 / 20</a:t>
            </a:r>
            <a:endParaRPr lang="en-US" sz="1000" dirty="0"/>
          </a:p>
        </p:txBody>
      </p:sp>
      <p:sp>
        <p:nvSpPr>
          <p:cNvPr id="6" name="navButton"/>
          <p:cNvSpPr/>
          <p:nvPr/>
        </p:nvSpPr>
        <p:spPr>
          <a:xfrm>
            <a:off x="9921240" y="6419088"/>
            <a:ext cx="822960" cy="292608"/>
          </a:xfrm>
          <a:prstGeom prst="roundRect">
            <a:avLst>
              <a:gd name="adj" fmla="val 50000"/>
            </a:avLst>
          </a:prstGeom>
          <a:solidFill>
            <a:srgbClr val="FFFFFF"/>
          </a:solidFill>
          <a:ln w="12700">
            <a:solidFill>
              <a:srgbClr val="C9D3E3"/>
            </a:solidFill>
            <a:prstDash val="solid"/>
          </a:ln>
        </p:spPr>
      </p:sp>
      <p:sp>
        <p:nvSpPr>
          <p:cNvPr id="7" name="Text 5">
            <a:hlinkClick r:id="rId1" tooltip="Previous slide" action="ppaction://hlinksldjump"/>
          </p:cNvPr>
          <p:cNvSpPr txBox="1"/>
          <p:nvPr/>
        </p:nvSpPr>
        <p:spPr>
          <a:xfrm>
            <a:off x="99212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1" action="ppaction://hlinksldjump" tooltip="Previous slide">
                  <a:extLst>
                    <a:ext uri="{A12FA001-AC4F-418D-AE19-62706E023703}">
                      <ahyp:hlinkClr xmlns:ahyp="http://schemas.microsoft.com/office/drawing/2018/hyperlinkcolor" val="tx"/>
                    </a:ext>
                  </a:extLst>
                </a:hlinkClick>
              </a:rPr>
              <a:t>‹ Prev</a:t>
            </a:r>
            <a:endParaRPr lang="en-US" sz="1000" dirty="0"/>
          </a:p>
        </p:txBody>
      </p:sp>
      <p:sp>
        <p:nvSpPr>
          <p:cNvPr id="8" name="navButton"/>
          <p:cNvSpPr/>
          <p:nvPr/>
        </p:nvSpPr>
        <p:spPr>
          <a:xfrm>
            <a:off x="10835640" y="6419088"/>
            <a:ext cx="822960" cy="292608"/>
          </a:xfrm>
          <a:prstGeom prst="roundRect">
            <a:avLst>
              <a:gd name="adj" fmla="val 50000"/>
            </a:avLst>
          </a:prstGeom>
          <a:solidFill>
            <a:srgbClr val="FFFFFF"/>
          </a:solidFill>
          <a:ln w="12700">
            <a:solidFill>
              <a:srgbClr val="C9D3E3"/>
            </a:solidFill>
            <a:prstDash val="solid"/>
          </a:ln>
        </p:spPr>
      </p:sp>
      <p:sp>
        <p:nvSpPr>
          <p:cNvPr id="9" name="Text 7">
            <a:hlinkClick r:id="rId2" tooltip="Next slide" action="ppaction://hlinksldjump"/>
          </p:cNvPr>
          <p:cNvSpPr txBox="1"/>
          <p:nvPr/>
        </p:nvSpPr>
        <p:spPr>
          <a:xfrm>
            <a:off x="108356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2" action="ppaction://hlinksldjump" tooltip="Next slide">
                  <a:extLst>
                    <a:ext uri="{A12FA001-AC4F-418D-AE19-62706E023703}">
                      <ahyp:hlinkClr xmlns:ahyp="http://schemas.microsoft.com/office/drawing/2018/hyperlinkcolor" val="tx"/>
                    </a:ext>
                  </a:extLst>
                </a:hlinkClick>
              </a:rPr>
              <a:t>Next ›</a:t>
            </a:r>
            <a:endParaRPr lang="en-US" sz="1000" dirty="0"/>
          </a:p>
        </p:txBody>
      </p:sp>
      <p:sp>
        <p:nvSpPr>
          <p:cNvPr id="11" name="stat"/>
          <p:cNvSpPr/>
          <p:nvPr/>
        </p:nvSpPr>
        <p:spPr>
          <a:xfrm>
            <a:off x="548640" y="1325880"/>
            <a:ext cx="2651760" cy="1783080"/>
          </a:xfrm>
          <a:prstGeom prst="roundRect">
            <a:avLst>
              <a:gd name="adj" fmla="val 6154"/>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2" name="iconCircle"/>
          <p:cNvSpPr/>
          <p:nvPr/>
        </p:nvSpPr>
        <p:spPr>
          <a:xfrm>
            <a:off x="731520" y="1463040"/>
            <a:ext cx="548640" cy="548640"/>
          </a:xfrm>
          <a:prstGeom prst="ellipse">
            <a:avLst/>
          </a:prstGeom>
          <a:solidFill>
            <a:srgbClr val="0B1F4B"/>
          </a:solidFill>
          <a:ln w="12700">
            <a:solidFill>
              <a:srgbClr val="0B1F4B"/>
            </a:solidFill>
            <a:prstDash val="solid"/>
          </a:ln>
        </p:spPr>
      </p:sp>
      <p:pic>
        <p:nvPicPr>
          <p:cNvPr id="13" name="Image 0" descr="FileAlt icon">    </p:cNvPr>
          <p:cNvPicPr>
            <a:picLocks noChangeAspect="1"/>
          </p:cNvPicPr>
          <p:nvPr/>
        </p:nvPicPr>
        <p:blipFill>
          <a:blip r:embed="rId3"/>
          <a:stretch>
            <a:fillRect/>
          </a:stretch>
        </p:blipFill>
        <p:spPr>
          <a:xfrm>
            <a:off x="868680" y="1600200"/>
            <a:ext cx="274320" cy="274320"/>
          </a:xfrm>
          <a:prstGeom prst="rect">
            <a:avLst/>
          </a:prstGeom>
        </p:spPr>
      </p:pic>
      <p:sp>
        <p:nvSpPr>
          <p:cNvPr id="14" name="Text 10"/>
          <p:cNvSpPr txBox="1"/>
          <p:nvPr/>
        </p:nvSpPr>
        <p:spPr>
          <a:xfrm>
            <a:off x="731520" y="2103120"/>
            <a:ext cx="2286000" cy="548640"/>
          </a:xfrm>
          <a:prstGeom prst="rect">
            <a:avLst/>
          </a:prstGeom>
          <a:noFill/>
          <a:ln/>
        </p:spPr>
        <p:txBody>
          <a:bodyPr wrap="square" lIns="0" tIns="0" rIns="0" bIns="0" rtlCol="0" anchor="ctr"/>
          <a:lstStyle/>
          <a:p>
            <a:pPr indent="0" marL="0">
              <a:buNone/>
            </a:pPr>
            <a:r>
              <a:rPr lang="en-US" sz="3000" b="1" dirty="0">
                <a:solidFill>
                  <a:srgbClr val="0B1F4B"/>
                </a:solidFill>
                <a:latin typeface="Calibri" pitchFamily="34" charset="0"/>
                <a:ea typeface="Calibri" pitchFamily="34" charset="-122"/>
                <a:cs typeface="Calibri" pitchFamily="34" charset="-120"/>
              </a:rPr>
              <a:t>~3,000</a:t>
            </a:r>
            <a:endParaRPr lang="en-US" sz="3000" dirty="0"/>
          </a:p>
        </p:txBody>
      </p:sp>
      <p:sp>
        <p:nvSpPr>
          <p:cNvPr id="15" name="Text 11"/>
          <p:cNvSpPr txBox="1"/>
          <p:nvPr/>
        </p:nvSpPr>
        <p:spPr>
          <a:xfrm>
            <a:off x="731520" y="2651760"/>
            <a:ext cx="2286000" cy="411480"/>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personal-loan applications every month</a:t>
            </a:r>
            <a:endParaRPr lang="en-US" sz="1300" dirty="0"/>
          </a:p>
        </p:txBody>
      </p:sp>
      <p:sp>
        <p:nvSpPr>
          <p:cNvPr id="16" name="stat"/>
          <p:cNvSpPr/>
          <p:nvPr/>
        </p:nvSpPr>
        <p:spPr>
          <a:xfrm>
            <a:off x="3383280" y="1325880"/>
            <a:ext cx="2651760" cy="1783080"/>
          </a:xfrm>
          <a:prstGeom prst="roundRect">
            <a:avLst>
              <a:gd name="adj" fmla="val 6154"/>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7" name="iconCircle"/>
          <p:cNvSpPr/>
          <p:nvPr/>
        </p:nvSpPr>
        <p:spPr>
          <a:xfrm>
            <a:off x="3566160" y="1463040"/>
            <a:ext cx="548640" cy="548640"/>
          </a:xfrm>
          <a:prstGeom prst="ellipse">
            <a:avLst/>
          </a:prstGeom>
          <a:solidFill>
            <a:srgbClr val="00A6A6"/>
          </a:solidFill>
          <a:ln w="12700">
            <a:solidFill>
              <a:srgbClr val="00A6A6"/>
            </a:solidFill>
            <a:prstDash val="solid"/>
          </a:ln>
        </p:spPr>
      </p:sp>
      <p:pic>
        <p:nvPicPr>
          <p:cNvPr id="18" name="Image 1" descr="Clock icon">    </p:cNvPr>
          <p:cNvPicPr>
            <a:picLocks noChangeAspect="1"/>
          </p:cNvPicPr>
          <p:nvPr/>
        </p:nvPicPr>
        <p:blipFill>
          <a:blip r:embed="rId4"/>
          <a:stretch>
            <a:fillRect/>
          </a:stretch>
        </p:blipFill>
        <p:spPr>
          <a:xfrm>
            <a:off x="3703320" y="1600200"/>
            <a:ext cx="274320" cy="274320"/>
          </a:xfrm>
          <a:prstGeom prst="rect">
            <a:avLst/>
          </a:prstGeom>
        </p:spPr>
      </p:pic>
      <p:sp>
        <p:nvSpPr>
          <p:cNvPr id="19" name="Text 14"/>
          <p:cNvSpPr txBox="1"/>
          <p:nvPr/>
        </p:nvSpPr>
        <p:spPr>
          <a:xfrm>
            <a:off x="3566160" y="2103120"/>
            <a:ext cx="2286000" cy="548640"/>
          </a:xfrm>
          <a:prstGeom prst="rect">
            <a:avLst/>
          </a:prstGeom>
          <a:noFill/>
          <a:ln/>
        </p:spPr>
        <p:txBody>
          <a:bodyPr wrap="square" lIns="0" tIns="0" rIns="0" bIns="0" rtlCol="0" anchor="ctr"/>
          <a:lstStyle/>
          <a:p>
            <a:pPr indent="0" marL="0">
              <a:buNone/>
            </a:pPr>
            <a:r>
              <a:rPr lang="en-US" sz="3000" b="1" dirty="0">
                <a:solidFill>
                  <a:srgbClr val="00A6A6"/>
                </a:solidFill>
                <a:latin typeface="Calibri" pitchFamily="34" charset="0"/>
                <a:ea typeface="Calibri" pitchFamily="34" charset="-122"/>
                <a:cs typeface="Calibri" pitchFamily="34" charset="-120"/>
              </a:rPr>
              <a:t>25 min</a:t>
            </a:r>
            <a:endParaRPr lang="en-US" sz="3000" dirty="0"/>
          </a:p>
        </p:txBody>
      </p:sp>
      <p:sp>
        <p:nvSpPr>
          <p:cNvPr id="20" name="Text 15"/>
          <p:cNvSpPr txBox="1"/>
          <p:nvPr/>
        </p:nvSpPr>
        <p:spPr>
          <a:xfrm>
            <a:off x="3566160" y="2651760"/>
            <a:ext cx="2286000" cy="411480"/>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per manual review</a:t>
            </a:r>
            <a:endParaRPr lang="en-US" sz="1300" dirty="0"/>
          </a:p>
        </p:txBody>
      </p:sp>
      <p:sp>
        <p:nvSpPr>
          <p:cNvPr id="21" name="stat"/>
          <p:cNvSpPr/>
          <p:nvPr/>
        </p:nvSpPr>
        <p:spPr>
          <a:xfrm>
            <a:off x="6217920" y="1325880"/>
            <a:ext cx="2651760" cy="1783080"/>
          </a:xfrm>
          <a:prstGeom prst="roundRect">
            <a:avLst>
              <a:gd name="adj" fmla="val 6154"/>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22" name="iconCircle"/>
          <p:cNvSpPr/>
          <p:nvPr/>
        </p:nvSpPr>
        <p:spPr>
          <a:xfrm>
            <a:off x="6400800" y="1463040"/>
            <a:ext cx="548640" cy="548640"/>
          </a:xfrm>
          <a:prstGeom prst="ellipse">
            <a:avLst/>
          </a:prstGeom>
          <a:solidFill>
            <a:srgbClr val="6C4AB6"/>
          </a:solidFill>
          <a:ln w="12700">
            <a:solidFill>
              <a:srgbClr val="6C4AB6"/>
            </a:solidFill>
            <a:prstDash val="solid"/>
          </a:ln>
        </p:spPr>
      </p:sp>
      <p:pic>
        <p:nvPicPr>
          <p:cNvPr id="23" name="Image 2" descr="HourglassHalf icon">    </p:cNvPr>
          <p:cNvPicPr>
            <a:picLocks noChangeAspect="1"/>
          </p:cNvPicPr>
          <p:nvPr/>
        </p:nvPicPr>
        <p:blipFill>
          <a:blip r:embed="rId5"/>
          <a:stretch>
            <a:fillRect/>
          </a:stretch>
        </p:blipFill>
        <p:spPr>
          <a:xfrm>
            <a:off x="6537960" y="1600200"/>
            <a:ext cx="274320" cy="274320"/>
          </a:xfrm>
          <a:prstGeom prst="rect">
            <a:avLst/>
          </a:prstGeom>
        </p:spPr>
      </p:pic>
      <p:sp>
        <p:nvSpPr>
          <p:cNvPr id="24" name="Text 18"/>
          <p:cNvSpPr txBox="1"/>
          <p:nvPr/>
        </p:nvSpPr>
        <p:spPr>
          <a:xfrm>
            <a:off x="6400800" y="2103120"/>
            <a:ext cx="2286000" cy="548640"/>
          </a:xfrm>
          <a:prstGeom prst="rect">
            <a:avLst/>
          </a:prstGeom>
          <a:noFill/>
          <a:ln/>
        </p:spPr>
        <p:txBody>
          <a:bodyPr wrap="square" lIns="0" tIns="0" rIns="0" bIns="0" rtlCol="0" anchor="ctr"/>
          <a:lstStyle/>
          <a:p>
            <a:pPr indent="0" marL="0">
              <a:buNone/>
            </a:pPr>
            <a:r>
              <a:rPr lang="en-US" sz="3000" b="1" dirty="0">
                <a:solidFill>
                  <a:srgbClr val="6C4AB6"/>
                </a:solidFill>
                <a:latin typeface="Calibri" pitchFamily="34" charset="0"/>
                <a:ea typeface="Calibri" pitchFamily="34" charset="-122"/>
                <a:cs typeface="Calibri" pitchFamily="34" charset="-120"/>
              </a:rPr>
              <a:t>~1,250 hrs</a:t>
            </a:r>
            <a:endParaRPr lang="en-US" sz="3000" dirty="0"/>
          </a:p>
        </p:txBody>
      </p:sp>
      <p:sp>
        <p:nvSpPr>
          <p:cNvPr id="25" name="Text 19"/>
          <p:cNvSpPr txBox="1"/>
          <p:nvPr/>
        </p:nvSpPr>
        <p:spPr>
          <a:xfrm>
            <a:off x="6400800" y="2651760"/>
            <a:ext cx="2286000" cy="411480"/>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of analyst work every month</a:t>
            </a:r>
            <a:endParaRPr lang="en-US" sz="1300" dirty="0"/>
          </a:p>
        </p:txBody>
      </p:sp>
      <p:sp>
        <p:nvSpPr>
          <p:cNvPr id="26" name="stat"/>
          <p:cNvSpPr/>
          <p:nvPr/>
        </p:nvSpPr>
        <p:spPr>
          <a:xfrm>
            <a:off x="9052560" y="1325880"/>
            <a:ext cx="2651760" cy="1783080"/>
          </a:xfrm>
          <a:prstGeom prst="roundRect">
            <a:avLst>
              <a:gd name="adj" fmla="val 6154"/>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27" name="iconCircle"/>
          <p:cNvSpPr/>
          <p:nvPr/>
        </p:nvSpPr>
        <p:spPr>
          <a:xfrm>
            <a:off x="9235440" y="1463040"/>
            <a:ext cx="548640" cy="548640"/>
          </a:xfrm>
          <a:prstGeom prst="ellipse">
            <a:avLst/>
          </a:prstGeom>
          <a:solidFill>
            <a:srgbClr val="F28C28"/>
          </a:solidFill>
          <a:ln w="12700">
            <a:solidFill>
              <a:srgbClr val="F28C28"/>
            </a:solidFill>
            <a:prstDash val="solid"/>
          </a:ln>
        </p:spPr>
      </p:sp>
      <p:pic>
        <p:nvPicPr>
          <p:cNvPr id="28" name="Image 3" descr="TimesCircle icon">    </p:cNvPr>
          <p:cNvPicPr>
            <a:picLocks noChangeAspect="1"/>
          </p:cNvPicPr>
          <p:nvPr/>
        </p:nvPicPr>
        <p:blipFill>
          <a:blip r:embed="rId6"/>
          <a:stretch>
            <a:fillRect/>
          </a:stretch>
        </p:blipFill>
        <p:spPr>
          <a:xfrm>
            <a:off x="9372600" y="1600200"/>
            <a:ext cx="274320" cy="274320"/>
          </a:xfrm>
          <a:prstGeom prst="rect">
            <a:avLst/>
          </a:prstGeom>
        </p:spPr>
      </p:pic>
      <p:sp>
        <p:nvSpPr>
          <p:cNvPr id="29" name="Text 22"/>
          <p:cNvSpPr txBox="1"/>
          <p:nvPr/>
        </p:nvSpPr>
        <p:spPr>
          <a:xfrm>
            <a:off x="9235440" y="2103120"/>
            <a:ext cx="2286000" cy="548640"/>
          </a:xfrm>
          <a:prstGeom prst="rect">
            <a:avLst/>
          </a:prstGeom>
          <a:noFill/>
          <a:ln/>
        </p:spPr>
        <p:txBody>
          <a:bodyPr wrap="square" lIns="0" tIns="0" rIns="0" bIns="0" rtlCol="0" anchor="ctr"/>
          <a:lstStyle/>
          <a:p>
            <a:pPr indent="0" marL="0">
              <a:buNone/>
            </a:pPr>
            <a:r>
              <a:rPr lang="en-US" sz="3000" b="1" dirty="0">
                <a:solidFill>
                  <a:srgbClr val="F28C28"/>
                </a:solidFill>
                <a:latin typeface="Calibri" pitchFamily="34" charset="0"/>
                <a:ea typeface="Calibri" pitchFamily="34" charset="-122"/>
                <a:cs typeface="Calibri" pitchFamily="34" charset="-120"/>
              </a:rPr>
              <a:t>47%</a:t>
            </a:r>
            <a:endParaRPr lang="en-US" sz="3000" dirty="0"/>
          </a:p>
        </p:txBody>
      </p:sp>
      <p:sp>
        <p:nvSpPr>
          <p:cNvPr id="30" name="Text 23"/>
          <p:cNvSpPr txBox="1"/>
          <p:nvPr/>
        </p:nvSpPr>
        <p:spPr>
          <a:xfrm>
            <a:off x="9235440" y="2651760"/>
            <a:ext cx="2286000" cy="411480"/>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historically declined (5,647 of 12,000)</a:t>
            </a:r>
            <a:endParaRPr lang="en-US" sz="1300" dirty="0"/>
          </a:p>
        </p:txBody>
      </p:sp>
      <p:sp>
        <p:nvSpPr>
          <p:cNvPr id="31" name="card"/>
          <p:cNvSpPr/>
          <p:nvPr/>
        </p:nvSpPr>
        <p:spPr>
          <a:xfrm>
            <a:off x="548640" y="3337560"/>
            <a:ext cx="3611880" cy="1737360"/>
          </a:xfrm>
          <a:prstGeom prst="roundRect">
            <a:avLst>
              <a:gd name="adj" fmla="val 6316"/>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32" name="num"/>
          <p:cNvSpPr/>
          <p:nvPr/>
        </p:nvSpPr>
        <p:spPr>
          <a:xfrm>
            <a:off x="731520" y="3493008"/>
            <a:ext cx="457200" cy="457200"/>
          </a:xfrm>
          <a:prstGeom prst="ellipse">
            <a:avLst/>
          </a:prstGeom>
          <a:solidFill>
            <a:srgbClr val="0B1F4B"/>
          </a:solidFill>
          <a:ln w="12700">
            <a:solidFill>
              <a:srgbClr val="0B1F4B"/>
            </a:solidFill>
            <a:prstDash val="solid"/>
          </a:ln>
        </p:spPr>
      </p:sp>
      <p:sp>
        <p:nvSpPr>
          <p:cNvPr id="33" name="Text 26"/>
          <p:cNvSpPr txBox="1"/>
          <p:nvPr/>
        </p:nvSpPr>
        <p:spPr>
          <a:xfrm>
            <a:off x="731520" y="34930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34" name="Text 27"/>
          <p:cNvSpPr txBox="1"/>
          <p:nvPr/>
        </p:nvSpPr>
        <p:spPr>
          <a:xfrm>
            <a:off x="1325880" y="3493008"/>
            <a:ext cx="2651760" cy="457200"/>
          </a:xfrm>
          <a:prstGeom prst="rect">
            <a:avLst/>
          </a:prstGeom>
          <a:noFill/>
          <a:ln/>
        </p:spPr>
        <p:txBody>
          <a:bodyPr wrap="square" lIns="0" tIns="0" rIns="0" bIns="0" rtlCol="0" anchor="ctr"/>
          <a:lstStyle/>
          <a:p>
            <a:pPr indent="0" marL="0">
              <a:buNone/>
            </a:pPr>
            <a:r>
              <a:rPr lang="en-US" sz="1700" b="1" dirty="0">
                <a:solidFill>
                  <a:srgbClr val="0B1F4B"/>
                </a:solidFill>
                <a:latin typeface="Calibri" pitchFamily="34" charset="0"/>
                <a:ea typeface="Calibri" pitchFamily="34" charset="-122"/>
                <a:cs typeface="Calibri" pitchFamily="34" charset="-120"/>
              </a:rPr>
              <a:t>The problem</a:t>
            </a:r>
            <a:endParaRPr lang="en-US" sz="1700" dirty="0"/>
          </a:p>
        </p:txBody>
      </p:sp>
      <p:sp>
        <p:nvSpPr>
          <p:cNvPr id="35" name="Text 28"/>
          <p:cNvSpPr txBox="1"/>
          <p:nvPr/>
        </p:nvSpPr>
        <p:spPr>
          <a:xfrm>
            <a:off x="731520" y="4114800"/>
            <a:ext cx="3246120" cy="914400"/>
          </a:xfrm>
          <a:prstGeom prst="rect">
            <a:avLst/>
          </a:prstGeom>
          <a:noFill/>
          <a:ln/>
        </p:spPr>
        <p:txBody>
          <a:bodyPr wrap="square" lIns="0" tIns="0" rIns="0" bIns="0" rtlCol="0" anchor="t"/>
          <a:lstStyle/>
          <a:p>
            <a:pPr indent="0" marL="0">
              <a:buNone/>
            </a:pPr>
            <a:r>
              <a:rPr lang="en-US" sz="1400" dirty="0">
                <a:solidFill>
                  <a:srgbClr val="5B6B82"/>
                </a:solidFill>
                <a:latin typeface="Calibri" pitchFamily="34" charset="0"/>
                <a:ea typeface="Calibri" pitchFamily="34" charset="-122"/>
                <a:cs typeface="Calibri" pitchFamily="34" charset="-120"/>
              </a:rPr>
              <a:t>Every application gets the same slow manual review, even when the answer is obvious.</a:t>
            </a:r>
            <a:endParaRPr lang="en-US" sz="1400" dirty="0"/>
          </a:p>
        </p:txBody>
      </p:sp>
      <p:sp>
        <p:nvSpPr>
          <p:cNvPr id="36" name="card"/>
          <p:cNvSpPr/>
          <p:nvPr/>
        </p:nvSpPr>
        <p:spPr>
          <a:xfrm>
            <a:off x="4297680" y="3337560"/>
            <a:ext cx="3611880" cy="1737360"/>
          </a:xfrm>
          <a:prstGeom prst="roundRect">
            <a:avLst>
              <a:gd name="adj" fmla="val 6316"/>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37" name="num"/>
          <p:cNvSpPr/>
          <p:nvPr/>
        </p:nvSpPr>
        <p:spPr>
          <a:xfrm>
            <a:off x="4480560" y="3493008"/>
            <a:ext cx="457200" cy="457200"/>
          </a:xfrm>
          <a:prstGeom prst="ellipse">
            <a:avLst/>
          </a:prstGeom>
          <a:solidFill>
            <a:srgbClr val="00A6A6"/>
          </a:solidFill>
          <a:ln w="12700">
            <a:solidFill>
              <a:srgbClr val="00A6A6"/>
            </a:solidFill>
            <a:prstDash val="solid"/>
          </a:ln>
        </p:spPr>
      </p:sp>
      <p:sp>
        <p:nvSpPr>
          <p:cNvPr id="38" name="Text 31"/>
          <p:cNvSpPr txBox="1"/>
          <p:nvPr/>
        </p:nvSpPr>
        <p:spPr>
          <a:xfrm>
            <a:off x="4480560" y="34930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39" name="Text 32"/>
          <p:cNvSpPr txBox="1"/>
          <p:nvPr/>
        </p:nvSpPr>
        <p:spPr>
          <a:xfrm>
            <a:off x="5074920" y="3493008"/>
            <a:ext cx="2651760" cy="457200"/>
          </a:xfrm>
          <a:prstGeom prst="rect">
            <a:avLst/>
          </a:prstGeom>
          <a:noFill/>
          <a:ln/>
        </p:spPr>
        <p:txBody>
          <a:bodyPr wrap="square" lIns="0" tIns="0" rIns="0" bIns="0" rtlCol="0" anchor="ctr"/>
          <a:lstStyle/>
          <a:p>
            <a:pPr indent="0" marL="0">
              <a:buNone/>
            </a:pPr>
            <a:r>
              <a:rPr lang="en-US" sz="1700" b="1" dirty="0">
                <a:solidFill>
                  <a:srgbClr val="0B1F4B"/>
                </a:solidFill>
                <a:latin typeface="Calibri" pitchFamily="34" charset="0"/>
                <a:ea typeface="Calibri" pitchFamily="34" charset="-122"/>
                <a:cs typeface="Calibri" pitchFamily="34" charset="-120"/>
              </a:rPr>
              <a:t>The solution</a:t>
            </a:r>
            <a:endParaRPr lang="en-US" sz="1700" dirty="0"/>
          </a:p>
        </p:txBody>
      </p:sp>
      <p:sp>
        <p:nvSpPr>
          <p:cNvPr id="40" name="Text 33"/>
          <p:cNvSpPr txBox="1"/>
          <p:nvPr/>
        </p:nvSpPr>
        <p:spPr>
          <a:xfrm>
            <a:off x="4480560" y="4114800"/>
            <a:ext cx="3246120" cy="914400"/>
          </a:xfrm>
          <a:prstGeom prst="rect">
            <a:avLst/>
          </a:prstGeom>
          <a:noFill/>
          <a:ln/>
        </p:spPr>
        <p:txBody>
          <a:bodyPr wrap="square" lIns="0" tIns="0" rIns="0" bIns="0" rtlCol="0" anchor="t"/>
          <a:lstStyle/>
          <a:p>
            <a:pPr indent="0" marL="0">
              <a:buNone/>
            </a:pPr>
            <a:r>
              <a:rPr lang="en-US" sz="1400" dirty="0">
                <a:solidFill>
                  <a:srgbClr val="5B6B82"/>
                </a:solidFill>
                <a:latin typeface="Calibri" pitchFamily="34" charset="0"/>
                <a:ea typeface="Calibri" pitchFamily="34" charset="-122"/>
                <a:cs typeface="Calibri" pitchFamily="34" charset="-120"/>
              </a:rPr>
              <a:t>A machine-learning model scores each application and sends clear cases to fast lanes.</a:t>
            </a:r>
            <a:endParaRPr lang="en-US" sz="1400" dirty="0"/>
          </a:p>
        </p:txBody>
      </p:sp>
      <p:sp>
        <p:nvSpPr>
          <p:cNvPr id="41" name="card"/>
          <p:cNvSpPr/>
          <p:nvPr/>
        </p:nvSpPr>
        <p:spPr>
          <a:xfrm>
            <a:off x="8046720" y="3337560"/>
            <a:ext cx="3611880" cy="1737360"/>
          </a:xfrm>
          <a:prstGeom prst="roundRect">
            <a:avLst>
              <a:gd name="adj" fmla="val 6316"/>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42" name="num"/>
          <p:cNvSpPr/>
          <p:nvPr/>
        </p:nvSpPr>
        <p:spPr>
          <a:xfrm>
            <a:off x="8229600" y="3493008"/>
            <a:ext cx="457200" cy="457200"/>
          </a:xfrm>
          <a:prstGeom prst="ellipse">
            <a:avLst/>
          </a:prstGeom>
          <a:solidFill>
            <a:srgbClr val="F28C28"/>
          </a:solidFill>
          <a:ln w="12700">
            <a:solidFill>
              <a:srgbClr val="F28C28"/>
            </a:solidFill>
            <a:prstDash val="solid"/>
          </a:ln>
        </p:spPr>
      </p:sp>
      <p:sp>
        <p:nvSpPr>
          <p:cNvPr id="43" name="Text 36"/>
          <p:cNvSpPr txBox="1"/>
          <p:nvPr/>
        </p:nvSpPr>
        <p:spPr>
          <a:xfrm>
            <a:off x="8229600" y="34930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44" name="Text 37"/>
          <p:cNvSpPr txBox="1"/>
          <p:nvPr/>
        </p:nvSpPr>
        <p:spPr>
          <a:xfrm>
            <a:off x="8823960" y="3493008"/>
            <a:ext cx="2651760" cy="457200"/>
          </a:xfrm>
          <a:prstGeom prst="rect">
            <a:avLst/>
          </a:prstGeom>
          <a:noFill/>
          <a:ln/>
        </p:spPr>
        <p:txBody>
          <a:bodyPr wrap="square" lIns="0" tIns="0" rIns="0" bIns="0" rtlCol="0" anchor="ctr"/>
          <a:lstStyle/>
          <a:p>
            <a:pPr indent="0" marL="0">
              <a:buNone/>
            </a:pPr>
            <a:r>
              <a:rPr lang="en-US" sz="1700" b="1" dirty="0">
                <a:solidFill>
                  <a:srgbClr val="0B1F4B"/>
                </a:solidFill>
                <a:latin typeface="Calibri" pitchFamily="34" charset="0"/>
                <a:ea typeface="Calibri" pitchFamily="34" charset="-122"/>
                <a:cs typeface="Calibri" pitchFamily="34" charset="-120"/>
              </a:rPr>
              <a:t>The objective</a:t>
            </a:r>
            <a:endParaRPr lang="en-US" sz="1700" dirty="0"/>
          </a:p>
        </p:txBody>
      </p:sp>
      <p:sp>
        <p:nvSpPr>
          <p:cNvPr id="45" name="Text 38"/>
          <p:cNvSpPr txBox="1"/>
          <p:nvPr/>
        </p:nvSpPr>
        <p:spPr>
          <a:xfrm>
            <a:off x="8229600" y="4114800"/>
            <a:ext cx="3246120" cy="914400"/>
          </a:xfrm>
          <a:prstGeom prst="rect">
            <a:avLst/>
          </a:prstGeom>
          <a:noFill/>
          <a:ln/>
        </p:spPr>
        <p:txBody>
          <a:bodyPr wrap="square" lIns="0" tIns="0" rIns="0" bIns="0" rtlCol="0" anchor="t"/>
          <a:lstStyle/>
          <a:p>
            <a:pPr indent="0" marL="0">
              <a:buNone/>
            </a:pPr>
            <a:r>
              <a:rPr lang="en-US" sz="1400" dirty="0">
                <a:solidFill>
                  <a:srgbClr val="5B6B82"/>
                </a:solidFill>
                <a:latin typeface="Calibri" pitchFamily="34" charset="0"/>
                <a:ea typeface="Calibri" pitchFamily="34" charset="-122"/>
                <a:cs typeface="Calibri" pitchFamily="34" charset="-120"/>
              </a:rPr>
              <a:t>Automate clear-cut cases safely, with errors capped at 5% in each automated lane.</a:t>
            </a:r>
            <a:endParaRPr lang="en-US" sz="1400" dirty="0"/>
          </a:p>
        </p:txBody>
      </p:sp>
      <p:sp>
        <p:nvSpPr>
          <p:cNvPr id="46" name="note"/>
          <p:cNvSpPr/>
          <p:nvPr/>
        </p:nvSpPr>
        <p:spPr>
          <a:xfrm>
            <a:off x="548640" y="5303520"/>
            <a:ext cx="11109960" cy="868680"/>
          </a:xfrm>
          <a:prstGeom prst="roundRect">
            <a:avLst>
              <a:gd name="adj" fmla="val 12632"/>
            </a:avLst>
          </a:prstGeom>
          <a:solidFill>
            <a:srgbClr val="DFF4F4"/>
          </a:solidFill>
          <a:ln w="12700">
            <a:solidFill>
              <a:srgbClr val="00A6A6"/>
            </a:solidFill>
            <a:prstDash val="solid"/>
          </a:ln>
        </p:spPr>
      </p:sp>
      <p:sp>
        <p:nvSpPr>
          <p:cNvPr id="47" name="iconCircle"/>
          <p:cNvSpPr/>
          <p:nvPr/>
        </p:nvSpPr>
        <p:spPr>
          <a:xfrm>
            <a:off x="731520" y="5509260"/>
            <a:ext cx="457200" cy="457200"/>
          </a:xfrm>
          <a:prstGeom prst="ellipse">
            <a:avLst/>
          </a:prstGeom>
          <a:solidFill>
            <a:srgbClr val="00A6A6"/>
          </a:solidFill>
          <a:ln w="12700">
            <a:solidFill>
              <a:srgbClr val="00A6A6"/>
            </a:solidFill>
            <a:prstDash val="solid"/>
          </a:ln>
        </p:spPr>
      </p:sp>
      <p:pic>
        <p:nvPicPr>
          <p:cNvPr id="48" name="Image 4" descr="UserCheck icon">    </p:cNvPr>
          <p:cNvPicPr>
            <a:picLocks noChangeAspect="1"/>
          </p:cNvPicPr>
          <p:nvPr/>
        </p:nvPicPr>
        <p:blipFill>
          <a:blip r:embed="rId7"/>
          <a:stretch>
            <a:fillRect/>
          </a:stretch>
        </p:blipFill>
        <p:spPr>
          <a:xfrm>
            <a:off x="845820" y="5623560"/>
            <a:ext cx="228600" cy="228600"/>
          </a:xfrm>
          <a:prstGeom prst="rect">
            <a:avLst/>
          </a:prstGeom>
        </p:spPr>
      </p:pic>
      <p:sp>
        <p:nvSpPr>
          <p:cNvPr id="49" name="Text 41"/>
          <p:cNvSpPr txBox="1"/>
          <p:nvPr/>
        </p:nvSpPr>
        <p:spPr>
          <a:xfrm>
            <a:off x="1371600" y="5303520"/>
            <a:ext cx="10104120" cy="868680"/>
          </a:xfrm>
          <a:prstGeom prst="rect">
            <a:avLst/>
          </a:prstGeom>
          <a:noFill/>
          <a:ln/>
        </p:spPr>
        <p:txBody>
          <a:bodyPr wrap="square" lIns="0" tIns="0" rIns="0" bIns="0" rtlCol="0" anchor="ctr"/>
          <a:lstStyle/>
          <a:p>
            <a:pPr indent="0" marL="0">
              <a:buNone/>
            </a:pPr>
            <a:r>
              <a:rPr lang="en-US" sz="1600" b="1" dirty="0">
                <a:solidFill>
                  <a:srgbClr val="0B1F4B"/>
                </a:solidFill>
                <a:latin typeface="Calibri" pitchFamily="34" charset="0"/>
                <a:ea typeface="Calibri" pitchFamily="34" charset="-122"/>
                <a:cs typeface="Calibri" pitchFamily="34" charset="-120"/>
              </a:rPr>
              <a:t>Analysts spend time on obvious cases, leaving less time for applications that truly need human judgement.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052560" cy="777240"/>
          </a:xfrm>
          <a:prstGeom prst="rect">
            <a:avLst/>
          </a:prstGeom>
          <a:noFill/>
          <a:ln/>
        </p:spPr>
        <p:txBody>
          <a:bodyPr wrap="square" lIns="0" tIns="0" rIns="0" bIns="0" rtlCol="0" anchor="ctr"/>
          <a:lstStyle/>
          <a:p>
            <a:pPr algn="l" indent="0" marL="0">
              <a:buNone/>
            </a:pPr>
            <a:r>
              <a:rPr lang="en-US" sz="2800" b="1" dirty="0">
                <a:solidFill>
                  <a:srgbClr val="0B1F4B"/>
                </a:solidFill>
                <a:latin typeface="Calibri" pitchFamily="34" charset="0"/>
                <a:ea typeface="Calibri" pitchFamily="34" charset="-122"/>
                <a:cs typeface="Calibri" pitchFamily="34" charset="-120"/>
              </a:rPr>
              <a:t>CBIM Problem Canvas</a:t>
            </a:r>
            <a:endParaRPr lang="en-US" sz="2800" dirty="0"/>
          </a:p>
        </p:txBody>
      </p:sp>
      <p:sp>
        <p:nvSpPr>
          <p:cNvPr id="3" name="tag"/>
          <p:cNvSpPr/>
          <p:nvPr/>
        </p:nvSpPr>
        <p:spPr>
          <a:xfrm>
            <a:off x="9738360" y="457200"/>
            <a:ext cx="1920240" cy="365760"/>
          </a:xfrm>
          <a:prstGeom prst="roundRect">
            <a:avLst>
              <a:gd name="adj" fmla="val 50000"/>
            </a:avLst>
          </a:prstGeom>
          <a:solidFill>
            <a:srgbClr val="0B1F4B"/>
          </a:solidFill>
          <a:ln w="12700">
            <a:solidFill>
              <a:srgbClr val="0B1F4B"/>
            </a:solidFill>
            <a:prstDash val="solid"/>
          </a:ln>
        </p:spPr>
      </p:sp>
      <p:sp>
        <p:nvSpPr>
          <p:cNvPr id="4" name="Text 2"/>
          <p:cNvSpPr txBox="1"/>
          <p:nvPr/>
        </p:nvSpPr>
        <p:spPr>
          <a:xfrm>
            <a:off x="9738360" y="457200"/>
            <a:ext cx="1920240"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FRAMING</a:t>
            </a:r>
            <a:endParaRPr lang="en-US" sz="1000" dirty="0"/>
          </a:p>
        </p:txBody>
      </p:sp>
      <p:sp>
        <p:nvSpPr>
          <p:cNvPr id="5" name="Text 3"/>
          <p:cNvSpPr txBox="1"/>
          <p:nvPr/>
        </p:nvSpPr>
        <p:spPr>
          <a:xfrm>
            <a:off x="8229600" y="6400800"/>
            <a:ext cx="1554480" cy="32004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3 / 20</a:t>
            </a:r>
            <a:endParaRPr lang="en-US" sz="1000" dirty="0"/>
          </a:p>
        </p:txBody>
      </p:sp>
      <p:sp>
        <p:nvSpPr>
          <p:cNvPr id="6" name="navButton"/>
          <p:cNvSpPr/>
          <p:nvPr/>
        </p:nvSpPr>
        <p:spPr>
          <a:xfrm>
            <a:off x="9921240" y="6419088"/>
            <a:ext cx="822960" cy="292608"/>
          </a:xfrm>
          <a:prstGeom prst="roundRect">
            <a:avLst>
              <a:gd name="adj" fmla="val 50000"/>
            </a:avLst>
          </a:prstGeom>
          <a:solidFill>
            <a:srgbClr val="FFFFFF"/>
          </a:solidFill>
          <a:ln w="12700">
            <a:solidFill>
              <a:srgbClr val="C9D3E3"/>
            </a:solidFill>
            <a:prstDash val="solid"/>
          </a:ln>
        </p:spPr>
      </p:sp>
      <p:sp>
        <p:nvSpPr>
          <p:cNvPr id="7" name="Text 5">
            <a:hlinkClick r:id="rId1" tooltip="Previous slide" action="ppaction://hlinksldjump"/>
          </p:cNvPr>
          <p:cNvSpPr txBox="1"/>
          <p:nvPr/>
        </p:nvSpPr>
        <p:spPr>
          <a:xfrm>
            <a:off x="99212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1" action="ppaction://hlinksldjump" tooltip="Previous slide">
                  <a:extLst>
                    <a:ext uri="{A12FA001-AC4F-418D-AE19-62706E023703}">
                      <ahyp:hlinkClr xmlns:ahyp="http://schemas.microsoft.com/office/drawing/2018/hyperlinkcolor" val="tx"/>
                    </a:ext>
                  </a:extLst>
                </a:hlinkClick>
              </a:rPr>
              <a:t>‹ Prev</a:t>
            </a:r>
            <a:endParaRPr lang="en-US" sz="1000" dirty="0"/>
          </a:p>
        </p:txBody>
      </p:sp>
      <p:sp>
        <p:nvSpPr>
          <p:cNvPr id="8" name="navButton"/>
          <p:cNvSpPr/>
          <p:nvPr/>
        </p:nvSpPr>
        <p:spPr>
          <a:xfrm>
            <a:off x="10835640" y="6419088"/>
            <a:ext cx="822960" cy="292608"/>
          </a:xfrm>
          <a:prstGeom prst="roundRect">
            <a:avLst>
              <a:gd name="adj" fmla="val 50000"/>
            </a:avLst>
          </a:prstGeom>
          <a:solidFill>
            <a:srgbClr val="FFFFFF"/>
          </a:solidFill>
          <a:ln w="12700">
            <a:solidFill>
              <a:srgbClr val="C9D3E3"/>
            </a:solidFill>
            <a:prstDash val="solid"/>
          </a:ln>
        </p:spPr>
      </p:sp>
      <p:sp>
        <p:nvSpPr>
          <p:cNvPr id="9" name="Text 7">
            <a:hlinkClick r:id="rId2" tooltip="Next slide" action="ppaction://hlinksldjump"/>
          </p:cNvPr>
          <p:cNvSpPr txBox="1"/>
          <p:nvPr/>
        </p:nvSpPr>
        <p:spPr>
          <a:xfrm>
            <a:off x="108356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2" action="ppaction://hlinksldjump" tooltip="Next slide">
                  <a:extLst>
                    <a:ext uri="{A12FA001-AC4F-418D-AE19-62706E023703}">
                      <ahyp:hlinkClr xmlns:ahyp="http://schemas.microsoft.com/office/drawing/2018/hyperlinkcolor" val="tx"/>
                    </a:ext>
                  </a:extLst>
                </a:hlinkClick>
              </a:rPr>
              <a:t>Next ›</a:t>
            </a:r>
            <a:endParaRPr lang="en-US" sz="1000" dirty="0"/>
          </a:p>
        </p:txBody>
      </p:sp>
      <p:sp>
        <p:nvSpPr>
          <p:cNvPr id="11" name="canvasLabel"/>
          <p:cNvSpPr/>
          <p:nvPr/>
        </p:nvSpPr>
        <p:spPr>
          <a:xfrm>
            <a:off x="548640" y="1280160"/>
            <a:ext cx="2286000" cy="640080"/>
          </a:xfrm>
          <a:prstGeom prst="roundRect">
            <a:avLst>
              <a:gd name="adj" fmla="val 17143"/>
            </a:avLst>
          </a:prstGeom>
          <a:solidFill>
            <a:srgbClr val="0B1F4B"/>
          </a:solidFill>
          <a:ln w="12700">
            <a:solidFill>
              <a:srgbClr val="0B1F4B"/>
            </a:solidFill>
            <a:prstDash val="solid"/>
          </a:ln>
        </p:spPr>
      </p:sp>
      <p:sp>
        <p:nvSpPr>
          <p:cNvPr id="12" name="Text 9"/>
          <p:cNvSpPr txBox="1"/>
          <p:nvPr/>
        </p:nvSpPr>
        <p:spPr>
          <a:xfrm>
            <a:off x="548640" y="1280160"/>
            <a:ext cx="228600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Situation</a:t>
            </a:r>
            <a:endParaRPr lang="en-US" sz="1500" dirty="0"/>
          </a:p>
        </p:txBody>
      </p:sp>
      <p:sp>
        <p:nvSpPr>
          <p:cNvPr id="13" name="card"/>
          <p:cNvSpPr/>
          <p:nvPr/>
        </p:nvSpPr>
        <p:spPr>
          <a:xfrm>
            <a:off x="2971800" y="1280160"/>
            <a:ext cx="8686800" cy="640080"/>
          </a:xfrm>
          <a:prstGeom prst="roundRect">
            <a:avLst>
              <a:gd name="adj" fmla="val 17143"/>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4" name="Text 11"/>
          <p:cNvSpPr txBox="1"/>
          <p:nvPr/>
        </p:nvSpPr>
        <p:spPr>
          <a:xfrm>
            <a:off x="3154680" y="1280160"/>
            <a:ext cx="8321040" cy="640080"/>
          </a:xfrm>
          <a:prstGeom prst="rect">
            <a:avLst/>
          </a:prstGeom>
          <a:noFill/>
          <a:ln/>
        </p:spPr>
        <p:txBody>
          <a:bodyPr wrap="square" lIns="0" tIns="0" rIns="0" bIns="0" rtlCol="0" anchor="ctr"/>
          <a:lstStyle/>
          <a:p>
            <a:pPr indent="0" marL="0">
              <a:buNone/>
            </a:pPr>
            <a:r>
              <a:rPr lang="en-US" sz="1400" dirty="0">
                <a:solidFill>
                  <a:srgbClr val="1F2A44"/>
                </a:solidFill>
                <a:latin typeface="Calibri" pitchFamily="34" charset="0"/>
                <a:ea typeface="Calibri" pitchFamily="34" charset="-122"/>
                <a:cs typeface="Calibri" pitchFamily="34" charset="-120"/>
              </a:rPr>
              <a:t>~3,000 personal-loan applications a month; every one gets a ~25-minute manual review.</a:t>
            </a:r>
            <a:endParaRPr lang="en-US" sz="1400" dirty="0"/>
          </a:p>
        </p:txBody>
      </p:sp>
      <p:sp>
        <p:nvSpPr>
          <p:cNvPr id="15" name="canvasLabel"/>
          <p:cNvSpPr/>
          <p:nvPr/>
        </p:nvSpPr>
        <p:spPr>
          <a:xfrm>
            <a:off x="548640" y="2029968"/>
            <a:ext cx="2286000" cy="640080"/>
          </a:xfrm>
          <a:prstGeom prst="roundRect">
            <a:avLst>
              <a:gd name="adj" fmla="val 17143"/>
            </a:avLst>
          </a:prstGeom>
          <a:solidFill>
            <a:srgbClr val="00A6A6"/>
          </a:solidFill>
          <a:ln w="12700">
            <a:solidFill>
              <a:srgbClr val="00A6A6"/>
            </a:solidFill>
            <a:prstDash val="solid"/>
          </a:ln>
        </p:spPr>
      </p:sp>
      <p:sp>
        <p:nvSpPr>
          <p:cNvPr id="16" name="Text 13"/>
          <p:cNvSpPr txBox="1"/>
          <p:nvPr/>
        </p:nvSpPr>
        <p:spPr>
          <a:xfrm>
            <a:off x="548640" y="2029968"/>
            <a:ext cx="228600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Complication</a:t>
            </a:r>
            <a:endParaRPr lang="en-US" sz="1500" dirty="0"/>
          </a:p>
        </p:txBody>
      </p:sp>
      <p:sp>
        <p:nvSpPr>
          <p:cNvPr id="17" name="card"/>
          <p:cNvSpPr/>
          <p:nvPr/>
        </p:nvSpPr>
        <p:spPr>
          <a:xfrm>
            <a:off x="2971800" y="2029968"/>
            <a:ext cx="8686800" cy="640080"/>
          </a:xfrm>
          <a:prstGeom prst="roundRect">
            <a:avLst>
              <a:gd name="adj" fmla="val 17143"/>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8" name="Text 15"/>
          <p:cNvSpPr txBox="1"/>
          <p:nvPr/>
        </p:nvSpPr>
        <p:spPr>
          <a:xfrm>
            <a:off x="3154680" y="2029968"/>
            <a:ext cx="8321040" cy="640080"/>
          </a:xfrm>
          <a:prstGeom prst="rect">
            <a:avLst/>
          </a:prstGeom>
          <a:noFill/>
          <a:ln/>
        </p:spPr>
        <p:txBody>
          <a:bodyPr wrap="square" lIns="0" tIns="0" rIns="0" bIns="0" rtlCol="0" anchor="ctr"/>
          <a:lstStyle/>
          <a:p>
            <a:pPr indent="0" marL="0">
              <a:buNone/>
            </a:pPr>
            <a:r>
              <a:rPr lang="en-US" sz="1400" dirty="0">
                <a:solidFill>
                  <a:srgbClr val="1F2A44"/>
                </a:solidFill>
                <a:latin typeface="Calibri" pitchFamily="34" charset="0"/>
                <a:ea typeface="Calibri" pitchFamily="34" charset="-122"/>
                <a:cs typeface="Calibri" pitchFamily="34" charset="-120"/>
              </a:rPr>
              <a:t>Analysts spend time on clear cases; careless automation could decline good customers or fast-track risky ones.</a:t>
            </a:r>
            <a:endParaRPr lang="en-US" sz="1400" dirty="0"/>
          </a:p>
        </p:txBody>
      </p:sp>
      <p:sp>
        <p:nvSpPr>
          <p:cNvPr id="19" name="canvasLabel"/>
          <p:cNvSpPr/>
          <p:nvPr/>
        </p:nvSpPr>
        <p:spPr>
          <a:xfrm>
            <a:off x="548640" y="2779776"/>
            <a:ext cx="2286000" cy="640080"/>
          </a:xfrm>
          <a:prstGeom prst="roundRect">
            <a:avLst>
              <a:gd name="adj" fmla="val 17143"/>
            </a:avLst>
          </a:prstGeom>
          <a:solidFill>
            <a:srgbClr val="F28C28"/>
          </a:solidFill>
          <a:ln w="12700">
            <a:solidFill>
              <a:srgbClr val="F28C28"/>
            </a:solidFill>
            <a:prstDash val="solid"/>
          </a:ln>
        </p:spPr>
      </p:sp>
      <p:sp>
        <p:nvSpPr>
          <p:cNvPr id="20" name="Text 17"/>
          <p:cNvSpPr txBox="1"/>
          <p:nvPr/>
        </p:nvSpPr>
        <p:spPr>
          <a:xfrm>
            <a:off x="548640" y="2779776"/>
            <a:ext cx="228600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Question</a:t>
            </a:r>
            <a:endParaRPr lang="en-US" sz="1500" dirty="0"/>
          </a:p>
        </p:txBody>
      </p:sp>
      <p:sp>
        <p:nvSpPr>
          <p:cNvPr id="21" name="card"/>
          <p:cNvSpPr/>
          <p:nvPr/>
        </p:nvSpPr>
        <p:spPr>
          <a:xfrm>
            <a:off x="2971800" y="2779776"/>
            <a:ext cx="8686800" cy="640080"/>
          </a:xfrm>
          <a:prstGeom prst="roundRect">
            <a:avLst>
              <a:gd name="adj" fmla="val 17143"/>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22" name="Text 19"/>
          <p:cNvSpPr txBox="1"/>
          <p:nvPr/>
        </p:nvSpPr>
        <p:spPr>
          <a:xfrm>
            <a:off x="3154680" y="2779776"/>
            <a:ext cx="8321040" cy="640080"/>
          </a:xfrm>
          <a:prstGeom prst="rect">
            <a:avLst/>
          </a:prstGeom>
          <a:noFill/>
          <a:ln/>
        </p:spPr>
        <p:txBody>
          <a:bodyPr wrap="square" lIns="0" tIns="0" rIns="0" bIns="0" rtlCol="0" anchor="ctr"/>
          <a:lstStyle/>
          <a:p>
            <a:pPr indent="0" marL="0">
              <a:buNone/>
            </a:pPr>
            <a:r>
              <a:rPr lang="en-US" sz="1400" dirty="0">
                <a:solidFill>
                  <a:srgbClr val="1F2A44"/>
                </a:solidFill>
                <a:latin typeface="Calibri" pitchFamily="34" charset="0"/>
                <a:ea typeface="Calibri" pitchFamily="34" charset="-122"/>
                <a:cs typeface="Calibri" pitchFamily="34" charset="-120"/>
              </a:rPr>
              <a:t>How much of the queue can move to auto-decline and fast-track lanes with at most 5% error in each lane?</a:t>
            </a:r>
            <a:endParaRPr lang="en-US" sz="1400" dirty="0"/>
          </a:p>
        </p:txBody>
      </p:sp>
      <p:sp>
        <p:nvSpPr>
          <p:cNvPr id="23" name="canvasLabel"/>
          <p:cNvSpPr/>
          <p:nvPr/>
        </p:nvSpPr>
        <p:spPr>
          <a:xfrm>
            <a:off x="548640" y="3529584"/>
            <a:ext cx="2286000" cy="640080"/>
          </a:xfrm>
          <a:prstGeom prst="roundRect">
            <a:avLst>
              <a:gd name="adj" fmla="val 17143"/>
            </a:avLst>
          </a:prstGeom>
          <a:solidFill>
            <a:srgbClr val="6C4AB6"/>
          </a:solidFill>
          <a:ln w="12700">
            <a:solidFill>
              <a:srgbClr val="6C4AB6"/>
            </a:solidFill>
            <a:prstDash val="solid"/>
          </a:ln>
        </p:spPr>
      </p:sp>
      <p:sp>
        <p:nvSpPr>
          <p:cNvPr id="24" name="Text 21"/>
          <p:cNvSpPr txBox="1"/>
          <p:nvPr/>
        </p:nvSpPr>
        <p:spPr>
          <a:xfrm>
            <a:off x="548640" y="3529584"/>
            <a:ext cx="228600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SSOT</a:t>
            </a:r>
            <a:endParaRPr lang="en-US" sz="1500" dirty="0"/>
          </a:p>
        </p:txBody>
      </p:sp>
      <p:sp>
        <p:nvSpPr>
          <p:cNvPr id="25" name="card"/>
          <p:cNvSpPr/>
          <p:nvPr/>
        </p:nvSpPr>
        <p:spPr>
          <a:xfrm>
            <a:off x="2971800" y="3529584"/>
            <a:ext cx="8686800" cy="640080"/>
          </a:xfrm>
          <a:prstGeom prst="roundRect">
            <a:avLst>
              <a:gd name="adj" fmla="val 17143"/>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26" name="Text 23"/>
          <p:cNvSpPr txBox="1"/>
          <p:nvPr/>
        </p:nvSpPr>
        <p:spPr>
          <a:xfrm>
            <a:off x="3154680" y="3529584"/>
            <a:ext cx="8321040" cy="640080"/>
          </a:xfrm>
          <a:prstGeom prst="rect">
            <a:avLst/>
          </a:prstGeom>
          <a:noFill/>
          <a:ln/>
        </p:spPr>
        <p:txBody>
          <a:bodyPr wrap="square" lIns="0" tIns="0" rIns="0" bIns="0" rtlCol="0" anchor="ctr"/>
          <a:lstStyle/>
          <a:p>
            <a:pPr indent="0" marL="0">
              <a:buNone/>
            </a:pPr>
            <a:r>
              <a:rPr lang="en-US" sz="1400" dirty="0">
                <a:solidFill>
                  <a:srgbClr val="1F2A44"/>
                </a:solidFill>
                <a:latin typeface="Calibri" pitchFamily="34" charset="0"/>
                <a:ea typeface="Calibri" pitchFamily="34" charset="-122"/>
                <a:cs typeface="Calibri" pitchFamily="34" charset="-120"/>
              </a:rPr>
              <a:t>MUC02_Credit_PreScreening_Dataset.csv; the column decision is the target.</a:t>
            </a:r>
            <a:endParaRPr lang="en-US" sz="1400" dirty="0"/>
          </a:p>
        </p:txBody>
      </p:sp>
      <p:sp>
        <p:nvSpPr>
          <p:cNvPr id="27" name="canvasLabel"/>
          <p:cNvSpPr/>
          <p:nvPr/>
        </p:nvSpPr>
        <p:spPr>
          <a:xfrm>
            <a:off x="548640" y="4279392"/>
            <a:ext cx="2286000" cy="640080"/>
          </a:xfrm>
          <a:prstGeom prst="roundRect">
            <a:avLst>
              <a:gd name="adj" fmla="val 17143"/>
            </a:avLst>
          </a:prstGeom>
          <a:solidFill>
            <a:srgbClr val="2E9E5B"/>
          </a:solidFill>
          <a:ln w="12700">
            <a:solidFill>
              <a:srgbClr val="2E9E5B"/>
            </a:solidFill>
            <a:prstDash val="solid"/>
          </a:ln>
        </p:spPr>
      </p:sp>
      <p:sp>
        <p:nvSpPr>
          <p:cNvPr id="28" name="Text 25"/>
          <p:cNvSpPr txBox="1"/>
          <p:nvPr/>
        </p:nvSpPr>
        <p:spPr>
          <a:xfrm>
            <a:off x="548640" y="4279392"/>
            <a:ext cx="228600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Success Definition</a:t>
            </a:r>
            <a:endParaRPr lang="en-US" sz="1500" dirty="0"/>
          </a:p>
        </p:txBody>
      </p:sp>
      <p:sp>
        <p:nvSpPr>
          <p:cNvPr id="29" name="card"/>
          <p:cNvSpPr/>
          <p:nvPr/>
        </p:nvSpPr>
        <p:spPr>
          <a:xfrm>
            <a:off x="2971800" y="4279392"/>
            <a:ext cx="8686800" cy="640080"/>
          </a:xfrm>
          <a:prstGeom prst="roundRect">
            <a:avLst>
              <a:gd name="adj" fmla="val 17143"/>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30" name="Text 27"/>
          <p:cNvSpPr txBox="1"/>
          <p:nvPr/>
        </p:nvSpPr>
        <p:spPr>
          <a:xfrm>
            <a:off x="3154680" y="4279392"/>
            <a:ext cx="8321040" cy="640080"/>
          </a:xfrm>
          <a:prstGeom prst="rect">
            <a:avLst/>
          </a:prstGeom>
          <a:noFill/>
          <a:ln/>
        </p:spPr>
        <p:txBody>
          <a:bodyPr wrap="square" lIns="0" tIns="0" rIns="0" bIns="0" rtlCol="0" anchor="ctr"/>
          <a:lstStyle/>
          <a:p>
            <a:pPr indent="0" marL="0">
              <a:buNone/>
            </a:pPr>
            <a:r>
              <a:rPr lang="en-US" sz="1400" dirty="0">
                <a:solidFill>
                  <a:srgbClr val="1F2A44"/>
                </a:solidFill>
                <a:latin typeface="Calibri" pitchFamily="34" charset="0"/>
                <a:ea typeface="Calibri" pitchFamily="34" charset="-122"/>
                <a:cs typeface="Calibri" pitchFamily="34" charset="-120"/>
              </a:rPr>
              <a:t>≤5% approved cases in auto-decline, ≤5% declined cases in fast-track; report coverage and hours saved.</a:t>
            </a:r>
            <a:endParaRPr lang="en-US" sz="1400" dirty="0"/>
          </a:p>
        </p:txBody>
      </p:sp>
      <p:sp>
        <p:nvSpPr>
          <p:cNvPr id="31" name="canvasLabel"/>
          <p:cNvSpPr/>
          <p:nvPr/>
        </p:nvSpPr>
        <p:spPr>
          <a:xfrm>
            <a:off x="548640" y="5029200"/>
            <a:ext cx="2286000" cy="640080"/>
          </a:xfrm>
          <a:prstGeom prst="roundRect">
            <a:avLst>
              <a:gd name="adj" fmla="val 17143"/>
            </a:avLst>
          </a:prstGeom>
          <a:solidFill>
            <a:srgbClr val="0B1F4B"/>
          </a:solidFill>
          <a:ln w="12700">
            <a:solidFill>
              <a:srgbClr val="0B1F4B"/>
            </a:solidFill>
            <a:prstDash val="solid"/>
          </a:ln>
        </p:spPr>
      </p:sp>
      <p:sp>
        <p:nvSpPr>
          <p:cNvPr id="32" name="Text 29"/>
          <p:cNvSpPr txBox="1"/>
          <p:nvPr/>
        </p:nvSpPr>
        <p:spPr>
          <a:xfrm>
            <a:off x="548640" y="5029200"/>
            <a:ext cx="228600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Primary Stakeholder</a:t>
            </a:r>
            <a:endParaRPr lang="en-US" sz="1500" dirty="0"/>
          </a:p>
        </p:txBody>
      </p:sp>
      <p:sp>
        <p:nvSpPr>
          <p:cNvPr id="33" name="card"/>
          <p:cNvSpPr/>
          <p:nvPr/>
        </p:nvSpPr>
        <p:spPr>
          <a:xfrm>
            <a:off x="2971800" y="5029200"/>
            <a:ext cx="8686800" cy="640080"/>
          </a:xfrm>
          <a:prstGeom prst="roundRect">
            <a:avLst>
              <a:gd name="adj" fmla="val 17143"/>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34" name="Text 31"/>
          <p:cNvSpPr txBox="1"/>
          <p:nvPr/>
        </p:nvSpPr>
        <p:spPr>
          <a:xfrm>
            <a:off x="3154680" y="5029200"/>
            <a:ext cx="8321040" cy="640080"/>
          </a:xfrm>
          <a:prstGeom prst="rect">
            <a:avLst/>
          </a:prstGeom>
          <a:noFill/>
          <a:ln/>
        </p:spPr>
        <p:txBody>
          <a:bodyPr wrap="square" lIns="0" tIns="0" rIns="0" bIns="0" rtlCol="0" anchor="ctr"/>
          <a:lstStyle/>
          <a:p>
            <a:pPr indent="0" marL="0">
              <a:buNone/>
            </a:pPr>
            <a:r>
              <a:rPr lang="en-US" sz="1400" dirty="0">
                <a:solidFill>
                  <a:srgbClr val="1F2A44"/>
                </a:solidFill>
                <a:latin typeface="Calibri" pitchFamily="34" charset="0"/>
                <a:ea typeface="Calibri" pitchFamily="34" charset="-122"/>
                <a:cs typeface="Calibri" pitchFamily="34" charset="-120"/>
              </a:rPr>
              <a:t>Credit Policy Analyst (also affected: credit analysts, the bank, applicants).</a:t>
            </a:r>
            <a:endParaRPr lang="en-US" sz="1400" dirty="0"/>
          </a:p>
        </p:txBody>
      </p:sp>
      <p:sp>
        <p:nvSpPr>
          <p:cNvPr id="35" name="note"/>
          <p:cNvSpPr/>
          <p:nvPr/>
        </p:nvSpPr>
        <p:spPr>
          <a:xfrm>
            <a:off x="548640" y="5806440"/>
            <a:ext cx="11109960" cy="457200"/>
          </a:xfrm>
          <a:prstGeom prst="roundRect">
            <a:avLst>
              <a:gd name="adj" fmla="val 24000"/>
            </a:avLst>
          </a:prstGeom>
          <a:solidFill>
            <a:srgbClr val="FFF1E0"/>
          </a:solidFill>
          <a:ln w="12700">
            <a:solidFill>
              <a:srgbClr val="F28C28"/>
            </a:solidFill>
            <a:prstDash val="solid"/>
          </a:ln>
        </p:spPr>
      </p:sp>
      <p:sp>
        <p:nvSpPr>
          <p:cNvPr id="36" name="Text 33"/>
          <p:cNvSpPr txBox="1"/>
          <p:nvPr/>
        </p:nvSpPr>
        <p:spPr>
          <a:xfrm>
            <a:off x="731520" y="5806440"/>
            <a:ext cx="10789920" cy="457200"/>
          </a:xfrm>
          <a:prstGeom prst="rect">
            <a:avLst/>
          </a:prstGeom>
          <a:noFill/>
          <a:ln/>
        </p:spPr>
        <p:txBody>
          <a:bodyPr wrap="square" lIns="0" tIns="0" rIns="0" bIns="0" rtlCol="0" anchor="ctr"/>
          <a:lstStyle/>
          <a:p>
            <a:pPr indent="0" marL="0">
              <a:buNone/>
            </a:pPr>
            <a:r>
              <a:rPr lang="en-US" sz="1400" b="1" dirty="0">
                <a:solidFill>
                  <a:srgbClr val="0B1F4B"/>
                </a:solidFill>
                <a:latin typeface="Calibri" pitchFamily="34" charset="0"/>
                <a:ea typeface="Calibri" pitchFamily="34" charset="-122"/>
                <a:cs typeface="Calibri" pitchFamily="34" charset="-120"/>
              </a:rPr>
              <a:t>Goal: automate the clear-cut cases while controlling errors in both automated lanes.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052560" cy="777240"/>
          </a:xfrm>
          <a:prstGeom prst="rect">
            <a:avLst/>
          </a:prstGeom>
          <a:noFill/>
          <a:ln/>
        </p:spPr>
        <p:txBody>
          <a:bodyPr wrap="square" lIns="0" tIns="0" rIns="0" bIns="0" rtlCol="0" anchor="ctr"/>
          <a:lstStyle/>
          <a:p>
            <a:pPr algn="l" indent="0" marL="0">
              <a:buNone/>
            </a:pPr>
            <a:r>
              <a:rPr lang="en-US" sz="2800" b="1" dirty="0">
                <a:solidFill>
                  <a:srgbClr val="0B1F4B"/>
                </a:solidFill>
                <a:latin typeface="Calibri" pitchFamily="34" charset="0"/>
                <a:ea typeface="Calibri" pitchFamily="34" charset="-122"/>
                <a:cs typeface="Calibri" pitchFamily="34" charset="-120"/>
              </a:rPr>
              <a:t>Dataset at a Glance</a:t>
            </a:r>
            <a:endParaRPr lang="en-US" sz="2800" dirty="0"/>
          </a:p>
        </p:txBody>
      </p:sp>
      <p:sp>
        <p:nvSpPr>
          <p:cNvPr id="3" name="tag"/>
          <p:cNvSpPr/>
          <p:nvPr/>
        </p:nvSpPr>
        <p:spPr>
          <a:xfrm>
            <a:off x="9738360" y="457200"/>
            <a:ext cx="1920240" cy="365760"/>
          </a:xfrm>
          <a:prstGeom prst="roundRect">
            <a:avLst>
              <a:gd name="adj" fmla="val 50000"/>
            </a:avLst>
          </a:prstGeom>
          <a:solidFill>
            <a:srgbClr val="0B1F4B"/>
          </a:solidFill>
          <a:ln w="12700">
            <a:solidFill>
              <a:srgbClr val="0B1F4B"/>
            </a:solidFill>
            <a:prstDash val="solid"/>
          </a:ln>
        </p:spPr>
      </p:sp>
      <p:sp>
        <p:nvSpPr>
          <p:cNvPr id="4" name="Text 2"/>
          <p:cNvSpPr txBox="1"/>
          <p:nvPr/>
        </p:nvSpPr>
        <p:spPr>
          <a:xfrm>
            <a:off x="9738360" y="457200"/>
            <a:ext cx="1920240"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HISTORICAL DATA</a:t>
            </a:r>
            <a:endParaRPr lang="en-US" sz="1000" dirty="0"/>
          </a:p>
        </p:txBody>
      </p:sp>
      <p:sp>
        <p:nvSpPr>
          <p:cNvPr id="5" name="Text 3"/>
          <p:cNvSpPr txBox="1"/>
          <p:nvPr/>
        </p:nvSpPr>
        <p:spPr>
          <a:xfrm>
            <a:off x="8229600" y="6400800"/>
            <a:ext cx="1554480" cy="32004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4 / 20</a:t>
            </a:r>
            <a:endParaRPr lang="en-US" sz="1000" dirty="0"/>
          </a:p>
        </p:txBody>
      </p:sp>
      <p:sp>
        <p:nvSpPr>
          <p:cNvPr id="6" name="navButton"/>
          <p:cNvSpPr/>
          <p:nvPr/>
        </p:nvSpPr>
        <p:spPr>
          <a:xfrm>
            <a:off x="9921240" y="6419088"/>
            <a:ext cx="822960" cy="292608"/>
          </a:xfrm>
          <a:prstGeom prst="roundRect">
            <a:avLst>
              <a:gd name="adj" fmla="val 50000"/>
            </a:avLst>
          </a:prstGeom>
          <a:solidFill>
            <a:srgbClr val="FFFFFF"/>
          </a:solidFill>
          <a:ln w="12700">
            <a:solidFill>
              <a:srgbClr val="C9D3E3"/>
            </a:solidFill>
            <a:prstDash val="solid"/>
          </a:ln>
        </p:spPr>
      </p:sp>
      <p:sp>
        <p:nvSpPr>
          <p:cNvPr id="7" name="Text 5">
            <a:hlinkClick r:id="rId1" tooltip="Previous slide" action="ppaction://hlinksldjump"/>
          </p:cNvPr>
          <p:cNvSpPr txBox="1"/>
          <p:nvPr/>
        </p:nvSpPr>
        <p:spPr>
          <a:xfrm>
            <a:off x="99212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1" action="ppaction://hlinksldjump" tooltip="Previous slide">
                  <a:extLst>
                    <a:ext uri="{A12FA001-AC4F-418D-AE19-62706E023703}">
                      <ahyp:hlinkClr xmlns:ahyp="http://schemas.microsoft.com/office/drawing/2018/hyperlinkcolor" val="tx"/>
                    </a:ext>
                  </a:extLst>
                </a:hlinkClick>
              </a:rPr>
              <a:t>‹ Prev</a:t>
            </a:r>
            <a:endParaRPr lang="en-US" sz="1000" dirty="0"/>
          </a:p>
        </p:txBody>
      </p:sp>
      <p:sp>
        <p:nvSpPr>
          <p:cNvPr id="8" name="navButton"/>
          <p:cNvSpPr/>
          <p:nvPr/>
        </p:nvSpPr>
        <p:spPr>
          <a:xfrm>
            <a:off x="10835640" y="6419088"/>
            <a:ext cx="822960" cy="292608"/>
          </a:xfrm>
          <a:prstGeom prst="roundRect">
            <a:avLst>
              <a:gd name="adj" fmla="val 50000"/>
            </a:avLst>
          </a:prstGeom>
          <a:solidFill>
            <a:srgbClr val="FFFFFF"/>
          </a:solidFill>
          <a:ln w="12700">
            <a:solidFill>
              <a:srgbClr val="C9D3E3"/>
            </a:solidFill>
            <a:prstDash val="solid"/>
          </a:ln>
        </p:spPr>
      </p:sp>
      <p:sp>
        <p:nvSpPr>
          <p:cNvPr id="9" name="Text 7">
            <a:hlinkClick r:id="rId2" tooltip="Next slide" action="ppaction://hlinksldjump"/>
          </p:cNvPr>
          <p:cNvSpPr txBox="1"/>
          <p:nvPr/>
        </p:nvSpPr>
        <p:spPr>
          <a:xfrm>
            <a:off x="108356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2" action="ppaction://hlinksldjump" tooltip="Next slide">
                  <a:extLst>
                    <a:ext uri="{A12FA001-AC4F-418D-AE19-62706E023703}">
                      <ahyp:hlinkClr xmlns:ahyp="http://schemas.microsoft.com/office/drawing/2018/hyperlinkcolor" val="tx"/>
                    </a:ext>
                  </a:extLst>
                </a:hlinkClick>
              </a:rPr>
              <a:t>Next ›</a:t>
            </a:r>
            <a:endParaRPr lang="en-US" sz="1000" dirty="0"/>
          </a:p>
        </p:txBody>
      </p:sp>
      <p:sp>
        <p:nvSpPr>
          <p:cNvPr id="11" name="stat"/>
          <p:cNvSpPr/>
          <p:nvPr/>
        </p:nvSpPr>
        <p:spPr>
          <a:xfrm>
            <a:off x="548640" y="1325880"/>
            <a:ext cx="3611880" cy="1097280"/>
          </a:xfrm>
          <a:prstGeom prst="roundRect">
            <a:avLst>
              <a:gd name="adj" fmla="val 10000"/>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731520" y="1463040"/>
            <a:ext cx="3246120" cy="548640"/>
          </a:xfrm>
          <a:prstGeom prst="rect">
            <a:avLst/>
          </a:prstGeom>
          <a:noFill/>
          <a:ln/>
        </p:spPr>
        <p:txBody>
          <a:bodyPr wrap="square" lIns="0" tIns="0" rIns="0" bIns="0" rtlCol="0" anchor="ctr"/>
          <a:lstStyle/>
          <a:p>
            <a:pPr indent="0" marL="0">
              <a:buNone/>
            </a:pPr>
            <a:r>
              <a:rPr lang="en-US" sz="3200" b="1" dirty="0">
                <a:solidFill>
                  <a:srgbClr val="0B1F4B"/>
                </a:solidFill>
                <a:latin typeface="Calibri" pitchFamily="34" charset="0"/>
                <a:ea typeface="Calibri" pitchFamily="34" charset="-122"/>
                <a:cs typeface="Calibri" pitchFamily="34" charset="-120"/>
              </a:rPr>
              <a:t>12,000</a:t>
            </a:r>
            <a:endParaRPr lang="en-US" sz="3200" dirty="0"/>
          </a:p>
        </p:txBody>
      </p:sp>
      <p:sp>
        <p:nvSpPr>
          <p:cNvPr id="13" name="Text 10"/>
          <p:cNvSpPr txBox="1"/>
          <p:nvPr/>
        </p:nvSpPr>
        <p:spPr>
          <a:xfrm>
            <a:off x="731520" y="1929384"/>
            <a:ext cx="3246120" cy="460858"/>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loan applications</a:t>
            </a:r>
            <a:endParaRPr lang="en-US" sz="1300" dirty="0"/>
          </a:p>
        </p:txBody>
      </p:sp>
      <p:sp>
        <p:nvSpPr>
          <p:cNvPr id="14" name="stat"/>
          <p:cNvSpPr/>
          <p:nvPr/>
        </p:nvSpPr>
        <p:spPr>
          <a:xfrm>
            <a:off x="4297680" y="1325880"/>
            <a:ext cx="3611880" cy="1097280"/>
          </a:xfrm>
          <a:prstGeom prst="roundRect">
            <a:avLst>
              <a:gd name="adj" fmla="val 10000"/>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5" name="Text 12"/>
          <p:cNvSpPr txBox="1"/>
          <p:nvPr/>
        </p:nvSpPr>
        <p:spPr>
          <a:xfrm>
            <a:off x="4480560" y="1463040"/>
            <a:ext cx="3246120" cy="548640"/>
          </a:xfrm>
          <a:prstGeom prst="rect">
            <a:avLst/>
          </a:prstGeom>
          <a:noFill/>
          <a:ln/>
        </p:spPr>
        <p:txBody>
          <a:bodyPr wrap="square" lIns="0" tIns="0" rIns="0" bIns="0" rtlCol="0" anchor="ctr"/>
          <a:lstStyle/>
          <a:p>
            <a:pPr indent="0" marL="0">
              <a:buNone/>
            </a:pPr>
            <a:r>
              <a:rPr lang="en-US" sz="3200" b="1" dirty="0">
                <a:solidFill>
                  <a:srgbClr val="00A6A6"/>
                </a:solidFill>
                <a:latin typeface="Calibri" pitchFamily="34" charset="0"/>
                <a:ea typeface="Calibri" pitchFamily="34" charset="-122"/>
                <a:cs typeface="Calibri" pitchFamily="34" charset="-120"/>
              </a:rPr>
              <a:t>Apr – Sep 2026</a:t>
            </a:r>
            <a:endParaRPr lang="en-US" sz="3200" dirty="0"/>
          </a:p>
        </p:txBody>
      </p:sp>
      <p:sp>
        <p:nvSpPr>
          <p:cNvPr id="16" name="Text 13"/>
          <p:cNvSpPr txBox="1"/>
          <p:nvPr/>
        </p:nvSpPr>
        <p:spPr>
          <a:xfrm>
            <a:off x="4480560" y="1929384"/>
            <a:ext cx="3246120" cy="460858"/>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historical period</a:t>
            </a:r>
            <a:endParaRPr lang="en-US" sz="1300" dirty="0"/>
          </a:p>
        </p:txBody>
      </p:sp>
      <p:sp>
        <p:nvSpPr>
          <p:cNvPr id="17" name="stat"/>
          <p:cNvSpPr/>
          <p:nvPr/>
        </p:nvSpPr>
        <p:spPr>
          <a:xfrm>
            <a:off x="8046720" y="1325880"/>
            <a:ext cx="3611880" cy="1097280"/>
          </a:xfrm>
          <a:prstGeom prst="roundRect">
            <a:avLst>
              <a:gd name="adj" fmla="val 10000"/>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8" name="Text 15"/>
          <p:cNvSpPr txBox="1"/>
          <p:nvPr/>
        </p:nvSpPr>
        <p:spPr>
          <a:xfrm>
            <a:off x="8229600" y="1463040"/>
            <a:ext cx="3246120" cy="548640"/>
          </a:xfrm>
          <a:prstGeom prst="rect">
            <a:avLst/>
          </a:prstGeom>
          <a:noFill/>
          <a:ln/>
        </p:spPr>
        <p:txBody>
          <a:bodyPr wrap="square" lIns="0" tIns="0" rIns="0" bIns="0" rtlCol="0" anchor="ctr"/>
          <a:lstStyle/>
          <a:p>
            <a:pPr indent="0" marL="0">
              <a:buNone/>
            </a:pPr>
            <a:r>
              <a:rPr lang="en-US" sz="3200" b="1" dirty="0">
                <a:solidFill>
                  <a:srgbClr val="6C4AB6"/>
                </a:solidFill>
                <a:latin typeface="Calibri" pitchFamily="34" charset="0"/>
                <a:ea typeface="Calibri" pitchFamily="34" charset="-122"/>
                <a:cs typeface="Calibri" pitchFamily="34" charset="-120"/>
              </a:rPr>
              <a:t>19</a:t>
            </a:r>
            <a:endParaRPr lang="en-US" sz="3200" dirty="0"/>
          </a:p>
        </p:txBody>
      </p:sp>
      <p:sp>
        <p:nvSpPr>
          <p:cNvPr id="19" name="Text 16"/>
          <p:cNvSpPr txBox="1"/>
          <p:nvPr/>
        </p:nvSpPr>
        <p:spPr>
          <a:xfrm>
            <a:off x="8229600" y="1929384"/>
            <a:ext cx="3246120" cy="460858"/>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columns per application</a:t>
            </a:r>
            <a:endParaRPr lang="en-US" sz="1300" dirty="0"/>
          </a:p>
        </p:txBody>
      </p:sp>
      <p:sp>
        <p:nvSpPr>
          <p:cNvPr id="20" name="card"/>
          <p:cNvSpPr/>
          <p:nvPr/>
        </p:nvSpPr>
        <p:spPr>
          <a:xfrm>
            <a:off x="548640" y="2651760"/>
            <a:ext cx="4754880" cy="3520440"/>
          </a:xfrm>
          <a:prstGeom prst="roundRect">
            <a:avLst>
              <a:gd name="adj" fmla="val 3117"/>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graphicFrame>
        <p:nvGraphicFramePr>
          <p:cNvPr id="21" name="Chart 0" descr=""/>
          <p:cNvGraphicFramePr/>
          <p:nvPr/>
        </p:nvGraphicFramePr>
        <p:xfrm>
          <a:off x="640080" y="2743200"/>
          <a:ext cx="4572000" cy="3337560"/>
        </p:xfrm>
        <a:graphic xmlns:a="http://schemas.openxmlformats.org/drawingml/2006/main">
          <a:graphicData uri="http://schemas.openxmlformats.org/drawingml/2006/chart">
            <c:chart xmlns:c="http://schemas.openxmlformats.org/drawingml/2006/chart" r:id="rId3"/>
          </a:graphicData>
        </a:graphic>
      </p:graphicFrame>
      <p:sp>
        <p:nvSpPr>
          <p:cNvPr id="22" name="card"/>
          <p:cNvSpPr/>
          <p:nvPr/>
        </p:nvSpPr>
        <p:spPr>
          <a:xfrm>
            <a:off x="5486400" y="2651760"/>
            <a:ext cx="6172200" cy="3520440"/>
          </a:xfrm>
          <a:prstGeom prst="roundRect">
            <a:avLst>
              <a:gd name="adj" fmla="val 3117"/>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23" name="Text 19"/>
          <p:cNvSpPr txBox="1"/>
          <p:nvPr/>
        </p:nvSpPr>
        <p:spPr>
          <a:xfrm>
            <a:off x="5715000" y="2788920"/>
            <a:ext cx="5486400" cy="365760"/>
          </a:xfrm>
          <a:prstGeom prst="rect">
            <a:avLst/>
          </a:prstGeom>
          <a:noFill/>
          <a:ln/>
        </p:spPr>
        <p:txBody>
          <a:bodyPr wrap="square" lIns="0" tIns="0" rIns="0" bIns="0" rtlCol="0" anchor="t"/>
          <a:lstStyle/>
          <a:p>
            <a:pPr indent="0" marL="0">
              <a:buNone/>
            </a:pPr>
            <a:r>
              <a:rPr lang="en-US" sz="1600" b="1" dirty="0">
                <a:solidFill>
                  <a:srgbClr val="0B1F4B"/>
                </a:solidFill>
                <a:latin typeface="Calibri" pitchFamily="34" charset="0"/>
                <a:ea typeface="Calibri" pitchFamily="34" charset="-122"/>
                <a:cs typeface="Calibri" pitchFamily="34" charset="-120"/>
              </a:rPr>
              <a:t>What each application tells us</a:t>
            </a:r>
            <a:endParaRPr lang="en-US" sz="1600" dirty="0"/>
          </a:p>
        </p:txBody>
      </p:sp>
      <p:sp>
        <p:nvSpPr>
          <p:cNvPr id="24" name="chip"/>
          <p:cNvSpPr/>
          <p:nvPr/>
        </p:nvSpPr>
        <p:spPr>
          <a:xfrm>
            <a:off x="5715000" y="3291840"/>
            <a:ext cx="2834640" cy="822960"/>
          </a:xfrm>
          <a:prstGeom prst="roundRect">
            <a:avLst>
              <a:gd name="adj" fmla="val 13333"/>
            </a:avLst>
          </a:prstGeom>
          <a:solidFill>
            <a:srgbClr val="F4F7FB"/>
          </a:solidFill>
          <a:ln w="12700">
            <a:solidFill>
              <a:srgbClr val="DDE3EC"/>
            </a:solidFill>
            <a:prstDash val="solid"/>
          </a:ln>
        </p:spPr>
      </p:sp>
      <p:sp>
        <p:nvSpPr>
          <p:cNvPr id="25" name="iconCircle"/>
          <p:cNvSpPr/>
          <p:nvPr/>
        </p:nvSpPr>
        <p:spPr>
          <a:xfrm>
            <a:off x="5824728" y="3447288"/>
            <a:ext cx="502920" cy="502920"/>
          </a:xfrm>
          <a:prstGeom prst="ellipse">
            <a:avLst/>
          </a:prstGeom>
          <a:solidFill>
            <a:srgbClr val="00A6A6"/>
          </a:solidFill>
          <a:ln w="12700">
            <a:solidFill>
              <a:srgbClr val="00A6A6"/>
            </a:solidFill>
            <a:prstDash val="solid"/>
          </a:ln>
        </p:spPr>
      </p:sp>
      <p:pic>
        <p:nvPicPr>
          <p:cNvPr id="26" name="Image 0" descr="CreditCard icon">    </p:cNvPr>
          <p:cNvPicPr>
            <a:picLocks noChangeAspect="1"/>
          </p:cNvPicPr>
          <p:nvPr/>
        </p:nvPicPr>
        <p:blipFill>
          <a:blip r:embed="rId4"/>
          <a:stretch>
            <a:fillRect/>
          </a:stretch>
        </p:blipFill>
        <p:spPr>
          <a:xfrm>
            <a:off x="5950458" y="3573018"/>
            <a:ext cx="251460" cy="251460"/>
          </a:xfrm>
          <a:prstGeom prst="rect">
            <a:avLst/>
          </a:prstGeom>
        </p:spPr>
      </p:pic>
      <p:sp>
        <p:nvSpPr>
          <p:cNvPr id="27" name="Text 22"/>
          <p:cNvSpPr txBox="1"/>
          <p:nvPr/>
        </p:nvSpPr>
        <p:spPr>
          <a:xfrm>
            <a:off x="6446520" y="3383280"/>
            <a:ext cx="2057400" cy="274320"/>
          </a:xfrm>
          <a:prstGeom prst="rect">
            <a:avLst/>
          </a:prstGeom>
          <a:noFill/>
          <a:ln/>
        </p:spPr>
        <p:txBody>
          <a:bodyPr wrap="square" lIns="0" tIns="0" rIns="0" bIns="0" rtlCol="0" anchor="t"/>
          <a:lstStyle/>
          <a:p>
            <a:pPr indent="0" marL="0">
              <a:buNone/>
            </a:pPr>
            <a:r>
              <a:rPr lang="en-US" sz="1300" b="1" dirty="0">
                <a:solidFill>
                  <a:srgbClr val="0B1F4B"/>
                </a:solidFill>
                <a:latin typeface="Calibri" pitchFamily="34" charset="0"/>
                <a:ea typeface="Calibri" pitchFamily="34" charset="-122"/>
                <a:cs typeface="Calibri" pitchFamily="34" charset="-120"/>
              </a:rPr>
              <a:t>credit_score</a:t>
            </a:r>
            <a:endParaRPr lang="en-US" sz="1300" dirty="0"/>
          </a:p>
        </p:txBody>
      </p:sp>
      <p:sp>
        <p:nvSpPr>
          <p:cNvPr id="28" name="Text 23"/>
          <p:cNvSpPr txBox="1"/>
          <p:nvPr/>
        </p:nvSpPr>
        <p:spPr>
          <a:xfrm>
            <a:off x="6446520" y="3675888"/>
            <a:ext cx="2057400" cy="41148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Bureau score; blank = new to credit</a:t>
            </a:r>
            <a:endParaRPr lang="en-US" sz="1100" dirty="0"/>
          </a:p>
        </p:txBody>
      </p:sp>
      <p:sp>
        <p:nvSpPr>
          <p:cNvPr id="29" name="chip"/>
          <p:cNvSpPr/>
          <p:nvPr/>
        </p:nvSpPr>
        <p:spPr>
          <a:xfrm>
            <a:off x="8686800" y="3291840"/>
            <a:ext cx="2834640" cy="822960"/>
          </a:xfrm>
          <a:prstGeom prst="roundRect">
            <a:avLst>
              <a:gd name="adj" fmla="val 13333"/>
            </a:avLst>
          </a:prstGeom>
          <a:solidFill>
            <a:srgbClr val="F4F7FB"/>
          </a:solidFill>
          <a:ln w="12700">
            <a:solidFill>
              <a:srgbClr val="DDE3EC"/>
            </a:solidFill>
            <a:prstDash val="solid"/>
          </a:ln>
        </p:spPr>
      </p:sp>
      <p:sp>
        <p:nvSpPr>
          <p:cNvPr id="30" name="iconCircle"/>
          <p:cNvSpPr/>
          <p:nvPr/>
        </p:nvSpPr>
        <p:spPr>
          <a:xfrm>
            <a:off x="8796528" y="3447288"/>
            <a:ext cx="502920" cy="502920"/>
          </a:xfrm>
          <a:prstGeom prst="ellipse">
            <a:avLst/>
          </a:prstGeom>
          <a:solidFill>
            <a:srgbClr val="0B1F4B"/>
          </a:solidFill>
          <a:ln w="12700">
            <a:solidFill>
              <a:srgbClr val="0B1F4B"/>
            </a:solidFill>
            <a:prstDash val="solid"/>
          </a:ln>
        </p:spPr>
      </p:sp>
      <p:pic>
        <p:nvPicPr>
          <p:cNvPr id="31" name="Image 1" descr="Calculator icon">    </p:cNvPr>
          <p:cNvPicPr>
            <a:picLocks noChangeAspect="1"/>
          </p:cNvPicPr>
          <p:nvPr/>
        </p:nvPicPr>
        <p:blipFill>
          <a:blip r:embed="rId5"/>
          <a:stretch>
            <a:fillRect/>
          </a:stretch>
        </p:blipFill>
        <p:spPr>
          <a:xfrm>
            <a:off x="8922258" y="3573018"/>
            <a:ext cx="251460" cy="251460"/>
          </a:xfrm>
          <a:prstGeom prst="rect">
            <a:avLst/>
          </a:prstGeom>
        </p:spPr>
      </p:pic>
      <p:sp>
        <p:nvSpPr>
          <p:cNvPr id="32" name="Text 26"/>
          <p:cNvSpPr txBox="1"/>
          <p:nvPr/>
        </p:nvSpPr>
        <p:spPr>
          <a:xfrm>
            <a:off x="9418320" y="3383280"/>
            <a:ext cx="2057400" cy="274320"/>
          </a:xfrm>
          <a:prstGeom prst="rect">
            <a:avLst/>
          </a:prstGeom>
          <a:noFill/>
          <a:ln/>
        </p:spPr>
        <p:txBody>
          <a:bodyPr wrap="square" lIns="0" tIns="0" rIns="0" bIns="0" rtlCol="0" anchor="t"/>
          <a:lstStyle/>
          <a:p>
            <a:pPr indent="0" marL="0">
              <a:buNone/>
            </a:pPr>
            <a:r>
              <a:rPr lang="en-US" sz="1300" b="1" dirty="0">
                <a:solidFill>
                  <a:srgbClr val="0B1F4B"/>
                </a:solidFill>
                <a:latin typeface="Calibri" pitchFamily="34" charset="0"/>
                <a:ea typeface="Calibri" pitchFamily="34" charset="-122"/>
                <a:cs typeface="Calibri" pitchFamily="34" charset="-120"/>
              </a:rPr>
              <a:t>monthly_income</a:t>
            </a:r>
            <a:endParaRPr lang="en-US" sz="1300" dirty="0"/>
          </a:p>
        </p:txBody>
      </p:sp>
      <p:sp>
        <p:nvSpPr>
          <p:cNvPr id="33" name="Text 27"/>
          <p:cNvSpPr txBox="1"/>
          <p:nvPr/>
        </p:nvSpPr>
        <p:spPr>
          <a:xfrm>
            <a:off x="9418320" y="3675888"/>
            <a:ext cx="2057400" cy="41148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Income per month</a:t>
            </a:r>
            <a:endParaRPr lang="en-US" sz="1100" dirty="0"/>
          </a:p>
        </p:txBody>
      </p:sp>
      <p:sp>
        <p:nvSpPr>
          <p:cNvPr id="34" name="chip"/>
          <p:cNvSpPr/>
          <p:nvPr/>
        </p:nvSpPr>
        <p:spPr>
          <a:xfrm>
            <a:off x="5715000" y="4206240"/>
            <a:ext cx="2834640" cy="822960"/>
          </a:xfrm>
          <a:prstGeom prst="roundRect">
            <a:avLst>
              <a:gd name="adj" fmla="val 13333"/>
            </a:avLst>
          </a:prstGeom>
          <a:solidFill>
            <a:srgbClr val="F4F7FB"/>
          </a:solidFill>
          <a:ln w="12700">
            <a:solidFill>
              <a:srgbClr val="DDE3EC"/>
            </a:solidFill>
            <a:prstDash val="solid"/>
          </a:ln>
        </p:spPr>
      </p:sp>
      <p:sp>
        <p:nvSpPr>
          <p:cNvPr id="35" name="iconCircle"/>
          <p:cNvSpPr/>
          <p:nvPr/>
        </p:nvSpPr>
        <p:spPr>
          <a:xfrm>
            <a:off x="5824728" y="4361688"/>
            <a:ext cx="502920" cy="502920"/>
          </a:xfrm>
          <a:prstGeom prst="ellipse">
            <a:avLst/>
          </a:prstGeom>
          <a:solidFill>
            <a:srgbClr val="6C4AB6"/>
          </a:solidFill>
          <a:ln w="12700">
            <a:solidFill>
              <a:srgbClr val="6C4AB6"/>
            </a:solidFill>
            <a:prstDash val="solid"/>
          </a:ln>
        </p:spPr>
      </p:sp>
      <p:pic>
        <p:nvPicPr>
          <p:cNvPr id="36" name="Image 2" descr="Percent icon">    </p:cNvPr>
          <p:cNvPicPr>
            <a:picLocks noChangeAspect="1"/>
          </p:cNvPicPr>
          <p:nvPr/>
        </p:nvPicPr>
        <p:blipFill>
          <a:blip r:embed="rId6"/>
          <a:stretch>
            <a:fillRect/>
          </a:stretch>
        </p:blipFill>
        <p:spPr>
          <a:xfrm>
            <a:off x="5950458" y="4487418"/>
            <a:ext cx="251460" cy="251460"/>
          </a:xfrm>
          <a:prstGeom prst="rect">
            <a:avLst/>
          </a:prstGeom>
        </p:spPr>
      </p:pic>
      <p:sp>
        <p:nvSpPr>
          <p:cNvPr id="37" name="Text 30"/>
          <p:cNvSpPr txBox="1"/>
          <p:nvPr/>
        </p:nvSpPr>
        <p:spPr>
          <a:xfrm>
            <a:off x="6446520" y="4297680"/>
            <a:ext cx="2057400" cy="274320"/>
          </a:xfrm>
          <a:prstGeom prst="rect">
            <a:avLst/>
          </a:prstGeom>
          <a:noFill/>
          <a:ln/>
        </p:spPr>
        <p:txBody>
          <a:bodyPr wrap="square" lIns="0" tIns="0" rIns="0" bIns="0" rtlCol="0" anchor="t"/>
          <a:lstStyle/>
          <a:p>
            <a:pPr indent="0" marL="0">
              <a:buNone/>
            </a:pPr>
            <a:r>
              <a:rPr lang="en-US" sz="1300" b="1" dirty="0">
                <a:solidFill>
                  <a:srgbClr val="0B1F4B"/>
                </a:solidFill>
                <a:latin typeface="Calibri" pitchFamily="34" charset="0"/>
                <a:ea typeface="Calibri" pitchFamily="34" charset="-122"/>
                <a:cs typeface="Calibri" pitchFamily="34" charset="-120"/>
              </a:rPr>
              <a:t>existing_emi</a:t>
            </a:r>
            <a:endParaRPr lang="en-US" sz="1300" dirty="0"/>
          </a:p>
        </p:txBody>
      </p:sp>
      <p:sp>
        <p:nvSpPr>
          <p:cNvPr id="38" name="Text 31"/>
          <p:cNvSpPr txBox="1"/>
          <p:nvPr/>
        </p:nvSpPr>
        <p:spPr>
          <a:xfrm>
            <a:off x="6446520" y="4590288"/>
            <a:ext cx="2057400" cy="41148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Current loan payments</a:t>
            </a:r>
            <a:endParaRPr lang="en-US" sz="1100" dirty="0"/>
          </a:p>
        </p:txBody>
      </p:sp>
      <p:sp>
        <p:nvSpPr>
          <p:cNvPr id="39" name="chip"/>
          <p:cNvSpPr/>
          <p:nvPr/>
        </p:nvSpPr>
        <p:spPr>
          <a:xfrm>
            <a:off x="8686800" y="4206240"/>
            <a:ext cx="2834640" cy="822960"/>
          </a:xfrm>
          <a:prstGeom prst="roundRect">
            <a:avLst>
              <a:gd name="adj" fmla="val 13333"/>
            </a:avLst>
          </a:prstGeom>
          <a:solidFill>
            <a:srgbClr val="F4F7FB"/>
          </a:solidFill>
          <a:ln w="12700">
            <a:solidFill>
              <a:srgbClr val="DDE3EC"/>
            </a:solidFill>
            <a:prstDash val="solid"/>
          </a:ln>
        </p:spPr>
      </p:sp>
      <p:sp>
        <p:nvSpPr>
          <p:cNvPr id="40" name="iconCircle"/>
          <p:cNvSpPr/>
          <p:nvPr/>
        </p:nvSpPr>
        <p:spPr>
          <a:xfrm>
            <a:off x="8796528" y="4361688"/>
            <a:ext cx="502920" cy="502920"/>
          </a:xfrm>
          <a:prstGeom prst="ellipse">
            <a:avLst/>
          </a:prstGeom>
          <a:solidFill>
            <a:srgbClr val="F28C28"/>
          </a:solidFill>
          <a:ln w="12700">
            <a:solidFill>
              <a:srgbClr val="F28C28"/>
            </a:solidFill>
            <a:prstDash val="solid"/>
          </a:ln>
        </p:spPr>
      </p:sp>
      <p:pic>
        <p:nvPicPr>
          <p:cNvPr id="41" name="Image 3" descr="Percent icon">    </p:cNvPr>
          <p:cNvPicPr>
            <a:picLocks noChangeAspect="1"/>
          </p:cNvPicPr>
          <p:nvPr/>
        </p:nvPicPr>
        <p:blipFill>
          <a:blip r:embed="rId7"/>
          <a:stretch>
            <a:fillRect/>
          </a:stretch>
        </p:blipFill>
        <p:spPr>
          <a:xfrm>
            <a:off x="8922258" y="4487418"/>
            <a:ext cx="251460" cy="251460"/>
          </a:xfrm>
          <a:prstGeom prst="rect">
            <a:avLst/>
          </a:prstGeom>
        </p:spPr>
      </p:pic>
      <p:sp>
        <p:nvSpPr>
          <p:cNvPr id="42" name="Text 34"/>
          <p:cNvSpPr txBox="1"/>
          <p:nvPr/>
        </p:nvSpPr>
        <p:spPr>
          <a:xfrm>
            <a:off x="9418320" y="4297680"/>
            <a:ext cx="2057400" cy="274320"/>
          </a:xfrm>
          <a:prstGeom prst="rect">
            <a:avLst/>
          </a:prstGeom>
          <a:noFill/>
          <a:ln/>
        </p:spPr>
        <p:txBody>
          <a:bodyPr wrap="square" lIns="0" tIns="0" rIns="0" bIns="0" rtlCol="0" anchor="t"/>
          <a:lstStyle/>
          <a:p>
            <a:pPr indent="0" marL="0">
              <a:buNone/>
            </a:pPr>
            <a:r>
              <a:rPr lang="en-US" sz="1300" b="1" dirty="0">
                <a:solidFill>
                  <a:srgbClr val="0B1F4B"/>
                </a:solidFill>
                <a:latin typeface="Calibri" pitchFamily="34" charset="0"/>
                <a:ea typeface="Calibri" pitchFamily="34" charset="-122"/>
                <a:cs typeface="Calibri" pitchFamily="34" charset="-120"/>
              </a:rPr>
              <a:t>proposed_emi</a:t>
            </a:r>
            <a:endParaRPr lang="en-US" sz="1300" dirty="0"/>
          </a:p>
        </p:txBody>
      </p:sp>
      <p:sp>
        <p:nvSpPr>
          <p:cNvPr id="43" name="Text 35"/>
          <p:cNvSpPr txBox="1"/>
          <p:nvPr/>
        </p:nvSpPr>
        <p:spPr>
          <a:xfrm>
            <a:off x="9418320" y="4590288"/>
            <a:ext cx="2057400" cy="41148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New loan payment</a:t>
            </a:r>
            <a:endParaRPr lang="en-US" sz="1100" dirty="0"/>
          </a:p>
        </p:txBody>
      </p:sp>
      <p:sp>
        <p:nvSpPr>
          <p:cNvPr id="44" name="chip"/>
          <p:cNvSpPr/>
          <p:nvPr/>
        </p:nvSpPr>
        <p:spPr>
          <a:xfrm>
            <a:off x="5715000" y="5120640"/>
            <a:ext cx="2834640" cy="822960"/>
          </a:xfrm>
          <a:prstGeom prst="roundRect">
            <a:avLst>
              <a:gd name="adj" fmla="val 13333"/>
            </a:avLst>
          </a:prstGeom>
          <a:solidFill>
            <a:srgbClr val="F4F7FB"/>
          </a:solidFill>
          <a:ln w="12700">
            <a:solidFill>
              <a:srgbClr val="DDE3EC"/>
            </a:solidFill>
            <a:prstDash val="solid"/>
          </a:ln>
        </p:spPr>
      </p:sp>
      <p:sp>
        <p:nvSpPr>
          <p:cNvPr id="45" name="iconCircle"/>
          <p:cNvSpPr/>
          <p:nvPr/>
        </p:nvSpPr>
        <p:spPr>
          <a:xfrm>
            <a:off x="5824728" y="5276088"/>
            <a:ext cx="502920" cy="502920"/>
          </a:xfrm>
          <a:prstGeom prst="ellipse">
            <a:avLst/>
          </a:prstGeom>
          <a:solidFill>
            <a:srgbClr val="2E9E5B"/>
          </a:solidFill>
          <a:ln w="12700">
            <a:solidFill>
              <a:srgbClr val="2E9E5B"/>
            </a:solidFill>
            <a:prstDash val="solid"/>
          </a:ln>
        </p:spPr>
      </p:sp>
      <p:pic>
        <p:nvPicPr>
          <p:cNvPr id="46" name="Image 4" descr="Users icon">    </p:cNvPr>
          <p:cNvPicPr>
            <a:picLocks noChangeAspect="1"/>
          </p:cNvPicPr>
          <p:nvPr/>
        </p:nvPicPr>
        <p:blipFill>
          <a:blip r:embed="rId8"/>
          <a:stretch>
            <a:fillRect/>
          </a:stretch>
        </p:blipFill>
        <p:spPr>
          <a:xfrm>
            <a:off x="5950458" y="5401818"/>
            <a:ext cx="251460" cy="251460"/>
          </a:xfrm>
          <a:prstGeom prst="rect">
            <a:avLst/>
          </a:prstGeom>
        </p:spPr>
      </p:pic>
      <p:sp>
        <p:nvSpPr>
          <p:cNvPr id="47" name="Text 38"/>
          <p:cNvSpPr txBox="1"/>
          <p:nvPr/>
        </p:nvSpPr>
        <p:spPr>
          <a:xfrm>
            <a:off x="6446520" y="5212080"/>
            <a:ext cx="2057400" cy="274320"/>
          </a:xfrm>
          <a:prstGeom prst="rect">
            <a:avLst/>
          </a:prstGeom>
          <a:noFill/>
          <a:ln/>
        </p:spPr>
        <p:txBody>
          <a:bodyPr wrap="square" lIns="0" tIns="0" rIns="0" bIns="0" rtlCol="0" anchor="t"/>
          <a:lstStyle/>
          <a:p>
            <a:pPr indent="0" marL="0">
              <a:buNone/>
            </a:pPr>
            <a:r>
              <a:rPr lang="en-US" sz="1300" b="1" dirty="0">
                <a:solidFill>
                  <a:srgbClr val="0B1F4B"/>
                </a:solidFill>
                <a:latin typeface="Calibri" pitchFamily="34" charset="0"/>
                <a:ea typeface="Calibri" pitchFamily="34" charset="-122"/>
                <a:cs typeface="Calibri" pitchFamily="34" charset="-120"/>
              </a:rPr>
              <a:t>employment_type</a:t>
            </a:r>
            <a:endParaRPr lang="en-US" sz="1300" dirty="0"/>
          </a:p>
        </p:txBody>
      </p:sp>
      <p:sp>
        <p:nvSpPr>
          <p:cNvPr id="48" name="Text 39"/>
          <p:cNvSpPr txBox="1"/>
          <p:nvPr/>
        </p:nvSpPr>
        <p:spPr>
          <a:xfrm>
            <a:off x="6446520" y="5504688"/>
            <a:ext cx="2057400" cy="41148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Salaried, Business, Self-Employed, Gig</a:t>
            </a:r>
            <a:endParaRPr lang="en-US" sz="1100" dirty="0"/>
          </a:p>
        </p:txBody>
      </p:sp>
      <p:sp>
        <p:nvSpPr>
          <p:cNvPr id="49" name="chip"/>
          <p:cNvSpPr/>
          <p:nvPr/>
        </p:nvSpPr>
        <p:spPr>
          <a:xfrm>
            <a:off x="8686800" y="5120640"/>
            <a:ext cx="2834640" cy="822960"/>
          </a:xfrm>
          <a:prstGeom prst="roundRect">
            <a:avLst>
              <a:gd name="adj" fmla="val 13333"/>
            </a:avLst>
          </a:prstGeom>
          <a:solidFill>
            <a:srgbClr val="F4F7FB"/>
          </a:solidFill>
          <a:ln w="12700">
            <a:solidFill>
              <a:srgbClr val="DDE3EC"/>
            </a:solidFill>
            <a:prstDash val="solid"/>
          </a:ln>
        </p:spPr>
      </p:sp>
      <p:sp>
        <p:nvSpPr>
          <p:cNvPr id="50" name="iconCircle"/>
          <p:cNvSpPr/>
          <p:nvPr/>
        </p:nvSpPr>
        <p:spPr>
          <a:xfrm>
            <a:off x="8796528" y="5276088"/>
            <a:ext cx="502920" cy="502920"/>
          </a:xfrm>
          <a:prstGeom prst="ellipse">
            <a:avLst/>
          </a:prstGeom>
          <a:solidFill>
            <a:srgbClr val="D64545"/>
          </a:solidFill>
          <a:ln w="12700">
            <a:solidFill>
              <a:srgbClr val="D64545"/>
            </a:solidFill>
            <a:prstDash val="solid"/>
          </a:ln>
        </p:spPr>
      </p:sp>
      <p:pic>
        <p:nvPicPr>
          <p:cNvPr id="51" name="Image 5" descr="Bullseye icon">    </p:cNvPr>
          <p:cNvPicPr>
            <a:picLocks noChangeAspect="1"/>
          </p:cNvPicPr>
          <p:nvPr/>
        </p:nvPicPr>
        <p:blipFill>
          <a:blip r:embed="rId9"/>
          <a:stretch>
            <a:fillRect/>
          </a:stretch>
        </p:blipFill>
        <p:spPr>
          <a:xfrm>
            <a:off x="8922258" y="5401818"/>
            <a:ext cx="251460" cy="251460"/>
          </a:xfrm>
          <a:prstGeom prst="rect">
            <a:avLst/>
          </a:prstGeom>
        </p:spPr>
      </p:pic>
      <p:sp>
        <p:nvSpPr>
          <p:cNvPr id="52" name="Text 42"/>
          <p:cNvSpPr txBox="1"/>
          <p:nvPr/>
        </p:nvSpPr>
        <p:spPr>
          <a:xfrm>
            <a:off x="9418320" y="5212080"/>
            <a:ext cx="2057400" cy="274320"/>
          </a:xfrm>
          <a:prstGeom prst="rect">
            <a:avLst/>
          </a:prstGeom>
          <a:noFill/>
          <a:ln/>
        </p:spPr>
        <p:txBody>
          <a:bodyPr wrap="square" lIns="0" tIns="0" rIns="0" bIns="0" rtlCol="0" anchor="t"/>
          <a:lstStyle/>
          <a:p>
            <a:pPr indent="0" marL="0">
              <a:buNone/>
            </a:pPr>
            <a:r>
              <a:rPr lang="en-US" sz="1300" b="1" dirty="0">
                <a:solidFill>
                  <a:srgbClr val="0B1F4B"/>
                </a:solidFill>
                <a:latin typeface="Calibri" pitchFamily="34" charset="0"/>
                <a:ea typeface="Calibri" pitchFamily="34" charset="-122"/>
                <a:cs typeface="Calibri" pitchFamily="34" charset="-120"/>
              </a:rPr>
              <a:t>decision</a:t>
            </a:r>
            <a:endParaRPr lang="en-US" sz="1300" dirty="0"/>
          </a:p>
        </p:txBody>
      </p:sp>
      <p:sp>
        <p:nvSpPr>
          <p:cNvPr id="53" name="Text 43"/>
          <p:cNvSpPr txBox="1"/>
          <p:nvPr/>
        </p:nvSpPr>
        <p:spPr>
          <a:xfrm>
            <a:off x="9418320" y="5504688"/>
            <a:ext cx="2057400" cy="41148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Historical Approved / Declined (target)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052560" cy="777240"/>
          </a:xfrm>
          <a:prstGeom prst="rect">
            <a:avLst/>
          </a:prstGeom>
          <a:noFill/>
          <a:ln/>
        </p:spPr>
        <p:txBody>
          <a:bodyPr wrap="square" lIns="0" tIns="0" rIns="0" bIns="0" rtlCol="0" anchor="ctr"/>
          <a:lstStyle/>
          <a:p>
            <a:pPr algn="l" indent="0" marL="0">
              <a:buNone/>
            </a:pPr>
            <a:r>
              <a:rPr lang="en-US" sz="2800" b="1" dirty="0">
                <a:solidFill>
                  <a:srgbClr val="0B1F4B"/>
                </a:solidFill>
                <a:latin typeface="Calibri" pitchFamily="34" charset="0"/>
                <a:ea typeface="Calibri" pitchFamily="34" charset="-122"/>
                <a:cs typeface="Calibri" pitchFamily="34" charset="-120"/>
              </a:rPr>
              <a:t>Data Inspection and Cleaning — Step 5.1</a:t>
            </a:r>
            <a:endParaRPr lang="en-US" sz="2800" dirty="0"/>
          </a:p>
        </p:txBody>
      </p:sp>
      <p:sp>
        <p:nvSpPr>
          <p:cNvPr id="3" name="tag"/>
          <p:cNvSpPr/>
          <p:nvPr/>
        </p:nvSpPr>
        <p:spPr>
          <a:xfrm>
            <a:off x="9738360" y="457200"/>
            <a:ext cx="1920240" cy="365760"/>
          </a:xfrm>
          <a:prstGeom prst="roundRect">
            <a:avLst>
              <a:gd name="adj" fmla="val 50000"/>
            </a:avLst>
          </a:prstGeom>
          <a:solidFill>
            <a:srgbClr val="F28C28"/>
          </a:solidFill>
          <a:ln w="12700">
            <a:solidFill>
              <a:srgbClr val="F28C28"/>
            </a:solidFill>
            <a:prstDash val="solid"/>
          </a:ln>
        </p:spPr>
      </p:sp>
      <p:sp>
        <p:nvSpPr>
          <p:cNvPr id="4" name="Text 2"/>
          <p:cNvSpPr txBox="1"/>
          <p:nvPr/>
        </p:nvSpPr>
        <p:spPr>
          <a:xfrm>
            <a:off x="9738360" y="457200"/>
            <a:ext cx="1920240"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DATA QUALITY</a:t>
            </a:r>
            <a:endParaRPr lang="en-US" sz="1000" dirty="0"/>
          </a:p>
        </p:txBody>
      </p:sp>
      <p:sp>
        <p:nvSpPr>
          <p:cNvPr id="5" name="Text 3"/>
          <p:cNvSpPr txBox="1"/>
          <p:nvPr/>
        </p:nvSpPr>
        <p:spPr>
          <a:xfrm>
            <a:off x="8229600" y="6400800"/>
            <a:ext cx="1554480" cy="32004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5 / 20</a:t>
            </a:r>
            <a:endParaRPr lang="en-US" sz="1000" dirty="0"/>
          </a:p>
        </p:txBody>
      </p:sp>
      <p:sp>
        <p:nvSpPr>
          <p:cNvPr id="6" name="navButton"/>
          <p:cNvSpPr/>
          <p:nvPr/>
        </p:nvSpPr>
        <p:spPr>
          <a:xfrm>
            <a:off x="9921240" y="6419088"/>
            <a:ext cx="822960" cy="292608"/>
          </a:xfrm>
          <a:prstGeom prst="roundRect">
            <a:avLst>
              <a:gd name="adj" fmla="val 50000"/>
            </a:avLst>
          </a:prstGeom>
          <a:solidFill>
            <a:srgbClr val="FFFFFF"/>
          </a:solidFill>
          <a:ln w="12700">
            <a:solidFill>
              <a:srgbClr val="C9D3E3"/>
            </a:solidFill>
            <a:prstDash val="solid"/>
          </a:ln>
        </p:spPr>
      </p:sp>
      <p:sp>
        <p:nvSpPr>
          <p:cNvPr id="7" name="Text 5">
            <a:hlinkClick r:id="rId1" tooltip="Previous slide" action="ppaction://hlinksldjump"/>
          </p:cNvPr>
          <p:cNvSpPr txBox="1"/>
          <p:nvPr/>
        </p:nvSpPr>
        <p:spPr>
          <a:xfrm>
            <a:off x="99212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1" action="ppaction://hlinksldjump" tooltip="Previous slide">
                  <a:extLst>
                    <a:ext uri="{A12FA001-AC4F-418D-AE19-62706E023703}">
                      <ahyp:hlinkClr xmlns:ahyp="http://schemas.microsoft.com/office/drawing/2018/hyperlinkcolor" val="tx"/>
                    </a:ext>
                  </a:extLst>
                </a:hlinkClick>
              </a:rPr>
              <a:t>‹ Prev</a:t>
            </a:r>
            <a:endParaRPr lang="en-US" sz="1000" dirty="0"/>
          </a:p>
        </p:txBody>
      </p:sp>
      <p:sp>
        <p:nvSpPr>
          <p:cNvPr id="8" name="navButton"/>
          <p:cNvSpPr/>
          <p:nvPr/>
        </p:nvSpPr>
        <p:spPr>
          <a:xfrm>
            <a:off x="10835640" y="6419088"/>
            <a:ext cx="822960" cy="292608"/>
          </a:xfrm>
          <a:prstGeom prst="roundRect">
            <a:avLst>
              <a:gd name="adj" fmla="val 50000"/>
            </a:avLst>
          </a:prstGeom>
          <a:solidFill>
            <a:srgbClr val="FFFFFF"/>
          </a:solidFill>
          <a:ln w="12700">
            <a:solidFill>
              <a:srgbClr val="C9D3E3"/>
            </a:solidFill>
            <a:prstDash val="solid"/>
          </a:ln>
        </p:spPr>
      </p:sp>
      <p:sp>
        <p:nvSpPr>
          <p:cNvPr id="9" name="Text 7">
            <a:hlinkClick r:id="rId2" tooltip="Next slide" action="ppaction://hlinksldjump"/>
          </p:cNvPr>
          <p:cNvSpPr txBox="1"/>
          <p:nvPr/>
        </p:nvSpPr>
        <p:spPr>
          <a:xfrm>
            <a:off x="108356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2" action="ppaction://hlinksldjump" tooltip="Next slide">
                  <a:extLst>
                    <a:ext uri="{A12FA001-AC4F-418D-AE19-62706E023703}">
                      <ahyp:hlinkClr xmlns:ahyp="http://schemas.microsoft.com/office/drawing/2018/hyperlinkcolor" val="tx"/>
                    </a:ext>
                  </a:extLst>
                </a:hlinkClick>
              </a:rPr>
              <a:t>Next ›</a:t>
            </a:r>
            <a:endParaRPr lang="en-US" sz="1000" dirty="0"/>
          </a:p>
        </p:txBody>
      </p:sp>
      <p:sp>
        <p:nvSpPr>
          <p:cNvPr id="11" name="card"/>
          <p:cNvSpPr/>
          <p:nvPr/>
        </p:nvSpPr>
        <p:spPr>
          <a:xfrm>
            <a:off x="548640" y="1325880"/>
            <a:ext cx="6949440" cy="1280160"/>
          </a:xfrm>
          <a:prstGeom prst="roundRect">
            <a:avLst>
              <a:gd name="adj" fmla="val 8571"/>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2" name="iconCircle"/>
          <p:cNvSpPr/>
          <p:nvPr/>
        </p:nvSpPr>
        <p:spPr>
          <a:xfrm>
            <a:off x="777240" y="1691640"/>
            <a:ext cx="548640" cy="548640"/>
          </a:xfrm>
          <a:prstGeom prst="ellipse">
            <a:avLst/>
          </a:prstGeom>
          <a:solidFill>
            <a:srgbClr val="00A6A6"/>
          </a:solidFill>
          <a:ln w="12700">
            <a:solidFill>
              <a:srgbClr val="00A6A6"/>
            </a:solidFill>
            <a:prstDash val="solid"/>
          </a:ln>
        </p:spPr>
      </p:sp>
      <p:pic>
        <p:nvPicPr>
          <p:cNvPr id="13" name="Image 0" descr="Broom icon">    </p:cNvPr>
          <p:cNvPicPr>
            <a:picLocks noChangeAspect="1"/>
          </p:cNvPicPr>
          <p:nvPr/>
        </p:nvPicPr>
        <p:blipFill>
          <a:blip r:embed="rId3"/>
          <a:stretch>
            <a:fillRect/>
          </a:stretch>
        </p:blipFill>
        <p:spPr>
          <a:xfrm>
            <a:off x="914400" y="1828800"/>
            <a:ext cx="274320" cy="274320"/>
          </a:xfrm>
          <a:prstGeom prst="rect">
            <a:avLst/>
          </a:prstGeom>
        </p:spPr>
      </p:pic>
      <p:sp>
        <p:nvSpPr>
          <p:cNvPr id="14" name="Text 10"/>
          <p:cNvSpPr txBox="1"/>
          <p:nvPr/>
        </p:nvSpPr>
        <p:spPr>
          <a:xfrm>
            <a:off x="1554480" y="1463040"/>
            <a:ext cx="5760720" cy="365760"/>
          </a:xfrm>
          <a:prstGeom prst="rect">
            <a:avLst/>
          </a:prstGeom>
          <a:noFill/>
          <a:ln/>
        </p:spPr>
        <p:txBody>
          <a:bodyPr wrap="square" lIns="0" tIns="0" rIns="0" bIns="0" rtlCol="0" anchor="t"/>
          <a:lstStyle/>
          <a:p>
            <a:pPr indent="0" marL="0">
              <a:buNone/>
            </a:pPr>
            <a:r>
              <a:rPr lang="en-US" sz="1700" b="1" dirty="0">
                <a:solidFill>
                  <a:srgbClr val="0B1F4B"/>
                </a:solidFill>
                <a:latin typeface="Calibri" pitchFamily="34" charset="0"/>
                <a:ea typeface="Calibri" pitchFamily="34" charset="-122"/>
                <a:cs typeface="Calibri" pitchFamily="34" charset="-120"/>
              </a:rPr>
              <a:t>441 missing monthly incomes (3.7%)</a:t>
            </a:r>
            <a:endParaRPr lang="en-US" sz="1700" dirty="0"/>
          </a:p>
        </p:txBody>
      </p:sp>
      <p:sp>
        <p:nvSpPr>
          <p:cNvPr id="15" name="Text 11"/>
          <p:cNvSpPr txBox="1"/>
          <p:nvPr/>
        </p:nvSpPr>
        <p:spPr>
          <a:xfrm>
            <a:off x="1554480" y="1874520"/>
            <a:ext cx="5760720" cy="685800"/>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Mostly Business Owners (227) and Self-Employed Professionals (154). Filled with the median income of the same employment type.</a:t>
            </a:r>
            <a:endParaRPr lang="en-US" sz="1300" dirty="0"/>
          </a:p>
        </p:txBody>
      </p:sp>
      <p:sp>
        <p:nvSpPr>
          <p:cNvPr id="16" name="card"/>
          <p:cNvSpPr/>
          <p:nvPr/>
        </p:nvSpPr>
        <p:spPr>
          <a:xfrm>
            <a:off x="548640" y="2743200"/>
            <a:ext cx="6949440" cy="1280160"/>
          </a:xfrm>
          <a:prstGeom prst="roundRect">
            <a:avLst>
              <a:gd name="adj" fmla="val 8571"/>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7" name="iconCircle"/>
          <p:cNvSpPr/>
          <p:nvPr/>
        </p:nvSpPr>
        <p:spPr>
          <a:xfrm>
            <a:off x="777240" y="3108960"/>
            <a:ext cx="548640" cy="548640"/>
          </a:xfrm>
          <a:prstGeom prst="ellipse">
            <a:avLst/>
          </a:prstGeom>
          <a:solidFill>
            <a:srgbClr val="6C4AB6"/>
          </a:solidFill>
          <a:ln w="12700">
            <a:solidFill>
              <a:srgbClr val="6C4AB6"/>
            </a:solidFill>
            <a:prstDash val="solid"/>
          </a:ln>
        </p:spPr>
      </p:sp>
      <p:pic>
        <p:nvPicPr>
          <p:cNvPr id="18" name="Image 1" descr="Search icon">    </p:cNvPr>
          <p:cNvPicPr>
            <a:picLocks noChangeAspect="1"/>
          </p:cNvPicPr>
          <p:nvPr/>
        </p:nvPicPr>
        <p:blipFill>
          <a:blip r:embed="rId4"/>
          <a:stretch>
            <a:fillRect/>
          </a:stretch>
        </p:blipFill>
        <p:spPr>
          <a:xfrm>
            <a:off x="914400" y="3246120"/>
            <a:ext cx="274320" cy="274320"/>
          </a:xfrm>
          <a:prstGeom prst="rect">
            <a:avLst/>
          </a:prstGeom>
        </p:spPr>
      </p:pic>
      <p:sp>
        <p:nvSpPr>
          <p:cNvPr id="19" name="Text 14"/>
          <p:cNvSpPr txBox="1"/>
          <p:nvPr/>
        </p:nvSpPr>
        <p:spPr>
          <a:xfrm>
            <a:off x="1554480" y="2880360"/>
            <a:ext cx="5760720" cy="365760"/>
          </a:xfrm>
          <a:prstGeom prst="rect">
            <a:avLst/>
          </a:prstGeom>
          <a:noFill/>
          <a:ln/>
        </p:spPr>
        <p:txBody>
          <a:bodyPr wrap="square" lIns="0" tIns="0" rIns="0" bIns="0" rtlCol="0" anchor="t"/>
          <a:lstStyle/>
          <a:p>
            <a:pPr indent="0" marL="0">
              <a:buNone/>
            </a:pPr>
            <a:r>
              <a:rPr lang="en-US" sz="1700" b="1" dirty="0">
                <a:solidFill>
                  <a:srgbClr val="0B1F4B"/>
                </a:solidFill>
                <a:latin typeface="Calibri" pitchFamily="34" charset="0"/>
                <a:ea typeface="Calibri" pitchFamily="34" charset="-122"/>
                <a:cs typeface="Calibri" pitchFamily="34" charset="-120"/>
              </a:rPr>
              <a:t>1,039 blank credit scores (8.7%)</a:t>
            </a:r>
            <a:endParaRPr lang="en-US" sz="1700" dirty="0"/>
          </a:p>
        </p:txBody>
      </p:sp>
      <p:sp>
        <p:nvSpPr>
          <p:cNvPr id="20" name="Text 15"/>
          <p:cNvSpPr txBox="1"/>
          <p:nvPr/>
        </p:nvSpPr>
        <p:spPr>
          <a:xfrm>
            <a:off x="1554480" y="3291840"/>
            <a:ext cx="5760720" cy="685800"/>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All have 0 months of credit history: genuinely new to credit. Rows kept and flagged with is_ntc.</a:t>
            </a:r>
            <a:endParaRPr lang="en-US" sz="1300" dirty="0"/>
          </a:p>
        </p:txBody>
      </p:sp>
      <p:sp>
        <p:nvSpPr>
          <p:cNvPr id="21" name="card"/>
          <p:cNvSpPr/>
          <p:nvPr/>
        </p:nvSpPr>
        <p:spPr>
          <a:xfrm>
            <a:off x="548640" y="4160520"/>
            <a:ext cx="6949440" cy="1280160"/>
          </a:xfrm>
          <a:prstGeom prst="roundRect">
            <a:avLst>
              <a:gd name="adj" fmla="val 8571"/>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22" name="iconCircle"/>
          <p:cNvSpPr/>
          <p:nvPr/>
        </p:nvSpPr>
        <p:spPr>
          <a:xfrm>
            <a:off x="777240" y="4526280"/>
            <a:ext cx="548640" cy="548640"/>
          </a:xfrm>
          <a:prstGeom prst="ellipse">
            <a:avLst/>
          </a:prstGeom>
          <a:solidFill>
            <a:srgbClr val="F28C28"/>
          </a:solidFill>
          <a:ln w="12700">
            <a:solidFill>
              <a:srgbClr val="F28C28"/>
            </a:solidFill>
            <a:prstDash val="solid"/>
          </a:ln>
        </p:spPr>
      </p:sp>
      <p:pic>
        <p:nvPicPr>
          <p:cNvPr id="23" name="Image 2" descr="ExclamationTriangle icon">    </p:cNvPr>
          <p:cNvPicPr>
            <a:picLocks noChangeAspect="1"/>
          </p:cNvPicPr>
          <p:nvPr/>
        </p:nvPicPr>
        <p:blipFill>
          <a:blip r:embed="rId5"/>
          <a:stretch>
            <a:fillRect/>
          </a:stretch>
        </p:blipFill>
        <p:spPr>
          <a:xfrm>
            <a:off x="914400" y="4663440"/>
            <a:ext cx="274320" cy="274320"/>
          </a:xfrm>
          <a:prstGeom prst="rect">
            <a:avLst/>
          </a:prstGeom>
        </p:spPr>
      </p:pic>
      <p:sp>
        <p:nvSpPr>
          <p:cNvPr id="24" name="Text 18"/>
          <p:cNvSpPr txBox="1"/>
          <p:nvPr/>
        </p:nvSpPr>
        <p:spPr>
          <a:xfrm>
            <a:off x="1554480" y="4297680"/>
            <a:ext cx="5760720" cy="365760"/>
          </a:xfrm>
          <a:prstGeom prst="rect">
            <a:avLst/>
          </a:prstGeom>
          <a:noFill/>
          <a:ln/>
        </p:spPr>
        <p:txBody>
          <a:bodyPr wrap="square" lIns="0" tIns="0" rIns="0" bIns="0" rtlCol="0" anchor="t"/>
          <a:lstStyle/>
          <a:p>
            <a:pPr indent="0" marL="0">
              <a:buNone/>
            </a:pPr>
            <a:r>
              <a:rPr lang="en-US" sz="1700" b="1" dirty="0">
                <a:solidFill>
                  <a:srgbClr val="0B1F4B"/>
                </a:solidFill>
                <a:latin typeface="Calibri" pitchFamily="34" charset="0"/>
                <a:ea typeface="Calibri" pitchFamily="34" charset="-122"/>
                <a:cs typeface="Calibri" pitchFamily="34" charset="-120"/>
              </a:rPr>
              <a:t>28 incomes above ₹3,00,000</a:t>
            </a:r>
            <a:endParaRPr lang="en-US" sz="1700" dirty="0"/>
          </a:p>
        </p:txBody>
      </p:sp>
      <p:sp>
        <p:nvSpPr>
          <p:cNvPr id="25" name="Text 19"/>
          <p:cNvSpPr txBox="1"/>
          <p:nvPr/>
        </p:nvSpPr>
        <p:spPr>
          <a:xfrm>
            <a:off x="1554480" y="4709160"/>
            <a:ext cx="5760720" cy="685800"/>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25 are exact multiples of 12 (up to ₹16.56 lakh): likely annual figures typed as monthly. Divided by 12.</a:t>
            </a:r>
            <a:endParaRPr lang="en-US" sz="1300" dirty="0"/>
          </a:p>
        </p:txBody>
      </p:sp>
      <p:sp>
        <p:nvSpPr>
          <p:cNvPr id="26" name="card"/>
          <p:cNvSpPr/>
          <p:nvPr/>
        </p:nvSpPr>
        <p:spPr>
          <a:xfrm>
            <a:off x="7680960" y="1325880"/>
            <a:ext cx="3977640" cy="4160520"/>
          </a:xfrm>
          <a:prstGeom prst="roundRect">
            <a:avLst>
              <a:gd name="adj" fmla="val 2759"/>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27" name="Text 21"/>
          <p:cNvSpPr txBox="1"/>
          <p:nvPr/>
        </p:nvSpPr>
        <p:spPr>
          <a:xfrm>
            <a:off x="7909560" y="1463040"/>
            <a:ext cx="3566160" cy="365760"/>
          </a:xfrm>
          <a:prstGeom prst="rect">
            <a:avLst/>
          </a:prstGeom>
          <a:noFill/>
          <a:ln/>
        </p:spPr>
        <p:txBody>
          <a:bodyPr wrap="square" lIns="0" tIns="0" rIns="0" bIns="0" rtlCol="0" anchor="t"/>
          <a:lstStyle/>
          <a:p>
            <a:pPr indent="0" marL="0">
              <a:buNone/>
            </a:pPr>
            <a:r>
              <a:rPr lang="en-US" sz="1600" b="1" dirty="0">
                <a:solidFill>
                  <a:srgbClr val="0B1F4B"/>
                </a:solidFill>
                <a:latin typeface="Calibri" pitchFamily="34" charset="0"/>
                <a:ea typeface="Calibri" pitchFamily="34" charset="-122"/>
                <a:cs typeface="Calibri" pitchFamily="34" charset="-120"/>
              </a:rPr>
              <a:t>After cleaning</a:t>
            </a:r>
            <a:endParaRPr lang="en-US" sz="1600" dirty="0"/>
          </a:p>
        </p:txBody>
      </p:sp>
      <p:sp>
        <p:nvSpPr>
          <p:cNvPr id="28" name="Text 22"/>
          <p:cNvSpPr txBox="1"/>
          <p:nvPr/>
        </p:nvSpPr>
        <p:spPr>
          <a:xfrm>
            <a:off x="7909560" y="1920240"/>
            <a:ext cx="3566160" cy="502920"/>
          </a:xfrm>
          <a:prstGeom prst="rect">
            <a:avLst/>
          </a:prstGeom>
          <a:noFill/>
          <a:ln/>
        </p:spPr>
        <p:txBody>
          <a:bodyPr wrap="square" lIns="0" tIns="0" rIns="0" bIns="0" rtlCol="0" anchor="ctr"/>
          <a:lstStyle/>
          <a:p>
            <a:pPr indent="0" marL="0">
              <a:buNone/>
            </a:pPr>
            <a:r>
              <a:rPr lang="en-US" sz="2600" b="1" dirty="0">
                <a:solidFill>
                  <a:srgbClr val="0B1F4B"/>
                </a:solidFill>
                <a:latin typeface="Calibri" pitchFamily="34" charset="0"/>
                <a:ea typeface="Calibri" pitchFamily="34" charset="-122"/>
                <a:cs typeface="Calibri" pitchFamily="34" charset="-120"/>
              </a:rPr>
              <a:t>12,000 / 12,000</a:t>
            </a:r>
            <a:endParaRPr lang="en-US" sz="2600" dirty="0"/>
          </a:p>
        </p:txBody>
      </p:sp>
      <p:sp>
        <p:nvSpPr>
          <p:cNvPr id="29" name="Text 23"/>
          <p:cNvSpPr txBox="1"/>
          <p:nvPr/>
        </p:nvSpPr>
        <p:spPr>
          <a:xfrm>
            <a:off x="7909560" y="2423160"/>
            <a:ext cx="3566160" cy="365760"/>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rows retained</a:t>
            </a:r>
            <a:endParaRPr lang="en-US" sz="1300" dirty="0"/>
          </a:p>
        </p:txBody>
      </p:sp>
      <p:sp>
        <p:nvSpPr>
          <p:cNvPr id="30" name="Text 24"/>
          <p:cNvSpPr txBox="1"/>
          <p:nvPr/>
        </p:nvSpPr>
        <p:spPr>
          <a:xfrm>
            <a:off x="7909560" y="3108960"/>
            <a:ext cx="3566160" cy="502920"/>
          </a:xfrm>
          <a:prstGeom prst="rect">
            <a:avLst/>
          </a:prstGeom>
          <a:noFill/>
          <a:ln/>
        </p:spPr>
        <p:txBody>
          <a:bodyPr wrap="square" lIns="0" tIns="0" rIns="0" bIns="0" rtlCol="0" anchor="ctr"/>
          <a:lstStyle/>
          <a:p>
            <a:pPr indent="0" marL="0">
              <a:buNone/>
            </a:pPr>
            <a:r>
              <a:rPr lang="en-US" sz="2600" b="1" dirty="0">
                <a:solidFill>
                  <a:srgbClr val="2E9E5B"/>
                </a:solidFill>
                <a:latin typeface="Calibri" pitchFamily="34" charset="0"/>
                <a:ea typeface="Calibri" pitchFamily="34" charset="-122"/>
                <a:cs typeface="Calibri" pitchFamily="34" charset="-120"/>
              </a:rPr>
              <a:t>0</a:t>
            </a:r>
            <a:endParaRPr lang="en-US" sz="2600" dirty="0"/>
          </a:p>
        </p:txBody>
      </p:sp>
      <p:sp>
        <p:nvSpPr>
          <p:cNvPr id="31" name="Text 25"/>
          <p:cNvSpPr txBox="1"/>
          <p:nvPr/>
        </p:nvSpPr>
        <p:spPr>
          <a:xfrm>
            <a:off x="7909560" y="3611880"/>
            <a:ext cx="3566160" cy="365760"/>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missing monthly incomes</a:t>
            </a:r>
            <a:endParaRPr lang="en-US" sz="1300" dirty="0"/>
          </a:p>
        </p:txBody>
      </p:sp>
      <p:sp>
        <p:nvSpPr>
          <p:cNvPr id="32" name="Text 26"/>
          <p:cNvSpPr txBox="1"/>
          <p:nvPr/>
        </p:nvSpPr>
        <p:spPr>
          <a:xfrm>
            <a:off x="7909560" y="4297680"/>
            <a:ext cx="3566160" cy="502920"/>
          </a:xfrm>
          <a:prstGeom prst="rect">
            <a:avLst/>
          </a:prstGeom>
          <a:noFill/>
          <a:ln/>
        </p:spPr>
        <p:txBody>
          <a:bodyPr wrap="square" lIns="0" tIns="0" rIns="0" bIns="0" rtlCol="0" anchor="ctr"/>
          <a:lstStyle/>
          <a:p>
            <a:pPr indent="0" marL="0">
              <a:buNone/>
            </a:pPr>
            <a:r>
              <a:rPr lang="en-US" sz="2000" b="1" dirty="0">
                <a:solidFill>
                  <a:srgbClr val="F28C28"/>
                </a:solidFill>
                <a:latin typeface="Calibri" pitchFamily="34" charset="0"/>
                <a:ea typeface="Calibri" pitchFamily="34" charset="-122"/>
                <a:cs typeface="Calibri" pitchFamily="34" charset="-120"/>
              </a:rPr>
              <a:t>₹16.56 lakh → ₹3.49 lakh</a:t>
            </a:r>
            <a:endParaRPr lang="en-US" sz="2000" dirty="0"/>
          </a:p>
        </p:txBody>
      </p:sp>
      <p:sp>
        <p:nvSpPr>
          <p:cNvPr id="33" name="Text 27"/>
          <p:cNvSpPr txBox="1"/>
          <p:nvPr/>
        </p:nvSpPr>
        <p:spPr>
          <a:xfrm>
            <a:off x="7909560" y="4800600"/>
            <a:ext cx="3566160" cy="365760"/>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maximum monthly income</a:t>
            </a:r>
            <a:endParaRPr lang="en-US" sz="1300" dirty="0"/>
          </a:p>
        </p:txBody>
      </p:sp>
      <p:sp>
        <p:nvSpPr>
          <p:cNvPr id="34" name="note"/>
          <p:cNvSpPr/>
          <p:nvPr/>
        </p:nvSpPr>
        <p:spPr>
          <a:xfrm>
            <a:off x="548640" y="5623560"/>
            <a:ext cx="11109960" cy="594360"/>
          </a:xfrm>
          <a:prstGeom prst="roundRect">
            <a:avLst>
              <a:gd name="adj" fmla="val 18462"/>
            </a:avLst>
          </a:prstGeom>
          <a:solidFill>
            <a:srgbClr val="FFF1E0"/>
          </a:solidFill>
          <a:ln w="12700">
            <a:solidFill>
              <a:srgbClr val="F28C28"/>
            </a:solidFill>
            <a:prstDash val="solid"/>
          </a:ln>
        </p:spPr>
      </p:sp>
      <p:sp>
        <p:nvSpPr>
          <p:cNvPr id="35" name="iconCircle"/>
          <p:cNvSpPr/>
          <p:nvPr/>
        </p:nvSpPr>
        <p:spPr>
          <a:xfrm>
            <a:off x="731520" y="5692140"/>
            <a:ext cx="457200" cy="457200"/>
          </a:xfrm>
          <a:prstGeom prst="ellipse">
            <a:avLst/>
          </a:prstGeom>
          <a:solidFill>
            <a:srgbClr val="F28C28"/>
          </a:solidFill>
          <a:ln w="12700">
            <a:solidFill>
              <a:srgbClr val="F28C28"/>
            </a:solidFill>
            <a:prstDash val="solid"/>
          </a:ln>
        </p:spPr>
      </p:sp>
      <p:pic>
        <p:nvPicPr>
          <p:cNvPr id="36" name="Image 3" descr="Lightbulb icon">    </p:cNvPr>
          <p:cNvPicPr>
            <a:picLocks noChangeAspect="1"/>
          </p:cNvPicPr>
          <p:nvPr/>
        </p:nvPicPr>
        <p:blipFill>
          <a:blip r:embed="rId6"/>
          <a:stretch>
            <a:fillRect/>
          </a:stretch>
        </p:blipFill>
        <p:spPr>
          <a:xfrm>
            <a:off x="845820" y="5806440"/>
            <a:ext cx="228600" cy="228600"/>
          </a:xfrm>
          <a:prstGeom prst="rect">
            <a:avLst/>
          </a:prstGeom>
        </p:spPr>
      </p:pic>
      <p:sp>
        <p:nvSpPr>
          <p:cNvPr id="37" name="Text 30"/>
          <p:cNvSpPr txBox="1"/>
          <p:nvPr/>
        </p:nvSpPr>
        <p:spPr>
          <a:xfrm>
            <a:off x="1371600" y="5623560"/>
            <a:ext cx="10104120" cy="594360"/>
          </a:xfrm>
          <a:prstGeom prst="rect">
            <a:avLst/>
          </a:prstGeom>
          <a:noFill/>
          <a:ln/>
        </p:spPr>
        <p:txBody>
          <a:bodyPr wrap="square" lIns="0" tIns="0" rIns="0" bIns="0" rtlCol="0" anchor="ctr"/>
          <a:lstStyle/>
          <a:p>
            <a:pPr indent="0" marL="0">
              <a:buNone/>
            </a:pPr>
            <a:r>
              <a:rPr lang="en-US" sz="1400" b="1" dirty="0">
                <a:solidFill>
                  <a:srgbClr val="0B1F4B"/>
                </a:solidFill>
                <a:latin typeface="Calibri" pitchFamily="34" charset="0"/>
                <a:ea typeface="Calibri" pitchFamily="34" charset="-122"/>
                <a:cs typeface="Calibri" pitchFamily="34" charset="-120"/>
              </a:rPr>
              <a:t>Assumption (simulated data): those 25 values were divided by 12. In a real bank, verify against original records first.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052560" cy="777240"/>
          </a:xfrm>
          <a:prstGeom prst="rect">
            <a:avLst/>
          </a:prstGeom>
          <a:noFill/>
          <a:ln/>
        </p:spPr>
        <p:txBody>
          <a:bodyPr wrap="square" lIns="0" tIns="0" rIns="0" bIns="0" rtlCol="0" anchor="ctr"/>
          <a:lstStyle/>
          <a:p>
            <a:pPr algn="l" indent="0" marL="0">
              <a:buNone/>
            </a:pPr>
            <a:r>
              <a:rPr lang="en-US" sz="2800" b="1" dirty="0">
                <a:solidFill>
                  <a:srgbClr val="0B1F4B"/>
                </a:solidFill>
                <a:latin typeface="Calibri" pitchFamily="34" charset="0"/>
                <a:ea typeface="Calibri" pitchFamily="34" charset="-122"/>
                <a:cs typeface="Calibri" pitchFamily="34" charset="-120"/>
              </a:rPr>
              <a:t>Understanding Historical Approval Patterns — Step 5.2</a:t>
            </a:r>
            <a:endParaRPr lang="en-US" sz="2800" dirty="0"/>
          </a:p>
        </p:txBody>
      </p:sp>
      <p:sp>
        <p:nvSpPr>
          <p:cNvPr id="3" name="tag"/>
          <p:cNvSpPr/>
          <p:nvPr/>
        </p:nvSpPr>
        <p:spPr>
          <a:xfrm>
            <a:off x="9738360" y="457200"/>
            <a:ext cx="1920240" cy="365760"/>
          </a:xfrm>
          <a:prstGeom prst="roundRect">
            <a:avLst>
              <a:gd name="adj" fmla="val 50000"/>
            </a:avLst>
          </a:prstGeom>
          <a:solidFill>
            <a:srgbClr val="0B1F4B"/>
          </a:solidFill>
          <a:ln w="12700">
            <a:solidFill>
              <a:srgbClr val="0B1F4B"/>
            </a:solidFill>
            <a:prstDash val="solid"/>
          </a:ln>
        </p:spPr>
      </p:sp>
      <p:sp>
        <p:nvSpPr>
          <p:cNvPr id="4" name="Text 2"/>
          <p:cNvSpPr txBox="1"/>
          <p:nvPr/>
        </p:nvSpPr>
        <p:spPr>
          <a:xfrm>
            <a:off x="9738360" y="457200"/>
            <a:ext cx="1920240"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HISTORICAL OBSERVATION</a:t>
            </a:r>
            <a:endParaRPr lang="en-US" sz="1000" dirty="0"/>
          </a:p>
        </p:txBody>
      </p:sp>
      <p:sp>
        <p:nvSpPr>
          <p:cNvPr id="5" name="Text 3"/>
          <p:cNvSpPr txBox="1"/>
          <p:nvPr/>
        </p:nvSpPr>
        <p:spPr>
          <a:xfrm>
            <a:off x="8229600" y="6400800"/>
            <a:ext cx="1554480" cy="32004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6 / 20</a:t>
            </a:r>
            <a:endParaRPr lang="en-US" sz="1000" dirty="0"/>
          </a:p>
        </p:txBody>
      </p:sp>
      <p:sp>
        <p:nvSpPr>
          <p:cNvPr id="6" name="navButton"/>
          <p:cNvSpPr/>
          <p:nvPr/>
        </p:nvSpPr>
        <p:spPr>
          <a:xfrm>
            <a:off x="9921240" y="6419088"/>
            <a:ext cx="822960" cy="292608"/>
          </a:xfrm>
          <a:prstGeom prst="roundRect">
            <a:avLst>
              <a:gd name="adj" fmla="val 50000"/>
            </a:avLst>
          </a:prstGeom>
          <a:solidFill>
            <a:srgbClr val="FFFFFF"/>
          </a:solidFill>
          <a:ln w="12700">
            <a:solidFill>
              <a:srgbClr val="C9D3E3"/>
            </a:solidFill>
            <a:prstDash val="solid"/>
          </a:ln>
        </p:spPr>
      </p:sp>
      <p:sp>
        <p:nvSpPr>
          <p:cNvPr id="7" name="Text 5">
            <a:hlinkClick r:id="rId1" tooltip="Previous slide" action="ppaction://hlinksldjump"/>
          </p:cNvPr>
          <p:cNvSpPr txBox="1"/>
          <p:nvPr/>
        </p:nvSpPr>
        <p:spPr>
          <a:xfrm>
            <a:off x="99212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1" action="ppaction://hlinksldjump" tooltip="Previous slide">
                  <a:extLst>
                    <a:ext uri="{A12FA001-AC4F-418D-AE19-62706E023703}">
                      <ahyp:hlinkClr xmlns:ahyp="http://schemas.microsoft.com/office/drawing/2018/hyperlinkcolor" val="tx"/>
                    </a:ext>
                  </a:extLst>
                </a:hlinkClick>
              </a:rPr>
              <a:t>‹ Prev</a:t>
            </a:r>
            <a:endParaRPr lang="en-US" sz="1000" dirty="0"/>
          </a:p>
        </p:txBody>
      </p:sp>
      <p:sp>
        <p:nvSpPr>
          <p:cNvPr id="8" name="navButton"/>
          <p:cNvSpPr/>
          <p:nvPr/>
        </p:nvSpPr>
        <p:spPr>
          <a:xfrm>
            <a:off x="10835640" y="6419088"/>
            <a:ext cx="822960" cy="292608"/>
          </a:xfrm>
          <a:prstGeom prst="roundRect">
            <a:avLst>
              <a:gd name="adj" fmla="val 50000"/>
            </a:avLst>
          </a:prstGeom>
          <a:solidFill>
            <a:srgbClr val="FFFFFF"/>
          </a:solidFill>
          <a:ln w="12700">
            <a:solidFill>
              <a:srgbClr val="C9D3E3"/>
            </a:solidFill>
            <a:prstDash val="solid"/>
          </a:ln>
        </p:spPr>
      </p:sp>
      <p:sp>
        <p:nvSpPr>
          <p:cNvPr id="9" name="Text 7">
            <a:hlinkClick r:id="rId2" tooltip="Next slide" action="ppaction://hlinksldjump"/>
          </p:cNvPr>
          <p:cNvSpPr txBox="1"/>
          <p:nvPr/>
        </p:nvSpPr>
        <p:spPr>
          <a:xfrm>
            <a:off x="108356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2" action="ppaction://hlinksldjump" tooltip="Next slide">
                  <a:extLst>
                    <a:ext uri="{A12FA001-AC4F-418D-AE19-62706E023703}">
                      <ahyp:hlinkClr xmlns:ahyp="http://schemas.microsoft.com/office/drawing/2018/hyperlinkcolor" val="tx"/>
                    </a:ext>
                  </a:extLst>
                </a:hlinkClick>
              </a:rPr>
              <a:t>Next ›</a:t>
            </a:r>
            <a:endParaRPr lang="en-US" sz="1000" dirty="0"/>
          </a:p>
        </p:txBody>
      </p:sp>
      <p:sp>
        <p:nvSpPr>
          <p:cNvPr id="11" name="card"/>
          <p:cNvSpPr/>
          <p:nvPr/>
        </p:nvSpPr>
        <p:spPr>
          <a:xfrm>
            <a:off x="548640" y="1325880"/>
            <a:ext cx="6675120" cy="3611880"/>
          </a:xfrm>
          <a:prstGeom prst="roundRect">
            <a:avLst>
              <a:gd name="adj" fmla="val 3038"/>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2" name="card"/>
          <p:cNvSpPr/>
          <p:nvPr/>
        </p:nvSpPr>
        <p:spPr>
          <a:xfrm>
            <a:off x="7360920" y="1325880"/>
            <a:ext cx="4297680" cy="3611880"/>
          </a:xfrm>
          <a:prstGeom prst="roundRect">
            <a:avLst>
              <a:gd name="adj" fmla="val 3038"/>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graphicFrame>
        <p:nvGraphicFramePr>
          <p:cNvPr id="13" name="Chart 0" descr=""/>
          <p:cNvGraphicFramePr/>
          <p:nvPr/>
        </p:nvGraphicFramePr>
        <p:xfrm>
          <a:off x="640080" y="1417320"/>
          <a:ext cx="6492240" cy="3429000"/>
        </p:xfrm>
        <a:graphic xmlns:a="http://schemas.openxmlformats.org/drawingml/2006/main">
          <a:graphicData uri="http://schemas.openxmlformats.org/drawingml/2006/chart">
            <c:chart xmlns:c="http://schemas.openxmlformats.org/drawingml/2006/chart" r:id="rId3"/>
          </a:graphicData>
        </a:graphic>
      </p:graphicFrame>
      <p:graphicFrame>
        <p:nvGraphicFramePr>
          <p:cNvPr id="14" name="Chart 1" descr=""/>
          <p:cNvGraphicFramePr/>
          <p:nvPr/>
        </p:nvGraphicFramePr>
        <p:xfrm>
          <a:off x="7452360" y="1417320"/>
          <a:ext cx="4114800" cy="3429000"/>
        </p:xfrm>
        <a:graphic xmlns:a="http://schemas.openxmlformats.org/drawingml/2006/main">
          <a:graphicData uri="http://schemas.openxmlformats.org/drawingml/2006/chart">
            <c:chart xmlns:c="http://schemas.openxmlformats.org/drawingml/2006/chart" r:id="rId4"/>
          </a:graphicData>
        </a:graphic>
      </p:graphicFrame>
      <p:sp>
        <p:nvSpPr>
          <p:cNvPr id="15" name="note"/>
          <p:cNvSpPr/>
          <p:nvPr/>
        </p:nvSpPr>
        <p:spPr>
          <a:xfrm>
            <a:off x="548640" y="5120640"/>
            <a:ext cx="5486400" cy="1097280"/>
          </a:xfrm>
          <a:prstGeom prst="roundRect">
            <a:avLst>
              <a:gd name="adj" fmla="val 10000"/>
            </a:avLst>
          </a:prstGeom>
          <a:solidFill>
            <a:srgbClr val="FFF1E0"/>
          </a:solidFill>
          <a:ln w="12700">
            <a:solidFill>
              <a:srgbClr val="F28C28"/>
            </a:solidFill>
            <a:prstDash val="solid"/>
          </a:ln>
        </p:spPr>
      </p:sp>
      <p:sp>
        <p:nvSpPr>
          <p:cNvPr id="16" name="iconCircle"/>
          <p:cNvSpPr/>
          <p:nvPr/>
        </p:nvSpPr>
        <p:spPr>
          <a:xfrm>
            <a:off x="731520" y="5440680"/>
            <a:ext cx="457200" cy="457200"/>
          </a:xfrm>
          <a:prstGeom prst="ellipse">
            <a:avLst/>
          </a:prstGeom>
          <a:solidFill>
            <a:srgbClr val="F28C28"/>
          </a:solidFill>
          <a:ln w="12700">
            <a:solidFill>
              <a:srgbClr val="F28C28"/>
            </a:solidFill>
            <a:prstDash val="solid"/>
          </a:ln>
        </p:spPr>
      </p:sp>
      <p:pic>
        <p:nvPicPr>
          <p:cNvPr id="17" name="Image 0" descr="ExclamationTriangle icon">    </p:cNvPr>
          <p:cNvPicPr>
            <a:picLocks noChangeAspect="1"/>
          </p:cNvPicPr>
          <p:nvPr/>
        </p:nvPicPr>
        <p:blipFill>
          <a:blip r:embed="rId5"/>
          <a:stretch>
            <a:fillRect/>
          </a:stretch>
        </p:blipFill>
        <p:spPr>
          <a:xfrm>
            <a:off x="845820" y="5554980"/>
            <a:ext cx="228600" cy="228600"/>
          </a:xfrm>
          <a:prstGeom prst="rect">
            <a:avLst/>
          </a:prstGeom>
        </p:spPr>
      </p:pic>
      <p:sp>
        <p:nvSpPr>
          <p:cNvPr id="18" name="Text 12"/>
          <p:cNvSpPr txBox="1"/>
          <p:nvPr/>
        </p:nvSpPr>
        <p:spPr>
          <a:xfrm>
            <a:off x="1371600" y="5120640"/>
            <a:ext cx="4480560" cy="1097280"/>
          </a:xfrm>
          <a:prstGeom prst="rect">
            <a:avLst/>
          </a:prstGeom>
          <a:noFill/>
          <a:ln/>
        </p:spPr>
        <p:txBody>
          <a:bodyPr wrap="square" lIns="0" tIns="0" rIns="0" bIns="0" rtlCol="0" anchor="ctr"/>
          <a:lstStyle/>
          <a:p>
            <a:pPr indent="0" marL="0">
              <a:buNone/>
            </a:pPr>
            <a:r>
              <a:rPr lang="en-US" sz="1400" b="1" dirty="0">
                <a:solidFill>
                  <a:srgbClr val="0B1F4B"/>
                </a:solidFill>
                <a:latin typeface="Calibri" pitchFamily="34" charset="0"/>
                <a:ea typeface="Calibri" pitchFamily="34" charset="-122"/>
                <a:cs typeface="Calibri" pitchFamily="34" charset="-120"/>
              </a:rPr>
              <a:t>Scores below 650 are almost never approved (2.0% and 3.2%): an unwritten minimum score.</a:t>
            </a:r>
            <a:endParaRPr lang="en-US" sz="1400" dirty="0"/>
          </a:p>
        </p:txBody>
      </p:sp>
      <p:sp>
        <p:nvSpPr>
          <p:cNvPr id="19" name="note"/>
          <p:cNvSpPr/>
          <p:nvPr/>
        </p:nvSpPr>
        <p:spPr>
          <a:xfrm>
            <a:off x="6172200" y="5120640"/>
            <a:ext cx="5486400" cy="1097280"/>
          </a:xfrm>
          <a:prstGeom prst="roundRect">
            <a:avLst>
              <a:gd name="adj" fmla="val 10000"/>
            </a:avLst>
          </a:prstGeom>
          <a:solidFill>
            <a:srgbClr val="DFF4F4"/>
          </a:solidFill>
          <a:ln w="12700">
            <a:solidFill>
              <a:srgbClr val="00A6A6"/>
            </a:solidFill>
            <a:prstDash val="solid"/>
          </a:ln>
        </p:spPr>
      </p:sp>
      <p:sp>
        <p:nvSpPr>
          <p:cNvPr id="20" name="iconCircle"/>
          <p:cNvSpPr/>
          <p:nvPr/>
        </p:nvSpPr>
        <p:spPr>
          <a:xfrm>
            <a:off x="6355080" y="5440680"/>
            <a:ext cx="457200" cy="457200"/>
          </a:xfrm>
          <a:prstGeom prst="ellipse">
            <a:avLst/>
          </a:prstGeom>
          <a:solidFill>
            <a:srgbClr val="00A6A6"/>
          </a:solidFill>
          <a:ln w="12700">
            <a:solidFill>
              <a:srgbClr val="00A6A6"/>
            </a:solidFill>
            <a:prstDash val="solid"/>
          </a:ln>
        </p:spPr>
      </p:sp>
      <p:pic>
        <p:nvPicPr>
          <p:cNvPr id="21" name="Image 1" descr="CheckCircle icon">    </p:cNvPr>
          <p:cNvPicPr>
            <a:picLocks noChangeAspect="1"/>
          </p:cNvPicPr>
          <p:nvPr/>
        </p:nvPicPr>
        <p:blipFill>
          <a:blip r:embed="rId6"/>
          <a:stretch>
            <a:fillRect/>
          </a:stretch>
        </p:blipFill>
        <p:spPr>
          <a:xfrm>
            <a:off x="6469380" y="5554980"/>
            <a:ext cx="228600" cy="228600"/>
          </a:xfrm>
          <a:prstGeom prst="rect">
            <a:avLst/>
          </a:prstGeom>
        </p:spPr>
      </p:pic>
      <p:sp>
        <p:nvSpPr>
          <p:cNvPr id="22" name="Text 15"/>
          <p:cNvSpPr txBox="1"/>
          <p:nvPr/>
        </p:nvSpPr>
        <p:spPr>
          <a:xfrm>
            <a:off x="6995160" y="5120640"/>
            <a:ext cx="4480560" cy="1097280"/>
          </a:xfrm>
          <a:prstGeom prst="rect">
            <a:avLst/>
          </a:prstGeom>
          <a:noFill/>
          <a:ln/>
        </p:spPr>
        <p:txBody>
          <a:bodyPr wrap="square" lIns="0" tIns="0" rIns="0" bIns="0" rtlCol="0" anchor="ctr"/>
          <a:lstStyle/>
          <a:p>
            <a:pPr indent="0" marL="0">
              <a:buNone/>
            </a:pPr>
            <a:r>
              <a:rPr lang="en-US" sz="1400" b="1" dirty="0">
                <a:solidFill>
                  <a:srgbClr val="0B1F4B"/>
                </a:solidFill>
                <a:latin typeface="Calibri" pitchFamily="34" charset="0"/>
                <a:ea typeface="Calibri" pitchFamily="34" charset="-122"/>
                <a:cs typeface="Calibri" pitchFamily="34" charset="-120"/>
              </a:rPr>
              <a:t>No score is not a bad score: 53.9% approved. Gig / Contract workers: 34.9% vs Salaried 58.4% (association, not proof).</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052560" cy="777240"/>
          </a:xfrm>
          <a:prstGeom prst="rect">
            <a:avLst/>
          </a:prstGeom>
          <a:noFill/>
          <a:ln/>
        </p:spPr>
        <p:txBody>
          <a:bodyPr wrap="square" lIns="0" tIns="0" rIns="0" bIns="0" rtlCol="0" anchor="ctr"/>
          <a:lstStyle/>
          <a:p>
            <a:pPr algn="l" indent="0" marL="0">
              <a:buNone/>
            </a:pPr>
            <a:r>
              <a:rPr lang="en-US" sz="2800" b="1" dirty="0">
                <a:solidFill>
                  <a:srgbClr val="0B1F4B"/>
                </a:solidFill>
                <a:latin typeface="Calibri" pitchFamily="34" charset="0"/>
                <a:ea typeface="Calibri" pitchFamily="34" charset="-122"/>
                <a:cs typeface="Calibri" pitchFamily="34" charset="-120"/>
              </a:rPr>
              <a:t>Feature Engineering — Step 5.3</a:t>
            </a:r>
            <a:endParaRPr lang="en-US" sz="2800" dirty="0"/>
          </a:p>
        </p:txBody>
      </p:sp>
      <p:sp>
        <p:nvSpPr>
          <p:cNvPr id="3" name="tag"/>
          <p:cNvSpPr/>
          <p:nvPr/>
        </p:nvSpPr>
        <p:spPr>
          <a:xfrm>
            <a:off x="9738360" y="457200"/>
            <a:ext cx="1920240" cy="365760"/>
          </a:xfrm>
          <a:prstGeom prst="roundRect">
            <a:avLst>
              <a:gd name="adj" fmla="val 50000"/>
            </a:avLst>
          </a:prstGeom>
          <a:solidFill>
            <a:srgbClr val="0B1F4B"/>
          </a:solidFill>
          <a:ln w="12700">
            <a:solidFill>
              <a:srgbClr val="0B1F4B"/>
            </a:solidFill>
            <a:prstDash val="solid"/>
          </a:ln>
        </p:spPr>
      </p:sp>
      <p:sp>
        <p:nvSpPr>
          <p:cNvPr id="4" name="Text 2"/>
          <p:cNvSpPr txBox="1"/>
          <p:nvPr/>
        </p:nvSpPr>
        <p:spPr>
          <a:xfrm>
            <a:off x="9738360" y="457200"/>
            <a:ext cx="1920240"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HISTORICAL OBSERVATION</a:t>
            </a:r>
            <a:endParaRPr lang="en-US" sz="1000" dirty="0"/>
          </a:p>
        </p:txBody>
      </p:sp>
      <p:sp>
        <p:nvSpPr>
          <p:cNvPr id="5" name="Text 3"/>
          <p:cNvSpPr txBox="1"/>
          <p:nvPr/>
        </p:nvSpPr>
        <p:spPr>
          <a:xfrm>
            <a:off x="8229600" y="6400800"/>
            <a:ext cx="1554480" cy="32004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7 / 20</a:t>
            </a:r>
            <a:endParaRPr lang="en-US" sz="1000" dirty="0"/>
          </a:p>
        </p:txBody>
      </p:sp>
      <p:sp>
        <p:nvSpPr>
          <p:cNvPr id="6" name="navButton"/>
          <p:cNvSpPr/>
          <p:nvPr/>
        </p:nvSpPr>
        <p:spPr>
          <a:xfrm>
            <a:off x="9921240" y="6419088"/>
            <a:ext cx="822960" cy="292608"/>
          </a:xfrm>
          <a:prstGeom prst="roundRect">
            <a:avLst>
              <a:gd name="adj" fmla="val 50000"/>
            </a:avLst>
          </a:prstGeom>
          <a:solidFill>
            <a:srgbClr val="FFFFFF"/>
          </a:solidFill>
          <a:ln w="12700">
            <a:solidFill>
              <a:srgbClr val="C9D3E3"/>
            </a:solidFill>
            <a:prstDash val="solid"/>
          </a:ln>
        </p:spPr>
      </p:sp>
      <p:sp>
        <p:nvSpPr>
          <p:cNvPr id="7" name="Text 5">
            <a:hlinkClick r:id="rId1" tooltip="Previous slide" action="ppaction://hlinksldjump"/>
          </p:cNvPr>
          <p:cNvSpPr txBox="1"/>
          <p:nvPr/>
        </p:nvSpPr>
        <p:spPr>
          <a:xfrm>
            <a:off x="99212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1" action="ppaction://hlinksldjump" tooltip="Previous slide">
                  <a:extLst>
                    <a:ext uri="{A12FA001-AC4F-418D-AE19-62706E023703}">
                      <ahyp:hlinkClr xmlns:ahyp="http://schemas.microsoft.com/office/drawing/2018/hyperlinkcolor" val="tx"/>
                    </a:ext>
                  </a:extLst>
                </a:hlinkClick>
              </a:rPr>
              <a:t>‹ Prev</a:t>
            </a:r>
            <a:endParaRPr lang="en-US" sz="1000" dirty="0"/>
          </a:p>
        </p:txBody>
      </p:sp>
      <p:sp>
        <p:nvSpPr>
          <p:cNvPr id="8" name="navButton"/>
          <p:cNvSpPr/>
          <p:nvPr/>
        </p:nvSpPr>
        <p:spPr>
          <a:xfrm>
            <a:off x="10835640" y="6419088"/>
            <a:ext cx="822960" cy="292608"/>
          </a:xfrm>
          <a:prstGeom prst="roundRect">
            <a:avLst>
              <a:gd name="adj" fmla="val 50000"/>
            </a:avLst>
          </a:prstGeom>
          <a:solidFill>
            <a:srgbClr val="FFFFFF"/>
          </a:solidFill>
          <a:ln w="12700">
            <a:solidFill>
              <a:srgbClr val="C9D3E3"/>
            </a:solidFill>
            <a:prstDash val="solid"/>
          </a:ln>
        </p:spPr>
      </p:sp>
      <p:sp>
        <p:nvSpPr>
          <p:cNvPr id="9" name="Text 7">
            <a:hlinkClick r:id="rId2" tooltip="Next slide" action="ppaction://hlinksldjump"/>
          </p:cNvPr>
          <p:cNvSpPr txBox="1"/>
          <p:nvPr/>
        </p:nvSpPr>
        <p:spPr>
          <a:xfrm>
            <a:off x="108356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2" action="ppaction://hlinksldjump" tooltip="Next slide">
                  <a:extLst>
                    <a:ext uri="{A12FA001-AC4F-418D-AE19-62706E023703}">
                      <ahyp:hlinkClr xmlns:ahyp="http://schemas.microsoft.com/office/drawing/2018/hyperlinkcolor" val="tx"/>
                    </a:ext>
                  </a:extLst>
                </a:hlinkClick>
              </a:rPr>
              <a:t>Next ›</a:t>
            </a:r>
            <a:endParaRPr lang="en-US" sz="1000" dirty="0"/>
          </a:p>
        </p:txBody>
      </p:sp>
      <p:sp>
        <p:nvSpPr>
          <p:cNvPr id="11" name="formula"/>
          <p:cNvSpPr/>
          <p:nvPr/>
        </p:nvSpPr>
        <p:spPr>
          <a:xfrm>
            <a:off x="548640" y="1325880"/>
            <a:ext cx="4480560" cy="1371600"/>
          </a:xfrm>
          <a:prstGeom prst="roundRect">
            <a:avLst>
              <a:gd name="adj" fmla="val 8000"/>
            </a:avLst>
          </a:prstGeom>
          <a:solidFill>
            <a:srgbClr val="0B1F4B"/>
          </a:solidFill>
          <a:ln w="6350">
            <a:solidFill>
              <a:srgbClr val="0B1F4B"/>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777240" y="1417320"/>
            <a:ext cx="4023360" cy="365760"/>
          </a:xfrm>
          <a:prstGeom prst="rect">
            <a:avLst/>
          </a:prstGeom>
          <a:noFill/>
          <a:ln/>
        </p:spPr>
        <p:txBody>
          <a:bodyPr wrap="square" lIns="0" tIns="0" rIns="0" bIns="0" rtlCol="0" anchor="t"/>
          <a:lstStyle/>
          <a:p>
            <a:pPr indent="0" marL="0">
              <a:buNone/>
            </a:pPr>
            <a:r>
              <a:rPr lang="en-US" sz="1500" b="1" dirty="0">
                <a:solidFill>
                  <a:srgbClr val="7FE0E0"/>
                </a:solidFill>
                <a:latin typeface="Calibri" pitchFamily="34" charset="0"/>
                <a:ea typeface="Calibri" pitchFamily="34" charset="-122"/>
                <a:cs typeface="Calibri" pitchFamily="34" charset="-120"/>
              </a:rPr>
              <a:t>FOIR</a:t>
            </a:r>
            <a:endParaRPr lang="en-US" sz="1500" dirty="0"/>
          </a:p>
        </p:txBody>
      </p:sp>
      <p:sp>
        <p:nvSpPr>
          <p:cNvPr id="13" name="Text 10"/>
          <p:cNvSpPr txBox="1"/>
          <p:nvPr/>
        </p:nvSpPr>
        <p:spPr>
          <a:xfrm>
            <a:off x="777240" y="1783080"/>
            <a:ext cx="4023360" cy="8229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(Existing EMI + Proposed EMI) ÷ Monthly Income</a:t>
            </a:r>
            <a:endParaRPr lang="en-US" sz="1700" dirty="0"/>
          </a:p>
        </p:txBody>
      </p:sp>
      <p:sp>
        <p:nvSpPr>
          <p:cNvPr id="14" name="card"/>
          <p:cNvSpPr/>
          <p:nvPr/>
        </p:nvSpPr>
        <p:spPr>
          <a:xfrm>
            <a:off x="548640" y="2816352"/>
            <a:ext cx="4480560" cy="1280160"/>
          </a:xfrm>
          <a:prstGeom prst="roundRect">
            <a:avLst>
              <a:gd name="adj" fmla="val 8571"/>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5" name="Text 12"/>
          <p:cNvSpPr txBox="1"/>
          <p:nvPr/>
        </p:nvSpPr>
        <p:spPr>
          <a:xfrm>
            <a:off x="777240" y="2907792"/>
            <a:ext cx="4023360" cy="365760"/>
          </a:xfrm>
          <a:prstGeom prst="rect">
            <a:avLst/>
          </a:prstGeom>
          <a:noFill/>
          <a:ln/>
        </p:spPr>
        <p:txBody>
          <a:bodyPr wrap="square" lIns="0" tIns="0" rIns="0" bIns="0" rtlCol="0" anchor="t"/>
          <a:lstStyle/>
          <a:p>
            <a:pPr indent="0" marL="0">
              <a:buNone/>
            </a:pPr>
            <a:r>
              <a:rPr lang="en-US" sz="1500" b="1" dirty="0">
                <a:solidFill>
                  <a:srgbClr val="00A6A6"/>
                </a:solidFill>
                <a:latin typeface="Calibri" pitchFamily="34" charset="0"/>
                <a:ea typeface="Calibri" pitchFamily="34" charset="-122"/>
                <a:cs typeface="Calibri" pitchFamily="34" charset="-120"/>
              </a:rPr>
              <a:t>Loan-to-Income</a:t>
            </a:r>
            <a:endParaRPr lang="en-US" sz="1500" dirty="0"/>
          </a:p>
        </p:txBody>
      </p:sp>
      <p:sp>
        <p:nvSpPr>
          <p:cNvPr id="16" name="Text 13"/>
          <p:cNvSpPr txBox="1"/>
          <p:nvPr/>
        </p:nvSpPr>
        <p:spPr>
          <a:xfrm>
            <a:off x="777240" y="3291840"/>
            <a:ext cx="4023360" cy="731520"/>
          </a:xfrm>
          <a:prstGeom prst="rect">
            <a:avLst/>
          </a:prstGeom>
          <a:noFill/>
          <a:ln/>
        </p:spPr>
        <p:txBody>
          <a:bodyPr wrap="square" lIns="0" tIns="0" rIns="0" bIns="0" rtlCol="0" anchor="t"/>
          <a:lstStyle/>
          <a:p>
            <a:pPr indent="0" marL="0">
              <a:buNone/>
            </a:pPr>
            <a:r>
              <a:rPr lang="en-US" sz="1500" b="1" dirty="0">
                <a:solidFill>
                  <a:srgbClr val="0B1F4B"/>
                </a:solidFill>
                <a:latin typeface="Calibri" pitchFamily="34" charset="0"/>
                <a:ea typeface="Calibri" pitchFamily="34" charset="-122"/>
                <a:cs typeface="Calibri" pitchFamily="34" charset="-120"/>
              </a:rPr>
              <a:t>Loan Amount ÷ (Monthly Income × 12)</a:t>
            </a:r>
            <a:endParaRPr lang="en-US" sz="1500" dirty="0"/>
          </a:p>
        </p:txBody>
      </p:sp>
      <p:sp>
        <p:nvSpPr>
          <p:cNvPr id="17" name="card"/>
          <p:cNvSpPr/>
          <p:nvPr/>
        </p:nvSpPr>
        <p:spPr>
          <a:xfrm>
            <a:off x="548640" y="4215384"/>
            <a:ext cx="4480560" cy="1280160"/>
          </a:xfrm>
          <a:prstGeom prst="roundRect">
            <a:avLst>
              <a:gd name="adj" fmla="val 8571"/>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8" name="Text 15"/>
          <p:cNvSpPr txBox="1"/>
          <p:nvPr/>
        </p:nvSpPr>
        <p:spPr>
          <a:xfrm>
            <a:off x="777240" y="4306824"/>
            <a:ext cx="4023360" cy="365760"/>
          </a:xfrm>
          <a:prstGeom prst="rect">
            <a:avLst/>
          </a:prstGeom>
          <a:noFill/>
          <a:ln/>
        </p:spPr>
        <p:txBody>
          <a:bodyPr wrap="square" lIns="0" tIns="0" rIns="0" bIns="0" rtlCol="0" anchor="t"/>
          <a:lstStyle/>
          <a:p>
            <a:pPr indent="0" marL="0">
              <a:buNone/>
            </a:pPr>
            <a:r>
              <a:rPr lang="en-US" sz="1500" b="1" dirty="0">
                <a:solidFill>
                  <a:srgbClr val="6C4AB6"/>
                </a:solidFill>
                <a:latin typeface="Calibri" pitchFamily="34" charset="0"/>
                <a:ea typeface="Calibri" pitchFamily="34" charset="-122"/>
                <a:cs typeface="Calibri" pitchFamily="34" charset="-120"/>
              </a:rPr>
              <a:t>is_ntc</a:t>
            </a:r>
            <a:endParaRPr lang="en-US" sz="1500" dirty="0"/>
          </a:p>
        </p:txBody>
      </p:sp>
      <p:sp>
        <p:nvSpPr>
          <p:cNvPr id="19" name="Text 16"/>
          <p:cNvSpPr txBox="1"/>
          <p:nvPr/>
        </p:nvSpPr>
        <p:spPr>
          <a:xfrm>
            <a:off x="777240" y="4690872"/>
            <a:ext cx="4023360" cy="731520"/>
          </a:xfrm>
          <a:prstGeom prst="rect">
            <a:avLst/>
          </a:prstGeom>
          <a:noFill/>
          <a:ln/>
        </p:spPr>
        <p:txBody>
          <a:bodyPr wrap="square" lIns="0" tIns="0" rIns="0" bIns="0" rtlCol="0" anchor="t"/>
          <a:lstStyle/>
          <a:p>
            <a:pPr indent="0" marL="0">
              <a:buNone/>
            </a:pPr>
            <a:r>
              <a:rPr lang="en-US" sz="1500" b="1" dirty="0">
                <a:solidFill>
                  <a:srgbClr val="0B1F4B"/>
                </a:solidFill>
                <a:latin typeface="Calibri" pitchFamily="34" charset="0"/>
                <a:ea typeface="Calibri" pitchFamily="34" charset="-122"/>
                <a:cs typeface="Calibri" pitchFamily="34" charset="-120"/>
              </a:rPr>
              <a:t>1 if the applicant has no credit score, otherwise 0</a:t>
            </a:r>
            <a:endParaRPr lang="en-US" sz="1500" dirty="0"/>
          </a:p>
        </p:txBody>
      </p:sp>
      <p:sp>
        <p:nvSpPr>
          <p:cNvPr id="20" name="card"/>
          <p:cNvSpPr/>
          <p:nvPr/>
        </p:nvSpPr>
        <p:spPr>
          <a:xfrm>
            <a:off x="5212080" y="1325880"/>
            <a:ext cx="6446520" cy="4169664"/>
          </a:xfrm>
          <a:prstGeom prst="roundRect">
            <a:avLst>
              <a:gd name="adj" fmla="val 2632"/>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graphicFrame>
        <p:nvGraphicFramePr>
          <p:cNvPr id="21" name="Chart 0" descr=""/>
          <p:cNvGraphicFramePr/>
          <p:nvPr/>
        </p:nvGraphicFramePr>
        <p:xfrm>
          <a:off x="5303520" y="1417320"/>
          <a:ext cx="6263640" cy="3986784"/>
        </p:xfrm>
        <a:graphic xmlns:a="http://schemas.openxmlformats.org/drawingml/2006/main">
          <a:graphicData uri="http://schemas.openxmlformats.org/drawingml/2006/chart">
            <c:chart xmlns:c="http://schemas.openxmlformats.org/drawingml/2006/chart" r:id="rId3"/>
          </a:graphicData>
        </a:graphic>
      </p:graphicFrame>
      <p:sp>
        <p:nvSpPr>
          <p:cNvPr id="22" name="note"/>
          <p:cNvSpPr/>
          <p:nvPr/>
        </p:nvSpPr>
        <p:spPr>
          <a:xfrm>
            <a:off x="548640" y="5623560"/>
            <a:ext cx="11109960" cy="594360"/>
          </a:xfrm>
          <a:prstGeom prst="roundRect">
            <a:avLst>
              <a:gd name="adj" fmla="val 18462"/>
            </a:avLst>
          </a:prstGeom>
          <a:solidFill>
            <a:srgbClr val="FFF1E0"/>
          </a:solidFill>
          <a:ln w="12700">
            <a:solidFill>
              <a:srgbClr val="F28C28"/>
            </a:solidFill>
            <a:prstDash val="solid"/>
          </a:ln>
        </p:spPr>
      </p:sp>
      <p:sp>
        <p:nvSpPr>
          <p:cNvPr id="23" name="iconCircle"/>
          <p:cNvSpPr/>
          <p:nvPr/>
        </p:nvSpPr>
        <p:spPr>
          <a:xfrm>
            <a:off x="731520" y="5692140"/>
            <a:ext cx="457200" cy="457200"/>
          </a:xfrm>
          <a:prstGeom prst="ellipse">
            <a:avLst/>
          </a:prstGeom>
          <a:solidFill>
            <a:srgbClr val="F28C28"/>
          </a:solidFill>
          <a:ln w="12700">
            <a:solidFill>
              <a:srgbClr val="F28C28"/>
            </a:solidFill>
            <a:prstDash val="solid"/>
          </a:ln>
        </p:spPr>
      </p:sp>
      <p:pic>
        <p:nvPicPr>
          <p:cNvPr id="24" name="Image 0" descr="Lightbulb icon">    </p:cNvPr>
          <p:cNvPicPr>
            <a:picLocks noChangeAspect="1"/>
          </p:cNvPicPr>
          <p:nvPr/>
        </p:nvPicPr>
        <p:blipFill>
          <a:blip r:embed="rId4"/>
          <a:stretch>
            <a:fillRect/>
          </a:stretch>
        </p:blipFill>
        <p:spPr>
          <a:xfrm>
            <a:off x="845820" y="5806440"/>
            <a:ext cx="228600" cy="228600"/>
          </a:xfrm>
          <a:prstGeom prst="rect">
            <a:avLst/>
          </a:prstGeom>
        </p:spPr>
      </p:pic>
      <p:sp>
        <p:nvSpPr>
          <p:cNvPr id="25" name="Text 20"/>
          <p:cNvSpPr txBox="1"/>
          <p:nvPr/>
        </p:nvSpPr>
        <p:spPr>
          <a:xfrm>
            <a:off x="1371600" y="5623560"/>
            <a:ext cx="10104120" cy="594360"/>
          </a:xfrm>
          <a:prstGeom prst="rect">
            <a:avLst/>
          </a:prstGeom>
          <a:noFill/>
          <a:ln/>
        </p:spPr>
        <p:txBody>
          <a:bodyPr wrap="square" lIns="0" tIns="0" rIns="0" bIns="0" rtlCol="0" anchor="ctr"/>
          <a:lstStyle/>
          <a:p>
            <a:pPr indent="0" marL="0">
              <a:buNone/>
            </a:pPr>
            <a:r>
              <a:rPr lang="en-US" sz="1400" b="1" dirty="0">
                <a:solidFill>
                  <a:srgbClr val="0B1F4B"/>
                </a:solidFill>
                <a:latin typeface="Calibri" pitchFamily="34" charset="0"/>
                <a:ea typeface="Calibri" pitchFamily="34" charset="-122"/>
                <a:cs typeface="Calibri" pitchFamily="34" charset="-120"/>
              </a:rPr>
              <a:t>Proposed starting policy: 50% FOIR limit, with extra checks above it, not automatic rejection.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052560" cy="777240"/>
          </a:xfrm>
          <a:prstGeom prst="rect">
            <a:avLst/>
          </a:prstGeom>
          <a:noFill/>
          <a:ln/>
        </p:spPr>
        <p:txBody>
          <a:bodyPr wrap="square" lIns="0" tIns="0" rIns="0" bIns="0" rtlCol="0" anchor="ctr"/>
          <a:lstStyle/>
          <a:p>
            <a:pPr algn="l" indent="0" marL="0">
              <a:buNone/>
            </a:pPr>
            <a:r>
              <a:rPr lang="en-US" sz="2800" b="1" dirty="0">
                <a:solidFill>
                  <a:srgbClr val="0B1F4B"/>
                </a:solidFill>
                <a:latin typeface="Calibri" pitchFamily="34" charset="0"/>
                <a:ea typeface="Calibri" pitchFamily="34" charset="-122"/>
                <a:cs typeface="Calibri" pitchFamily="34" charset="-120"/>
              </a:rPr>
              <a:t>Logistic Regression Baseline — Step 5.4</a:t>
            </a:r>
            <a:endParaRPr lang="en-US" sz="2800" dirty="0"/>
          </a:p>
        </p:txBody>
      </p:sp>
      <p:sp>
        <p:nvSpPr>
          <p:cNvPr id="3" name="tag"/>
          <p:cNvSpPr/>
          <p:nvPr/>
        </p:nvSpPr>
        <p:spPr>
          <a:xfrm>
            <a:off x="9738360" y="457200"/>
            <a:ext cx="1920240" cy="365760"/>
          </a:xfrm>
          <a:prstGeom prst="roundRect">
            <a:avLst>
              <a:gd name="adj" fmla="val 50000"/>
            </a:avLst>
          </a:prstGeom>
          <a:solidFill>
            <a:srgbClr val="6C4AB6"/>
          </a:solidFill>
          <a:ln w="12700">
            <a:solidFill>
              <a:srgbClr val="6C4AB6"/>
            </a:solidFill>
            <a:prstDash val="solid"/>
          </a:ln>
        </p:spPr>
      </p:sp>
      <p:sp>
        <p:nvSpPr>
          <p:cNvPr id="4" name="Text 2"/>
          <p:cNvSpPr txBox="1"/>
          <p:nvPr/>
        </p:nvSpPr>
        <p:spPr>
          <a:xfrm>
            <a:off x="9738360" y="457200"/>
            <a:ext cx="1920240"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METHOD</a:t>
            </a:r>
            <a:endParaRPr lang="en-US" sz="1000" dirty="0"/>
          </a:p>
        </p:txBody>
      </p:sp>
      <p:sp>
        <p:nvSpPr>
          <p:cNvPr id="5" name="Text 3"/>
          <p:cNvSpPr txBox="1"/>
          <p:nvPr/>
        </p:nvSpPr>
        <p:spPr>
          <a:xfrm>
            <a:off x="8229600" y="6400800"/>
            <a:ext cx="1554480" cy="32004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8 / 20</a:t>
            </a:r>
            <a:endParaRPr lang="en-US" sz="1000" dirty="0"/>
          </a:p>
        </p:txBody>
      </p:sp>
      <p:sp>
        <p:nvSpPr>
          <p:cNvPr id="6" name="navButton"/>
          <p:cNvSpPr/>
          <p:nvPr/>
        </p:nvSpPr>
        <p:spPr>
          <a:xfrm>
            <a:off x="9921240" y="6419088"/>
            <a:ext cx="822960" cy="292608"/>
          </a:xfrm>
          <a:prstGeom prst="roundRect">
            <a:avLst>
              <a:gd name="adj" fmla="val 50000"/>
            </a:avLst>
          </a:prstGeom>
          <a:solidFill>
            <a:srgbClr val="FFFFFF"/>
          </a:solidFill>
          <a:ln w="12700">
            <a:solidFill>
              <a:srgbClr val="C9D3E3"/>
            </a:solidFill>
            <a:prstDash val="solid"/>
          </a:ln>
        </p:spPr>
      </p:sp>
      <p:sp>
        <p:nvSpPr>
          <p:cNvPr id="7" name="Text 5">
            <a:hlinkClick r:id="rId1" tooltip="Previous slide" action="ppaction://hlinksldjump"/>
          </p:cNvPr>
          <p:cNvSpPr txBox="1"/>
          <p:nvPr/>
        </p:nvSpPr>
        <p:spPr>
          <a:xfrm>
            <a:off x="99212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1" action="ppaction://hlinksldjump" tooltip="Previous slide">
                  <a:extLst>
                    <a:ext uri="{A12FA001-AC4F-418D-AE19-62706E023703}">
                      <ahyp:hlinkClr xmlns:ahyp="http://schemas.microsoft.com/office/drawing/2018/hyperlinkcolor" val="tx"/>
                    </a:ext>
                  </a:extLst>
                </a:hlinkClick>
              </a:rPr>
              <a:t>‹ Prev</a:t>
            </a:r>
            <a:endParaRPr lang="en-US" sz="1000" dirty="0"/>
          </a:p>
        </p:txBody>
      </p:sp>
      <p:sp>
        <p:nvSpPr>
          <p:cNvPr id="8" name="navButton"/>
          <p:cNvSpPr/>
          <p:nvPr/>
        </p:nvSpPr>
        <p:spPr>
          <a:xfrm>
            <a:off x="10835640" y="6419088"/>
            <a:ext cx="822960" cy="292608"/>
          </a:xfrm>
          <a:prstGeom prst="roundRect">
            <a:avLst>
              <a:gd name="adj" fmla="val 50000"/>
            </a:avLst>
          </a:prstGeom>
          <a:solidFill>
            <a:srgbClr val="FFFFFF"/>
          </a:solidFill>
          <a:ln w="12700">
            <a:solidFill>
              <a:srgbClr val="C9D3E3"/>
            </a:solidFill>
            <a:prstDash val="solid"/>
          </a:ln>
        </p:spPr>
      </p:sp>
      <p:sp>
        <p:nvSpPr>
          <p:cNvPr id="9" name="Text 7">
            <a:hlinkClick r:id="rId2" tooltip="Next slide" action="ppaction://hlinksldjump"/>
          </p:cNvPr>
          <p:cNvSpPr txBox="1"/>
          <p:nvPr/>
        </p:nvSpPr>
        <p:spPr>
          <a:xfrm>
            <a:off x="108356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2" action="ppaction://hlinksldjump" tooltip="Next slide">
                  <a:extLst>
                    <a:ext uri="{A12FA001-AC4F-418D-AE19-62706E023703}">
                      <ahyp:hlinkClr xmlns:ahyp="http://schemas.microsoft.com/office/drawing/2018/hyperlinkcolor" val="tx"/>
                    </a:ext>
                  </a:extLst>
                </a:hlinkClick>
              </a:rPr>
              <a:t>Next ›</a:t>
            </a:r>
            <a:endParaRPr lang="en-US" sz="1000" dirty="0"/>
          </a:p>
        </p:txBody>
      </p:sp>
      <p:sp>
        <p:nvSpPr>
          <p:cNvPr id="11" name="card"/>
          <p:cNvSpPr/>
          <p:nvPr/>
        </p:nvSpPr>
        <p:spPr>
          <a:xfrm>
            <a:off x="548640" y="1325880"/>
            <a:ext cx="2697480" cy="2103120"/>
          </a:xfrm>
          <a:prstGeom prst="roundRect">
            <a:avLst>
              <a:gd name="adj" fmla="val 5217"/>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2" name="iconCircle"/>
          <p:cNvSpPr/>
          <p:nvPr/>
        </p:nvSpPr>
        <p:spPr>
          <a:xfrm>
            <a:off x="731520" y="1463040"/>
            <a:ext cx="548640" cy="548640"/>
          </a:xfrm>
          <a:prstGeom prst="ellipse">
            <a:avLst/>
          </a:prstGeom>
          <a:solidFill>
            <a:srgbClr val="6C4AB6"/>
          </a:solidFill>
          <a:ln w="12700">
            <a:solidFill>
              <a:srgbClr val="6C4AB6"/>
            </a:solidFill>
            <a:prstDash val="solid"/>
          </a:ln>
        </p:spPr>
      </p:sp>
      <p:pic>
        <p:nvPicPr>
          <p:cNvPr id="13" name="Image 0" descr="Database icon">    </p:cNvPr>
          <p:cNvPicPr>
            <a:picLocks noChangeAspect="1"/>
          </p:cNvPicPr>
          <p:nvPr/>
        </p:nvPicPr>
        <p:blipFill>
          <a:blip r:embed="rId3"/>
          <a:stretch>
            <a:fillRect/>
          </a:stretch>
        </p:blipFill>
        <p:spPr>
          <a:xfrm>
            <a:off x="868680" y="1600200"/>
            <a:ext cx="274320" cy="274320"/>
          </a:xfrm>
          <a:prstGeom prst="rect">
            <a:avLst/>
          </a:prstGeom>
        </p:spPr>
      </p:pic>
      <p:sp>
        <p:nvSpPr>
          <p:cNvPr id="14" name="Text 10"/>
          <p:cNvSpPr txBox="1"/>
          <p:nvPr/>
        </p:nvSpPr>
        <p:spPr>
          <a:xfrm>
            <a:off x="731520" y="2103120"/>
            <a:ext cx="2377440" cy="365760"/>
          </a:xfrm>
          <a:prstGeom prst="rect">
            <a:avLst/>
          </a:prstGeom>
          <a:noFill/>
          <a:ln/>
        </p:spPr>
        <p:txBody>
          <a:bodyPr wrap="square" lIns="0" tIns="0" rIns="0" bIns="0" rtlCol="0" anchor="t"/>
          <a:lstStyle/>
          <a:p>
            <a:pPr indent="0" marL="0">
              <a:buNone/>
            </a:pPr>
            <a:r>
              <a:rPr lang="en-US" sz="1600" b="1" dirty="0">
                <a:solidFill>
                  <a:srgbClr val="0B1F4B"/>
                </a:solidFill>
                <a:latin typeface="Calibri" pitchFamily="34" charset="0"/>
                <a:ea typeface="Calibri" pitchFamily="34" charset="-122"/>
                <a:cs typeface="Calibri" pitchFamily="34" charset="-120"/>
              </a:rPr>
              <a:t>Learn from the past</a:t>
            </a:r>
            <a:endParaRPr lang="en-US" sz="1600" dirty="0"/>
          </a:p>
        </p:txBody>
      </p:sp>
      <p:sp>
        <p:nvSpPr>
          <p:cNvPr id="15" name="Text 11"/>
          <p:cNvSpPr txBox="1"/>
          <p:nvPr/>
        </p:nvSpPr>
        <p:spPr>
          <a:xfrm>
            <a:off x="731520" y="2487168"/>
            <a:ext cx="2377440" cy="914400"/>
          </a:xfrm>
          <a:prstGeom prst="rect">
            <a:avLst/>
          </a:prstGeom>
          <a:noFill/>
          <a:ln/>
        </p:spPr>
        <p:txBody>
          <a:bodyPr wrap="square" lIns="0" tIns="0" rIns="0" bIns="0" rtlCol="0" anchor="t"/>
          <a:lstStyle/>
          <a:p>
            <a:pPr indent="0" marL="0">
              <a:buNone/>
            </a:pPr>
            <a:r>
              <a:rPr lang="en-US" sz="1200" dirty="0">
                <a:solidFill>
                  <a:srgbClr val="5B6B82"/>
                </a:solidFill>
                <a:latin typeface="Calibri" pitchFamily="34" charset="0"/>
                <a:ea typeface="Calibri" pitchFamily="34" charset="-122"/>
                <a:cs typeface="Calibri" pitchFamily="34" charset="-120"/>
              </a:rPr>
              <a:t>12 input features: credit score, FOIR, delinquencies, employment type, loan purpose…</a:t>
            </a:r>
            <a:endParaRPr lang="en-US" sz="1200" dirty="0"/>
          </a:p>
        </p:txBody>
      </p:sp>
      <p:sp>
        <p:nvSpPr>
          <p:cNvPr id="16" name="card"/>
          <p:cNvSpPr/>
          <p:nvPr/>
        </p:nvSpPr>
        <p:spPr>
          <a:xfrm>
            <a:off x="3383280" y="1325880"/>
            <a:ext cx="2697480" cy="2103120"/>
          </a:xfrm>
          <a:prstGeom prst="roundRect">
            <a:avLst>
              <a:gd name="adj" fmla="val 5217"/>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7" name="iconCircle"/>
          <p:cNvSpPr/>
          <p:nvPr/>
        </p:nvSpPr>
        <p:spPr>
          <a:xfrm>
            <a:off x="3566160" y="1463040"/>
            <a:ext cx="548640" cy="548640"/>
          </a:xfrm>
          <a:prstGeom prst="ellipse">
            <a:avLst/>
          </a:prstGeom>
          <a:solidFill>
            <a:srgbClr val="00A6A6"/>
          </a:solidFill>
          <a:ln w="12700">
            <a:solidFill>
              <a:srgbClr val="00A6A6"/>
            </a:solidFill>
            <a:prstDash val="solid"/>
          </a:ln>
        </p:spPr>
      </p:sp>
      <p:pic>
        <p:nvPicPr>
          <p:cNvPr id="18" name="Image 1" descr="Bullseye icon">    </p:cNvPr>
          <p:cNvPicPr>
            <a:picLocks noChangeAspect="1"/>
          </p:cNvPicPr>
          <p:nvPr/>
        </p:nvPicPr>
        <p:blipFill>
          <a:blip r:embed="rId4"/>
          <a:stretch>
            <a:fillRect/>
          </a:stretch>
        </p:blipFill>
        <p:spPr>
          <a:xfrm>
            <a:off x="3703320" y="1600200"/>
            <a:ext cx="274320" cy="274320"/>
          </a:xfrm>
          <a:prstGeom prst="rect">
            <a:avLst/>
          </a:prstGeom>
        </p:spPr>
      </p:pic>
      <p:sp>
        <p:nvSpPr>
          <p:cNvPr id="19" name="Text 14"/>
          <p:cNvSpPr txBox="1"/>
          <p:nvPr/>
        </p:nvSpPr>
        <p:spPr>
          <a:xfrm>
            <a:off x="3566160" y="2103120"/>
            <a:ext cx="2377440" cy="365760"/>
          </a:xfrm>
          <a:prstGeom prst="rect">
            <a:avLst/>
          </a:prstGeom>
          <a:noFill/>
          <a:ln/>
        </p:spPr>
        <p:txBody>
          <a:bodyPr wrap="square" lIns="0" tIns="0" rIns="0" bIns="0" rtlCol="0" anchor="t"/>
          <a:lstStyle/>
          <a:p>
            <a:pPr indent="0" marL="0">
              <a:buNone/>
            </a:pPr>
            <a:r>
              <a:rPr lang="en-US" sz="1600" b="1" dirty="0">
                <a:solidFill>
                  <a:srgbClr val="0B1F4B"/>
                </a:solidFill>
                <a:latin typeface="Calibri" pitchFamily="34" charset="0"/>
                <a:ea typeface="Calibri" pitchFamily="34" charset="-122"/>
                <a:cs typeface="Calibri" pitchFamily="34" charset="-120"/>
              </a:rPr>
              <a:t>Target</a:t>
            </a:r>
            <a:endParaRPr lang="en-US" sz="1600" dirty="0"/>
          </a:p>
        </p:txBody>
      </p:sp>
      <p:sp>
        <p:nvSpPr>
          <p:cNvPr id="20" name="Text 15"/>
          <p:cNvSpPr txBox="1"/>
          <p:nvPr/>
        </p:nvSpPr>
        <p:spPr>
          <a:xfrm>
            <a:off x="3566160" y="2487168"/>
            <a:ext cx="2377440" cy="914400"/>
          </a:xfrm>
          <a:prstGeom prst="rect">
            <a:avLst/>
          </a:prstGeom>
          <a:noFill/>
          <a:ln/>
        </p:spPr>
        <p:txBody>
          <a:bodyPr wrap="square" lIns="0" tIns="0" rIns="0" bIns="0" rtlCol="0" anchor="t"/>
          <a:lstStyle/>
          <a:p>
            <a:pPr indent="0" marL="0">
              <a:buNone/>
            </a:pPr>
            <a:r>
              <a:rPr lang="en-US" sz="1200" dirty="0">
                <a:solidFill>
                  <a:srgbClr val="5B6B82"/>
                </a:solidFill>
                <a:latin typeface="Calibri" pitchFamily="34" charset="0"/>
                <a:ea typeface="Calibri" pitchFamily="34" charset="-122"/>
                <a:cs typeface="Calibri" pitchFamily="34" charset="-120"/>
              </a:rPr>
              <a:t>Predict decision: Declined = 1, Approved = 0</a:t>
            </a:r>
            <a:endParaRPr lang="en-US" sz="1200" dirty="0"/>
          </a:p>
        </p:txBody>
      </p:sp>
      <p:sp>
        <p:nvSpPr>
          <p:cNvPr id="21" name="card"/>
          <p:cNvSpPr/>
          <p:nvPr/>
        </p:nvSpPr>
        <p:spPr>
          <a:xfrm>
            <a:off x="6217920" y="1325880"/>
            <a:ext cx="2697480" cy="2103120"/>
          </a:xfrm>
          <a:prstGeom prst="roundRect">
            <a:avLst>
              <a:gd name="adj" fmla="val 5217"/>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22" name="iconCircle"/>
          <p:cNvSpPr/>
          <p:nvPr/>
        </p:nvSpPr>
        <p:spPr>
          <a:xfrm>
            <a:off x="6400800" y="1463040"/>
            <a:ext cx="548640" cy="548640"/>
          </a:xfrm>
          <a:prstGeom prst="ellipse">
            <a:avLst/>
          </a:prstGeom>
          <a:solidFill>
            <a:srgbClr val="0B1F4B"/>
          </a:solidFill>
          <a:ln w="12700">
            <a:solidFill>
              <a:srgbClr val="0B1F4B"/>
            </a:solidFill>
            <a:prstDash val="solid"/>
          </a:ln>
        </p:spPr>
      </p:sp>
      <p:pic>
        <p:nvPicPr>
          <p:cNvPr id="23" name="Image 2" descr="LayerGroup icon">    </p:cNvPr>
          <p:cNvPicPr>
            <a:picLocks noChangeAspect="1"/>
          </p:cNvPicPr>
          <p:nvPr/>
        </p:nvPicPr>
        <p:blipFill>
          <a:blip r:embed="rId5"/>
          <a:stretch>
            <a:fillRect/>
          </a:stretch>
        </p:blipFill>
        <p:spPr>
          <a:xfrm>
            <a:off x="6537960" y="1600200"/>
            <a:ext cx="274320" cy="274320"/>
          </a:xfrm>
          <a:prstGeom prst="rect">
            <a:avLst/>
          </a:prstGeom>
        </p:spPr>
      </p:pic>
      <p:sp>
        <p:nvSpPr>
          <p:cNvPr id="24" name="Text 18"/>
          <p:cNvSpPr txBox="1"/>
          <p:nvPr/>
        </p:nvSpPr>
        <p:spPr>
          <a:xfrm>
            <a:off x="6400800" y="2103120"/>
            <a:ext cx="2377440" cy="365760"/>
          </a:xfrm>
          <a:prstGeom prst="rect">
            <a:avLst/>
          </a:prstGeom>
          <a:noFill/>
          <a:ln/>
        </p:spPr>
        <p:txBody>
          <a:bodyPr wrap="square" lIns="0" tIns="0" rIns="0" bIns="0" rtlCol="0" anchor="t"/>
          <a:lstStyle/>
          <a:p>
            <a:pPr indent="0" marL="0">
              <a:buNone/>
            </a:pPr>
            <a:r>
              <a:rPr lang="en-US" sz="1600" b="1" dirty="0">
                <a:solidFill>
                  <a:srgbClr val="0B1F4B"/>
                </a:solidFill>
                <a:latin typeface="Calibri" pitchFamily="34" charset="0"/>
                <a:ea typeface="Calibri" pitchFamily="34" charset="-122"/>
                <a:cs typeface="Calibri" pitchFamily="34" charset="-120"/>
              </a:rPr>
              <a:t>Train and test</a:t>
            </a:r>
            <a:endParaRPr lang="en-US" sz="1600" dirty="0"/>
          </a:p>
        </p:txBody>
      </p:sp>
      <p:sp>
        <p:nvSpPr>
          <p:cNvPr id="25" name="Text 19"/>
          <p:cNvSpPr txBox="1"/>
          <p:nvPr/>
        </p:nvSpPr>
        <p:spPr>
          <a:xfrm>
            <a:off x="6400800" y="2487168"/>
            <a:ext cx="2377440" cy="914400"/>
          </a:xfrm>
          <a:prstGeom prst="rect">
            <a:avLst/>
          </a:prstGeom>
          <a:noFill/>
          <a:ln/>
        </p:spPr>
        <p:txBody>
          <a:bodyPr wrap="square" lIns="0" tIns="0" rIns="0" bIns="0" rtlCol="0" anchor="t"/>
          <a:lstStyle/>
          <a:p>
            <a:pPr indent="0" marL="0">
              <a:buNone/>
            </a:pPr>
            <a:r>
              <a:rPr lang="en-US" sz="1200" dirty="0">
                <a:solidFill>
                  <a:srgbClr val="5B6B82"/>
                </a:solidFill>
                <a:latin typeface="Calibri" pitchFamily="34" charset="0"/>
                <a:ea typeface="Calibri" pitchFamily="34" charset="-122"/>
                <a:cs typeface="Calibri" pitchFamily="34" charset="-120"/>
              </a:rPr>
              <a:t>80:20 stratified split: 9,600 to learn, 2,400 to test</a:t>
            </a:r>
            <a:endParaRPr lang="en-US" sz="1200" dirty="0"/>
          </a:p>
        </p:txBody>
      </p:sp>
      <p:sp>
        <p:nvSpPr>
          <p:cNvPr id="26" name="card"/>
          <p:cNvSpPr/>
          <p:nvPr/>
        </p:nvSpPr>
        <p:spPr>
          <a:xfrm>
            <a:off x="9052560" y="1325880"/>
            <a:ext cx="2697480" cy="2103120"/>
          </a:xfrm>
          <a:prstGeom prst="roundRect">
            <a:avLst>
              <a:gd name="adj" fmla="val 5217"/>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27" name="iconCircle"/>
          <p:cNvSpPr/>
          <p:nvPr/>
        </p:nvSpPr>
        <p:spPr>
          <a:xfrm>
            <a:off x="9235440" y="1463040"/>
            <a:ext cx="548640" cy="548640"/>
          </a:xfrm>
          <a:prstGeom prst="ellipse">
            <a:avLst/>
          </a:prstGeom>
          <a:solidFill>
            <a:srgbClr val="F28C28"/>
          </a:solidFill>
          <a:ln w="12700">
            <a:solidFill>
              <a:srgbClr val="F28C28"/>
            </a:solidFill>
            <a:prstDash val="solid"/>
          </a:ln>
        </p:spPr>
      </p:sp>
      <p:pic>
        <p:nvPicPr>
          <p:cNvPr id="28" name="Image 3" descr="SlidersH icon">    </p:cNvPr>
          <p:cNvPicPr>
            <a:picLocks noChangeAspect="1"/>
          </p:cNvPicPr>
          <p:nvPr/>
        </p:nvPicPr>
        <p:blipFill>
          <a:blip r:embed="rId6"/>
          <a:stretch>
            <a:fillRect/>
          </a:stretch>
        </p:blipFill>
        <p:spPr>
          <a:xfrm>
            <a:off x="9372600" y="1600200"/>
            <a:ext cx="274320" cy="274320"/>
          </a:xfrm>
          <a:prstGeom prst="rect">
            <a:avLst/>
          </a:prstGeom>
        </p:spPr>
      </p:pic>
      <p:sp>
        <p:nvSpPr>
          <p:cNvPr id="29" name="Text 22"/>
          <p:cNvSpPr txBox="1"/>
          <p:nvPr/>
        </p:nvSpPr>
        <p:spPr>
          <a:xfrm>
            <a:off x="9235440" y="2103120"/>
            <a:ext cx="2377440" cy="365760"/>
          </a:xfrm>
          <a:prstGeom prst="rect">
            <a:avLst/>
          </a:prstGeom>
          <a:noFill/>
          <a:ln/>
        </p:spPr>
        <p:txBody>
          <a:bodyPr wrap="square" lIns="0" tIns="0" rIns="0" bIns="0" rtlCol="0" anchor="t"/>
          <a:lstStyle/>
          <a:p>
            <a:pPr indent="0" marL="0">
              <a:buNone/>
            </a:pPr>
            <a:r>
              <a:rPr lang="en-US" sz="1600" b="1" dirty="0">
                <a:solidFill>
                  <a:srgbClr val="0B1F4B"/>
                </a:solidFill>
                <a:latin typeface="Calibri" pitchFamily="34" charset="0"/>
                <a:ea typeface="Calibri" pitchFamily="34" charset="-122"/>
                <a:cs typeface="Calibri" pitchFamily="34" charset="-120"/>
              </a:rPr>
              <a:t>Prepare the data</a:t>
            </a:r>
            <a:endParaRPr lang="en-US" sz="1600" dirty="0"/>
          </a:p>
        </p:txBody>
      </p:sp>
      <p:sp>
        <p:nvSpPr>
          <p:cNvPr id="30" name="Text 23"/>
          <p:cNvSpPr txBox="1"/>
          <p:nvPr/>
        </p:nvSpPr>
        <p:spPr>
          <a:xfrm>
            <a:off x="9235440" y="2487168"/>
            <a:ext cx="2377440" cy="914400"/>
          </a:xfrm>
          <a:prstGeom prst="rect">
            <a:avLst/>
          </a:prstGeom>
          <a:noFill/>
          <a:ln/>
        </p:spPr>
        <p:txBody>
          <a:bodyPr wrap="square" lIns="0" tIns="0" rIns="0" bIns="0" rtlCol="0" anchor="t"/>
          <a:lstStyle/>
          <a:p>
            <a:pPr indent="0" marL="0">
              <a:buNone/>
            </a:pPr>
            <a:r>
              <a:rPr lang="en-US" sz="1200" dirty="0">
                <a:solidFill>
                  <a:srgbClr val="5B6B82"/>
                </a:solidFill>
                <a:latin typeface="Calibri" pitchFamily="34" charset="0"/>
                <a:ea typeface="Calibri" pitchFamily="34" charset="-122"/>
                <a:cs typeface="Calibri" pitchFamily="34" charset="-120"/>
              </a:rPr>
              <a:t>Fill missing values, scale numbers, one-hot encode categories</a:t>
            </a:r>
            <a:endParaRPr lang="en-US" sz="1200" dirty="0"/>
          </a:p>
        </p:txBody>
      </p:sp>
      <p:sp>
        <p:nvSpPr>
          <p:cNvPr id="31" name="stat"/>
          <p:cNvSpPr/>
          <p:nvPr/>
        </p:nvSpPr>
        <p:spPr>
          <a:xfrm>
            <a:off x="548640" y="3657600"/>
            <a:ext cx="2697480" cy="1463040"/>
          </a:xfrm>
          <a:prstGeom prst="roundRect">
            <a:avLst>
              <a:gd name="adj" fmla="val 7500"/>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32" name="Text 25"/>
          <p:cNvSpPr txBox="1"/>
          <p:nvPr/>
        </p:nvSpPr>
        <p:spPr>
          <a:xfrm>
            <a:off x="731520" y="3794760"/>
            <a:ext cx="2331720" cy="731520"/>
          </a:xfrm>
          <a:prstGeom prst="rect">
            <a:avLst/>
          </a:prstGeom>
          <a:noFill/>
          <a:ln/>
        </p:spPr>
        <p:txBody>
          <a:bodyPr wrap="square" lIns="0" tIns="0" rIns="0" bIns="0" rtlCol="0" anchor="ctr"/>
          <a:lstStyle/>
          <a:p>
            <a:pPr indent="0" marL="0">
              <a:buNone/>
            </a:pPr>
            <a:r>
              <a:rPr lang="en-US" sz="3400" b="1" dirty="0">
                <a:solidFill>
                  <a:srgbClr val="00A6A6"/>
                </a:solidFill>
                <a:latin typeface="Calibri" pitchFamily="34" charset="0"/>
                <a:ea typeface="Calibri" pitchFamily="34" charset="-122"/>
                <a:cs typeface="Calibri" pitchFamily="34" charset="-120"/>
              </a:rPr>
              <a:t>78.54%</a:t>
            </a:r>
            <a:endParaRPr lang="en-US" sz="3400" dirty="0"/>
          </a:p>
        </p:txBody>
      </p:sp>
      <p:sp>
        <p:nvSpPr>
          <p:cNvPr id="33" name="Text 26"/>
          <p:cNvSpPr txBox="1"/>
          <p:nvPr/>
        </p:nvSpPr>
        <p:spPr>
          <a:xfrm>
            <a:off x="731520" y="4462272"/>
            <a:ext cx="2331720" cy="614477"/>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Test accuracy</a:t>
            </a:r>
            <a:endParaRPr lang="en-US" sz="1300" dirty="0"/>
          </a:p>
        </p:txBody>
      </p:sp>
      <p:sp>
        <p:nvSpPr>
          <p:cNvPr id="34" name="stat"/>
          <p:cNvSpPr/>
          <p:nvPr/>
        </p:nvSpPr>
        <p:spPr>
          <a:xfrm>
            <a:off x="3383280" y="3657600"/>
            <a:ext cx="2697480" cy="1463040"/>
          </a:xfrm>
          <a:prstGeom prst="roundRect">
            <a:avLst>
              <a:gd name="adj" fmla="val 7500"/>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35" name="Text 28"/>
          <p:cNvSpPr txBox="1"/>
          <p:nvPr/>
        </p:nvSpPr>
        <p:spPr>
          <a:xfrm>
            <a:off x="3566160" y="3794760"/>
            <a:ext cx="2331720" cy="731520"/>
          </a:xfrm>
          <a:prstGeom prst="rect">
            <a:avLst/>
          </a:prstGeom>
          <a:noFill/>
          <a:ln/>
        </p:spPr>
        <p:txBody>
          <a:bodyPr wrap="square" lIns="0" tIns="0" rIns="0" bIns="0" rtlCol="0" anchor="ctr"/>
          <a:lstStyle/>
          <a:p>
            <a:pPr indent="0" marL="0">
              <a:buNone/>
            </a:pPr>
            <a:r>
              <a:rPr lang="en-US" sz="3400" b="1" dirty="0">
                <a:solidFill>
                  <a:srgbClr val="0B1F4B"/>
                </a:solidFill>
                <a:latin typeface="Calibri" pitchFamily="34" charset="0"/>
                <a:ea typeface="Calibri" pitchFamily="34" charset="-122"/>
                <a:cs typeface="Calibri" pitchFamily="34" charset="-120"/>
              </a:rPr>
              <a:t>78.58%</a:t>
            </a:r>
            <a:endParaRPr lang="en-US" sz="3400" dirty="0"/>
          </a:p>
        </p:txBody>
      </p:sp>
      <p:sp>
        <p:nvSpPr>
          <p:cNvPr id="36" name="Text 29"/>
          <p:cNvSpPr txBox="1"/>
          <p:nvPr/>
        </p:nvSpPr>
        <p:spPr>
          <a:xfrm>
            <a:off x="3566160" y="4462272"/>
            <a:ext cx="2331720" cy="614477"/>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Precision (Declined)</a:t>
            </a:r>
            <a:endParaRPr lang="en-US" sz="1300" dirty="0"/>
          </a:p>
        </p:txBody>
      </p:sp>
      <p:sp>
        <p:nvSpPr>
          <p:cNvPr id="37" name="stat"/>
          <p:cNvSpPr/>
          <p:nvPr/>
        </p:nvSpPr>
        <p:spPr>
          <a:xfrm>
            <a:off x="6217920" y="3657600"/>
            <a:ext cx="2697480" cy="1463040"/>
          </a:xfrm>
          <a:prstGeom prst="roundRect">
            <a:avLst>
              <a:gd name="adj" fmla="val 7500"/>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38" name="Text 31"/>
          <p:cNvSpPr txBox="1"/>
          <p:nvPr/>
        </p:nvSpPr>
        <p:spPr>
          <a:xfrm>
            <a:off x="6400800" y="3794760"/>
            <a:ext cx="2331720" cy="731520"/>
          </a:xfrm>
          <a:prstGeom prst="rect">
            <a:avLst/>
          </a:prstGeom>
          <a:noFill/>
          <a:ln/>
        </p:spPr>
        <p:txBody>
          <a:bodyPr wrap="square" lIns="0" tIns="0" rIns="0" bIns="0" rtlCol="0" anchor="ctr"/>
          <a:lstStyle/>
          <a:p>
            <a:pPr indent="0" marL="0">
              <a:buNone/>
            </a:pPr>
            <a:r>
              <a:rPr lang="en-US" sz="3400" b="1" dirty="0">
                <a:solidFill>
                  <a:srgbClr val="6C4AB6"/>
                </a:solidFill>
                <a:latin typeface="Calibri" pitchFamily="34" charset="0"/>
                <a:ea typeface="Calibri" pitchFamily="34" charset="-122"/>
                <a:cs typeface="Calibri" pitchFamily="34" charset="-120"/>
              </a:rPr>
              <a:t>74.76%</a:t>
            </a:r>
            <a:endParaRPr lang="en-US" sz="3400" dirty="0"/>
          </a:p>
        </p:txBody>
      </p:sp>
      <p:sp>
        <p:nvSpPr>
          <p:cNvPr id="39" name="Text 32"/>
          <p:cNvSpPr txBox="1"/>
          <p:nvPr/>
        </p:nvSpPr>
        <p:spPr>
          <a:xfrm>
            <a:off x="6400800" y="4462272"/>
            <a:ext cx="2331720" cy="614477"/>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Recall (Declined)</a:t>
            </a:r>
            <a:endParaRPr lang="en-US" sz="1300" dirty="0"/>
          </a:p>
        </p:txBody>
      </p:sp>
      <p:sp>
        <p:nvSpPr>
          <p:cNvPr id="40" name="stat"/>
          <p:cNvSpPr/>
          <p:nvPr/>
        </p:nvSpPr>
        <p:spPr>
          <a:xfrm>
            <a:off x="9052560" y="3657600"/>
            <a:ext cx="2697480" cy="1463040"/>
          </a:xfrm>
          <a:prstGeom prst="roundRect">
            <a:avLst>
              <a:gd name="adj" fmla="val 7500"/>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41" name="Text 34"/>
          <p:cNvSpPr txBox="1"/>
          <p:nvPr/>
        </p:nvSpPr>
        <p:spPr>
          <a:xfrm>
            <a:off x="9235440" y="3794760"/>
            <a:ext cx="2331720" cy="731520"/>
          </a:xfrm>
          <a:prstGeom prst="rect">
            <a:avLst/>
          </a:prstGeom>
          <a:noFill/>
          <a:ln/>
        </p:spPr>
        <p:txBody>
          <a:bodyPr wrap="square" lIns="0" tIns="0" rIns="0" bIns="0" rtlCol="0" anchor="ctr"/>
          <a:lstStyle/>
          <a:p>
            <a:pPr indent="0" marL="0">
              <a:buNone/>
            </a:pPr>
            <a:r>
              <a:rPr lang="en-US" sz="3400" b="1" dirty="0">
                <a:solidFill>
                  <a:srgbClr val="F28C28"/>
                </a:solidFill>
                <a:latin typeface="Calibri" pitchFamily="34" charset="0"/>
                <a:ea typeface="Calibri" pitchFamily="34" charset="-122"/>
                <a:cs typeface="Calibri" pitchFamily="34" charset="-120"/>
              </a:rPr>
              <a:t>0.8671</a:t>
            </a:r>
            <a:endParaRPr lang="en-US" sz="3400" dirty="0"/>
          </a:p>
        </p:txBody>
      </p:sp>
      <p:sp>
        <p:nvSpPr>
          <p:cNvPr id="42" name="Text 35"/>
          <p:cNvSpPr txBox="1"/>
          <p:nvPr/>
        </p:nvSpPr>
        <p:spPr>
          <a:xfrm>
            <a:off x="9235440" y="4462272"/>
            <a:ext cx="2331720" cy="614477"/>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ROC-AUC</a:t>
            </a:r>
            <a:endParaRPr lang="en-US" sz="1300" dirty="0"/>
          </a:p>
        </p:txBody>
      </p:sp>
      <p:sp>
        <p:nvSpPr>
          <p:cNvPr id="43" name="note"/>
          <p:cNvSpPr/>
          <p:nvPr/>
        </p:nvSpPr>
        <p:spPr>
          <a:xfrm>
            <a:off x="548640" y="5349240"/>
            <a:ext cx="11109960" cy="822960"/>
          </a:xfrm>
          <a:prstGeom prst="roundRect">
            <a:avLst>
              <a:gd name="adj" fmla="val 13333"/>
            </a:avLst>
          </a:prstGeom>
          <a:solidFill>
            <a:srgbClr val="EFE9FA"/>
          </a:solidFill>
          <a:ln w="12700">
            <a:solidFill>
              <a:srgbClr val="6C4AB6"/>
            </a:solidFill>
            <a:prstDash val="solid"/>
          </a:ln>
        </p:spPr>
      </p:sp>
      <p:sp>
        <p:nvSpPr>
          <p:cNvPr id="44" name="iconCircle"/>
          <p:cNvSpPr/>
          <p:nvPr/>
        </p:nvSpPr>
        <p:spPr>
          <a:xfrm>
            <a:off x="731520" y="5532120"/>
            <a:ext cx="457200" cy="457200"/>
          </a:xfrm>
          <a:prstGeom prst="ellipse">
            <a:avLst/>
          </a:prstGeom>
          <a:solidFill>
            <a:srgbClr val="6C4AB6"/>
          </a:solidFill>
          <a:ln w="12700">
            <a:solidFill>
              <a:srgbClr val="6C4AB6"/>
            </a:solidFill>
            <a:prstDash val="solid"/>
          </a:ln>
        </p:spPr>
      </p:sp>
      <p:pic>
        <p:nvPicPr>
          <p:cNvPr id="45" name="Image 4" descr="Brain icon">    </p:cNvPr>
          <p:cNvPicPr>
            <a:picLocks noChangeAspect="1"/>
          </p:cNvPicPr>
          <p:nvPr/>
        </p:nvPicPr>
        <p:blipFill>
          <a:blip r:embed="rId7"/>
          <a:stretch>
            <a:fillRect/>
          </a:stretch>
        </p:blipFill>
        <p:spPr>
          <a:xfrm>
            <a:off x="845820" y="5646420"/>
            <a:ext cx="228600" cy="228600"/>
          </a:xfrm>
          <a:prstGeom prst="rect">
            <a:avLst/>
          </a:prstGeom>
        </p:spPr>
      </p:pic>
      <p:sp>
        <p:nvSpPr>
          <p:cNvPr id="46" name="Text 38"/>
          <p:cNvSpPr txBox="1"/>
          <p:nvPr/>
        </p:nvSpPr>
        <p:spPr>
          <a:xfrm>
            <a:off x="1371600" y="5349240"/>
            <a:ext cx="10104120" cy="822960"/>
          </a:xfrm>
          <a:prstGeom prst="rect">
            <a:avLst/>
          </a:prstGeom>
          <a:noFill/>
          <a:ln/>
        </p:spPr>
        <p:txBody>
          <a:bodyPr wrap="square" lIns="0" tIns="0" rIns="0" bIns="0" rtlCol="0" anchor="ctr"/>
          <a:lstStyle/>
          <a:p>
            <a:pPr indent="0" marL="0">
              <a:buNone/>
            </a:pPr>
            <a:r>
              <a:rPr lang="en-US" sz="1500" b="1" dirty="0">
                <a:solidFill>
                  <a:srgbClr val="0B1F4B"/>
                </a:solidFill>
                <a:latin typeface="Calibri" pitchFamily="34" charset="0"/>
                <a:ea typeface="Calibri" pitchFamily="34" charset="-122"/>
                <a:cs typeface="Calibri" pitchFamily="34" charset="-120"/>
              </a:rPr>
              <a:t>Logistic Regression is a simple, explainable baseline. It gives each application a probability of being declined.</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052560" cy="777240"/>
          </a:xfrm>
          <a:prstGeom prst="rect">
            <a:avLst/>
          </a:prstGeom>
          <a:noFill/>
          <a:ln/>
        </p:spPr>
        <p:txBody>
          <a:bodyPr wrap="square" lIns="0" tIns="0" rIns="0" bIns="0" rtlCol="0" anchor="ctr"/>
          <a:lstStyle/>
          <a:p>
            <a:pPr algn="l" indent="0" marL="0">
              <a:buNone/>
            </a:pPr>
            <a:r>
              <a:rPr lang="en-US" sz="2800" b="1" dirty="0">
                <a:solidFill>
                  <a:srgbClr val="0B1F4B"/>
                </a:solidFill>
                <a:latin typeface="Calibri" pitchFamily="34" charset="0"/>
                <a:ea typeface="Calibri" pitchFamily="34" charset="-122"/>
                <a:cs typeface="Calibri" pitchFamily="34" charset="-120"/>
              </a:rPr>
              <a:t>Model Evaluation: the Confusion Matrix</a:t>
            </a:r>
            <a:endParaRPr lang="en-US" sz="2800" dirty="0"/>
          </a:p>
        </p:txBody>
      </p:sp>
      <p:sp>
        <p:nvSpPr>
          <p:cNvPr id="3" name="tag"/>
          <p:cNvSpPr/>
          <p:nvPr/>
        </p:nvSpPr>
        <p:spPr>
          <a:xfrm>
            <a:off x="9738360" y="457200"/>
            <a:ext cx="1920240" cy="365760"/>
          </a:xfrm>
          <a:prstGeom prst="roundRect">
            <a:avLst>
              <a:gd name="adj" fmla="val 50000"/>
            </a:avLst>
          </a:prstGeom>
          <a:solidFill>
            <a:srgbClr val="2E9E5B"/>
          </a:solidFill>
          <a:ln w="12700">
            <a:solidFill>
              <a:srgbClr val="2E9E5B"/>
            </a:solidFill>
            <a:prstDash val="solid"/>
          </a:ln>
        </p:spPr>
      </p:sp>
      <p:sp>
        <p:nvSpPr>
          <p:cNvPr id="4" name="Text 2"/>
          <p:cNvSpPr txBox="1"/>
          <p:nvPr/>
        </p:nvSpPr>
        <p:spPr>
          <a:xfrm>
            <a:off x="9738360" y="457200"/>
            <a:ext cx="1920240"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TEST RESULT</a:t>
            </a:r>
            <a:endParaRPr lang="en-US" sz="1000" dirty="0"/>
          </a:p>
        </p:txBody>
      </p:sp>
      <p:sp>
        <p:nvSpPr>
          <p:cNvPr id="5" name="Text 3"/>
          <p:cNvSpPr txBox="1"/>
          <p:nvPr/>
        </p:nvSpPr>
        <p:spPr>
          <a:xfrm>
            <a:off x="8229600" y="6400800"/>
            <a:ext cx="1554480" cy="32004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9 / 20</a:t>
            </a:r>
            <a:endParaRPr lang="en-US" sz="1000" dirty="0"/>
          </a:p>
        </p:txBody>
      </p:sp>
      <p:sp>
        <p:nvSpPr>
          <p:cNvPr id="6" name="navButton"/>
          <p:cNvSpPr/>
          <p:nvPr/>
        </p:nvSpPr>
        <p:spPr>
          <a:xfrm>
            <a:off x="9921240" y="6419088"/>
            <a:ext cx="822960" cy="292608"/>
          </a:xfrm>
          <a:prstGeom prst="roundRect">
            <a:avLst>
              <a:gd name="adj" fmla="val 50000"/>
            </a:avLst>
          </a:prstGeom>
          <a:solidFill>
            <a:srgbClr val="FFFFFF"/>
          </a:solidFill>
          <a:ln w="12700">
            <a:solidFill>
              <a:srgbClr val="C9D3E3"/>
            </a:solidFill>
            <a:prstDash val="solid"/>
          </a:ln>
        </p:spPr>
      </p:sp>
      <p:sp>
        <p:nvSpPr>
          <p:cNvPr id="7" name="Text 5">
            <a:hlinkClick r:id="rId1" tooltip="Previous slide" action="ppaction://hlinksldjump"/>
          </p:cNvPr>
          <p:cNvSpPr txBox="1"/>
          <p:nvPr/>
        </p:nvSpPr>
        <p:spPr>
          <a:xfrm>
            <a:off x="99212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1" action="ppaction://hlinksldjump" tooltip="Previous slide">
                  <a:extLst>
                    <a:ext uri="{A12FA001-AC4F-418D-AE19-62706E023703}">
                      <ahyp:hlinkClr xmlns:ahyp="http://schemas.microsoft.com/office/drawing/2018/hyperlinkcolor" val="tx"/>
                    </a:ext>
                  </a:extLst>
                </a:hlinkClick>
              </a:rPr>
              <a:t>‹ Prev</a:t>
            </a:r>
            <a:endParaRPr lang="en-US" sz="1000" dirty="0"/>
          </a:p>
        </p:txBody>
      </p:sp>
      <p:sp>
        <p:nvSpPr>
          <p:cNvPr id="8" name="navButton"/>
          <p:cNvSpPr/>
          <p:nvPr/>
        </p:nvSpPr>
        <p:spPr>
          <a:xfrm>
            <a:off x="10835640" y="6419088"/>
            <a:ext cx="822960" cy="292608"/>
          </a:xfrm>
          <a:prstGeom prst="roundRect">
            <a:avLst>
              <a:gd name="adj" fmla="val 50000"/>
            </a:avLst>
          </a:prstGeom>
          <a:solidFill>
            <a:srgbClr val="FFFFFF"/>
          </a:solidFill>
          <a:ln w="12700">
            <a:solidFill>
              <a:srgbClr val="C9D3E3"/>
            </a:solidFill>
            <a:prstDash val="solid"/>
          </a:ln>
        </p:spPr>
      </p:sp>
      <p:sp>
        <p:nvSpPr>
          <p:cNvPr id="9" name="Text 7">
            <a:hlinkClick r:id="rId2" tooltip="Next slide" action="ppaction://hlinksldjump"/>
          </p:cNvPr>
          <p:cNvSpPr txBox="1"/>
          <p:nvPr/>
        </p:nvSpPr>
        <p:spPr>
          <a:xfrm>
            <a:off x="108356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2" action="ppaction://hlinksldjump" tooltip="Next slide">
                  <a:extLst>
                    <a:ext uri="{A12FA001-AC4F-418D-AE19-62706E023703}">
                      <ahyp:hlinkClr xmlns:ahyp="http://schemas.microsoft.com/office/drawing/2018/hyperlinkcolor" val="tx"/>
                    </a:ext>
                  </a:extLst>
                </a:hlinkClick>
              </a:rPr>
              <a:t>Next ›</a:t>
            </a:r>
            <a:endParaRPr lang="en-US" sz="1000" dirty="0"/>
          </a:p>
        </p:txBody>
      </p:sp>
      <p:sp>
        <p:nvSpPr>
          <p:cNvPr id="11" name="Text 8"/>
          <p:cNvSpPr txBox="1"/>
          <p:nvPr/>
        </p:nvSpPr>
        <p:spPr>
          <a:xfrm>
            <a:off x="2194560" y="1325880"/>
            <a:ext cx="2377440" cy="320040"/>
          </a:xfrm>
          <a:prstGeom prst="rect">
            <a:avLst/>
          </a:prstGeom>
          <a:noFill/>
          <a:ln/>
        </p:spPr>
        <p:txBody>
          <a:bodyPr wrap="square" lIns="0" tIns="0" rIns="0" bIns="0" rtlCol="0" anchor="t"/>
          <a:lstStyle/>
          <a:p>
            <a:pPr algn="ctr" indent="0" marL="0">
              <a:buNone/>
            </a:pPr>
            <a:r>
              <a:rPr lang="en-US" sz="1300" b="1" dirty="0">
                <a:solidFill>
                  <a:srgbClr val="5B6B82"/>
                </a:solidFill>
                <a:latin typeface="Calibri" pitchFamily="34" charset="0"/>
                <a:ea typeface="Calibri" pitchFamily="34" charset="-122"/>
                <a:cs typeface="Calibri" pitchFamily="34" charset="-120"/>
              </a:rPr>
              <a:t>Predicted Approved</a:t>
            </a:r>
            <a:endParaRPr lang="en-US" sz="1300" dirty="0"/>
          </a:p>
        </p:txBody>
      </p:sp>
      <p:sp>
        <p:nvSpPr>
          <p:cNvPr id="12" name="Text 9"/>
          <p:cNvSpPr txBox="1"/>
          <p:nvPr/>
        </p:nvSpPr>
        <p:spPr>
          <a:xfrm>
            <a:off x="4663440" y="1325880"/>
            <a:ext cx="2377440" cy="320040"/>
          </a:xfrm>
          <a:prstGeom prst="rect">
            <a:avLst/>
          </a:prstGeom>
          <a:noFill/>
          <a:ln/>
        </p:spPr>
        <p:txBody>
          <a:bodyPr wrap="square" lIns="0" tIns="0" rIns="0" bIns="0" rtlCol="0" anchor="t"/>
          <a:lstStyle/>
          <a:p>
            <a:pPr algn="ctr" indent="0" marL="0">
              <a:buNone/>
            </a:pPr>
            <a:r>
              <a:rPr lang="en-US" sz="1300" b="1" dirty="0">
                <a:solidFill>
                  <a:srgbClr val="5B6B82"/>
                </a:solidFill>
                <a:latin typeface="Calibri" pitchFamily="34" charset="0"/>
                <a:ea typeface="Calibri" pitchFamily="34" charset="-122"/>
                <a:cs typeface="Calibri" pitchFamily="34" charset="-120"/>
              </a:rPr>
              <a:t>Predicted Declined</a:t>
            </a:r>
            <a:endParaRPr lang="en-US" sz="1300" dirty="0"/>
          </a:p>
        </p:txBody>
      </p:sp>
      <p:sp>
        <p:nvSpPr>
          <p:cNvPr id="13" name="Text 10"/>
          <p:cNvSpPr txBox="1"/>
          <p:nvPr/>
        </p:nvSpPr>
        <p:spPr>
          <a:xfrm>
            <a:off x="548640" y="2148840"/>
            <a:ext cx="1554480" cy="822960"/>
          </a:xfrm>
          <a:prstGeom prst="rect">
            <a:avLst/>
          </a:prstGeom>
          <a:noFill/>
          <a:ln/>
        </p:spPr>
        <p:txBody>
          <a:bodyPr wrap="square" lIns="0" tIns="0" rIns="0" bIns="0" rtlCol="0" anchor="ctr"/>
          <a:lstStyle/>
          <a:p>
            <a:pPr indent="0" marL="0">
              <a:buNone/>
            </a:pPr>
            <a:r>
              <a:rPr lang="en-US" sz="1300" b="1" dirty="0">
                <a:solidFill>
                  <a:srgbClr val="5B6B82"/>
                </a:solidFill>
                <a:latin typeface="Calibri" pitchFamily="34" charset="0"/>
                <a:ea typeface="Calibri" pitchFamily="34" charset="-122"/>
                <a:cs typeface="Calibri" pitchFamily="34" charset="-120"/>
              </a:rPr>
              <a:t>Actual Approved</a:t>
            </a:r>
            <a:endParaRPr lang="en-US" sz="1300" dirty="0"/>
          </a:p>
        </p:txBody>
      </p:sp>
      <p:sp>
        <p:nvSpPr>
          <p:cNvPr id="14" name="Text 11"/>
          <p:cNvSpPr txBox="1"/>
          <p:nvPr/>
        </p:nvSpPr>
        <p:spPr>
          <a:xfrm>
            <a:off x="548640" y="3657600"/>
            <a:ext cx="1554480" cy="822960"/>
          </a:xfrm>
          <a:prstGeom prst="rect">
            <a:avLst/>
          </a:prstGeom>
          <a:noFill/>
          <a:ln/>
        </p:spPr>
        <p:txBody>
          <a:bodyPr wrap="square" lIns="0" tIns="0" rIns="0" bIns="0" rtlCol="0" anchor="ctr"/>
          <a:lstStyle/>
          <a:p>
            <a:pPr indent="0" marL="0">
              <a:buNone/>
            </a:pPr>
            <a:r>
              <a:rPr lang="en-US" sz="1300" b="1" dirty="0">
                <a:solidFill>
                  <a:srgbClr val="5B6B82"/>
                </a:solidFill>
                <a:latin typeface="Calibri" pitchFamily="34" charset="0"/>
                <a:ea typeface="Calibri" pitchFamily="34" charset="-122"/>
                <a:cs typeface="Calibri" pitchFamily="34" charset="-120"/>
              </a:rPr>
              <a:t>Actual Declined</a:t>
            </a:r>
            <a:endParaRPr lang="en-US" sz="1300" dirty="0"/>
          </a:p>
        </p:txBody>
      </p:sp>
      <p:sp>
        <p:nvSpPr>
          <p:cNvPr id="15" name="cell"/>
          <p:cNvSpPr/>
          <p:nvPr/>
        </p:nvSpPr>
        <p:spPr>
          <a:xfrm>
            <a:off x="2194560" y="1737360"/>
            <a:ext cx="2377440" cy="1463040"/>
          </a:xfrm>
          <a:prstGeom prst="roundRect">
            <a:avLst>
              <a:gd name="adj" fmla="val 7500"/>
            </a:avLst>
          </a:prstGeom>
          <a:solidFill>
            <a:srgbClr val="2E9E5B"/>
          </a:solidFill>
          <a:ln w="6350">
            <a:solidFill>
              <a:srgbClr val="2E9E5B"/>
            </a:solidFill>
            <a:prstDash val="solid"/>
          </a:ln>
          <a:effectLst>
            <a:outerShdw sx="100000" sy="100000" kx="0" ky="0" algn="bl" rotWithShape="0" blurRad="76200" dist="25400" dir="5400000">
              <a:srgbClr val="000000">
                <a:alpha val="12000"/>
              </a:srgbClr>
            </a:outerShdw>
          </a:effectLst>
        </p:spPr>
      </p:sp>
      <p:sp>
        <p:nvSpPr>
          <p:cNvPr id="16" name="Text 13"/>
          <p:cNvSpPr txBox="1"/>
          <p:nvPr/>
        </p:nvSpPr>
        <p:spPr>
          <a:xfrm>
            <a:off x="2194560" y="1920240"/>
            <a:ext cx="2377440" cy="73152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1,041</a:t>
            </a:r>
            <a:endParaRPr lang="en-US" sz="3800" dirty="0"/>
          </a:p>
        </p:txBody>
      </p:sp>
      <p:sp>
        <p:nvSpPr>
          <p:cNvPr id="17" name="Text 14"/>
          <p:cNvSpPr txBox="1"/>
          <p:nvPr/>
        </p:nvSpPr>
        <p:spPr>
          <a:xfrm>
            <a:off x="2194560" y="2651760"/>
            <a:ext cx="2377440" cy="36576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Correct: Approved</a:t>
            </a:r>
            <a:endParaRPr lang="en-US" sz="1300" dirty="0"/>
          </a:p>
        </p:txBody>
      </p:sp>
      <p:sp>
        <p:nvSpPr>
          <p:cNvPr id="18" name="cell"/>
          <p:cNvSpPr/>
          <p:nvPr/>
        </p:nvSpPr>
        <p:spPr>
          <a:xfrm>
            <a:off x="4663440" y="1737360"/>
            <a:ext cx="2377440" cy="1463040"/>
          </a:xfrm>
          <a:prstGeom prst="roundRect">
            <a:avLst>
              <a:gd name="adj" fmla="val 7500"/>
            </a:avLst>
          </a:prstGeom>
          <a:solidFill>
            <a:srgbClr val="F28C28"/>
          </a:solidFill>
          <a:ln w="6350">
            <a:solidFill>
              <a:srgbClr val="F28C28"/>
            </a:solidFill>
            <a:prstDash val="solid"/>
          </a:ln>
          <a:effectLst>
            <a:outerShdw sx="100000" sy="100000" kx="0" ky="0" algn="bl" rotWithShape="0" blurRad="76200" dist="25400" dir="5400000">
              <a:srgbClr val="000000">
                <a:alpha val="12000"/>
              </a:srgbClr>
            </a:outerShdw>
          </a:effectLst>
        </p:spPr>
      </p:sp>
      <p:sp>
        <p:nvSpPr>
          <p:cNvPr id="19" name="Text 16"/>
          <p:cNvSpPr txBox="1"/>
          <p:nvPr/>
        </p:nvSpPr>
        <p:spPr>
          <a:xfrm>
            <a:off x="4663440" y="1920240"/>
            <a:ext cx="2377440" cy="73152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230</a:t>
            </a:r>
            <a:endParaRPr lang="en-US" sz="3800" dirty="0"/>
          </a:p>
        </p:txBody>
      </p:sp>
      <p:sp>
        <p:nvSpPr>
          <p:cNvPr id="20" name="Text 17"/>
          <p:cNvSpPr txBox="1"/>
          <p:nvPr/>
        </p:nvSpPr>
        <p:spPr>
          <a:xfrm>
            <a:off x="4663440" y="2651760"/>
            <a:ext cx="2377440" cy="36576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False declines</a:t>
            </a:r>
            <a:endParaRPr lang="en-US" sz="1300" dirty="0"/>
          </a:p>
        </p:txBody>
      </p:sp>
      <p:sp>
        <p:nvSpPr>
          <p:cNvPr id="21" name="cell"/>
          <p:cNvSpPr/>
          <p:nvPr/>
        </p:nvSpPr>
        <p:spPr>
          <a:xfrm>
            <a:off x="2194560" y="3291840"/>
            <a:ext cx="2377440" cy="1463040"/>
          </a:xfrm>
          <a:prstGeom prst="roundRect">
            <a:avLst>
              <a:gd name="adj" fmla="val 7500"/>
            </a:avLst>
          </a:prstGeom>
          <a:solidFill>
            <a:srgbClr val="F28C28"/>
          </a:solidFill>
          <a:ln w="6350">
            <a:solidFill>
              <a:srgbClr val="F28C28"/>
            </a:solidFill>
            <a:prstDash val="solid"/>
          </a:ln>
          <a:effectLst>
            <a:outerShdw sx="100000" sy="100000" kx="0" ky="0" algn="bl" rotWithShape="0" blurRad="76200" dist="25400" dir="5400000">
              <a:srgbClr val="000000">
                <a:alpha val="12000"/>
              </a:srgbClr>
            </a:outerShdw>
          </a:effectLst>
        </p:spPr>
      </p:sp>
      <p:sp>
        <p:nvSpPr>
          <p:cNvPr id="22" name="Text 19"/>
          <p:cNvSpPr txBox="1"/>
          <p:nvPr/>
        </p:nvSpPr>
        <p:spPr>
          <a:xfrm>
            <a:off x="2194560" y="3474720"/>
            <a:ext cx="2377440" cy="73152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285</a:t>
            </a:r>
            <a:endParaRPr lang="en-US" sz="3800" dirty="0"/>
          </a:p>
        </p:txBody>
      </p:sp>
      <p:sp>
        <p:nvSpPr>
          <p:cNvPr id="23" name="Text 20"/>
          <p:cNvSpPr txBox="1"/>
          <p:nvPr/>
        </p:nvSpPr>
        <p:spPr>
          <a:xfrm>
            <a:off x="2194560" y="4206240"/>
            <a:ext cx="2377440" cy="36576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Missed declines</a:t>
            </a:r>
            <a:endParaRPr lang="en-US" sz="1300" dirty="0"/>
          </a:p>
        </p:txBody>
      </p:sp>
      <p:sp>
        <p:nvSpPr>
          <p:cNvPr id="24" name="cell"/>
          <p:cNvSpPr/>
          <p:nvPr/>
        </p:nvSpPr>
        <p:spPr>
          <a:xfrm>
            <a:off x="4663440" y="3291840"/>
            <a:ext cx="2377440" cy="1463040"/>
          </a:xfrm>
          <a:prstGeom prst="roundRect">
            <a:avLst>
              <a:gd name="adj" fmla="val 7500"/>
            </a:avLst>
          </a:prstGeom>
          <a:solidFill>
            <a:srgbClr val="2E9E5B"/>
          </a:solidFill>
          <a:ln w="6350">
            <a:solidFill>
              <a:srgbClr val="2E9E5B"/>
            </a:solidFill>
            <a:prstDash val="solid"/>
          </a:ln>
          <a:effectLst>
            <a:outerShdw sx="100000" sy="100000" kx="0" ky="0" algn="bl" rotWithShape="0" blurRad="76200" dist="25400" dir="5400000">
              <a:srgbClr val="000000">
                <a:alpha val="12000"/>
              </a:srgbClr>
            </a:outerShdw>
          </a:effectLst>
        </p:spPr>
      </p:sp>
      <p:sp>
        <p:nvSpPr>
          <p:cNvPr id="25" name="Text 22"/>
          <p:cNvSpPr txBox="1"/>
          <p:nvPr/>
        </p:nvSpPr>
        <p:spPr>
          <a:xfrm>
            <a:off x="4663440" y="3474720"/>
            <a:ext cx="2377440" cy="73152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844</a:t>
            </a:r>
            <a:endParaRPr lang="en-US" sz="3800" dirty="0"/>
          </a:p>
        </p:txBody>
      </p:sp>
      <p:sp>
        <p:nvSpPr>
          <p:cNvPr id="26" name="Text 23"/>
          <p:cNvSpPr txBox="1"/>
          <p:nvPr/>
        </p:nvSpPr>
        <p:spPr>
          <a:xfrm>
            <a:off x="4663440" y="4206240"/>
            <a:ext cx="2377440" cy="36576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Correct: Declined</a:t>
            </a:r>
            <a:endParaRPr lang="en-US" sz="1300" dirty="0"/>
          </a:p>
        </p:txBody>
      </p:sp>
      <p:sp>
        <p:nvSpPr>
          <p:cNvPr id="27" name="Text 24"/>
          <p:cNvSpPr txBox="1"/>
          <p:nvPr/>
        </p:nvSpPr>
        <p:spPr>
          <a:xfrm>
            <a:off x="2194560" y="4846320"/>
            <a:ext cx="4846320" cy="274320"/>
          </a:xfrm>
          <a:prstGeom prst="rect">
            <a:avLst/>
          </a:prstGeom>
          <a:noFill/>
          <a:ln/>
        </p:spPr>
        <p:txBody>
          <a:bodyPr wrap="square" lIns="0" tIns="0" rIns="0" bIns="0" rtlCol="0" anchor="t"/>
          <a:lstStyle/>
          <a:p>
            <a:pPr algn="ctr" indent="0" marL="0">
              <a:buNone/>
            </a:pPr>
            <a:r>
              <a:rPr lang="en-US" sz="1200" dirty="0">
                <a:solidFill>
                  <a:srgbClr val="5B6B82"/>
                </a:solidFill>
                <a:latin typeface="Calibri" pitchFamily="34" charset="0"/>
                <a:ea typeface="Calibri" pitchFamily="34" charset="-122"/>
                <a:cs typeface="Calibri" pitchFamily="34" charset="-120"/>
              </a:rPr>
              <a:t>2,400 test applications  ·  threshold 0.50</a:t>
            </a:r>
            <a:endParaRPr lang="en-US" sz="1200" dirty="0"/>
          </a:p>
        </p:txBody>
      </p:sp>
      <p:sp>
        <p:nvSpPr>
          <p:cNvPr id="28" name="stat"/>
          <p:cNvSpPr/>
          <p:nvPr/>
        </p:nvSpPr>
        <p:spPr>
          <a:xfrm>
            <a:off x="7406640" y="1325880"/>
            <a:ext cx="4251960" cy="1188720"/>
          </a:xfrm>
          <a:prstGeom prst="roundRect">
            <a:avLst>
              <a:gd name="adj" fmla="val 9231"/>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29" name="Text 26"/>
          <p:cNvSpPr txBox="1"/>
          <p:nvPr/>
        </p:nvSpPr>
        <p:spPr>
          <a:xfrm>
            <a:off x="7589520" y="1463040"/>
            <a:ext cx="3886200" cy="594360"/>
          </a:xfrm>
          <a:prstGeom prst="rect">
            <a:avLst/>
          </a:prstGeom>
          <a:noFill/>
          <a:ln/>
        </p:spPr>
        <p:txBody>
          <a:bodyPr wrap="square" lIns="0" tIns="0" rIns="0" bIns="0" rtlCol="0" anchor="ctr"/>
          <a:lstStyle/>
          <a:p>
            <a:pPr indent="0" marL="0">
              <a:buNone/>
            </a:pPr>
            <a:r>
              <a:rPr lang="en-US" sz="3600" b="1" dirty="0">
                <a:solidFill>
                  <a:srgbClr val="00A6A6"/>
                </a:solidFill>
                <a:latin typeface="Calibri" pitchFamily="34" charset="0"/>
                <a:ea typeface="Calibri" pitchFamily="34" charset="-122"/>
                <a:cs typeface="Calibri" pitchFamily="34" charset="-120"/>
              </a:rPr>
              <a:t>78.54%</a:t>
            </a:r>
            <a:endParaRPr lang="en-US" sz="3600" dirty="0"/>
          </a:p>
        </p:txBody>
      </p:sp>
      <p:sp>
        <p:nvSpPr>
          <p:cNvPr id="30" name="Text 27"/>
          <p:cNvSpPr txBox="1"/>
          <p:nvPr/>
        </p:nvSpPr>
        <p:spPr>
          <a:xfrm>
            <a:off x="7589520" y="1979676"/>
            <a:ext cx="3886200" cy="499262"/>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overall accuracy on the test set</a:t>
            </a:r>
            <a:endParaRPr lang="en-US" sz="1300" dirty="0"/>
          </a:p>
        </p:txBody>
      </p:sp>
      <p:sp>
        <p:nvSpPr>
          <p:cNvPr id="31" name="card"/>
          <p:cNvSpPr/>
          <p:nvPr/>
        </p:nvSpPr>
        <p:spPr>
          <a:xfrm>
            <a:off x="7406640" y="2651760"/>
            <a:ext cx="4251960" cy="1508760"/>
          </a:xfrm>
          <a:prstGeom prst="roundRect">
            <a:avLst>
              <a:gd name="adj" fmla="val 7273"/>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32" name="Text 29"/>
          <p:cNvSpPr txBox="1"/>
          <p:nvPr/>
        </p:nvSpPr>
        <p:spPr>
          <a:xfrm>
            <a:off x="7635240" y="2743200"/>
            <a:ext cx="3840480" cy="320040"/>
          </a:xfrm>
          <a:prstGeom prst="rect">
            <a:avLst/>
          </a:prstGeom>
          <a:noFill/>
          <a:ln/>
        </p:spPr>
        <p:txBody>
          <a:bodyPr wrap="square" lIns="0" tIns="0" rIns="0" bIns="0" rtlCol="0" anchor="t"/>
          <a:lstStyle/>
          <a:p>
            <a:pPr indent="0" marL="0">
              <a:buNone/>
            </a:pPr>
            <a:r>
              <a:rPr lang="en-US" sz="1500" b="1" dirty="0">
                <a:solidFill>
                  <a:srgbClr val="0B1F4B"/>
                </a:solidFill>
                <a:latin typeface="Calibri" pitchFamily="34" charset="0"/>
                <a:ea typeface="Calibri" pitchFamily="34" charset="-122"/>
                <a:cs typeface="Calibri" pitchFamily="34" charset="-120"/>
              </a:rPr>
              <a:t>In plain English</a:t>
            </a:r>
            <a:endParaRPr lang="en-US" sz="1500" dirty="0"/>
          </a:p>
        </p:txBody>
      </p:sp>
      <p:sp>
        <p:nvSpPr>
          <p:cNvPr id="33" name="Text 30"/>
          <p:cNvSpPr txBox="1"/>
          <p:nvPr/>
        </p:nvSpPr>
        <p:spPr>
          <a:xfrm>
            <a:off x="7635240" y="3090672"/>
            <a:ext cx="3886200" cy="105156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rgbClr val="1F2A44"/>
                </a:solidFill>
                <a:latin typeface="Calibri" pitchFamily="34" charset="0"/>
                <a:ea typeface="Calibri" pitchFamily="34" charset="-122"/>
                <a:cs typeface="Calibri" pitchFamily="34" charset="-120"/>
              </a:rPr>
              <a:t>Accuracy: share of all decisions that match</a:t>
            </a:r>
            <a:endParaRPr lang="en-US" sz="1200" dirty="0"/>
          </a:p>
          <a:p>
            <a:pPr marL="342900" indent="-342900">
              <a:spcAft>
                <a:spcPts val="200"/>
              </a:spcAft>
              <a:buSzPct val="100000"/>
              <a:buChar char="•"/>
            </a:pPr>
            <a:r>
              <a:rPr lang="en-US" sz="1200" dirty="0">
                <a:solidFill>
                  <a:srgbClr val="1F2A44"/>
                </a:solidFill>
                <a:latin typeface="Calibri" pitchFamily="34" charset="0"/>
                <a:ea typeface="Calibri" pitchFamily="34" charset="-122"/>
                <a:cs typeface="Calibri" pitchFamily="34" charset="-120"/>
              </a:rPr>
              <a:t>Precision 78.58%: a decline call is right ~79 times in 100</a:t>
            </a:r>
            <a:endParaRPr lang="en-US" sz="1200" dirty="0"/>
          </a:p>
          <a:p>
            <a:pPr marL="342900" indent="-342900">
              <a:spcAft>
                <a:spcPts val="200"/>
              </a:spcAft>
              <a:buSzPct val="100000"/>
              <a:buChar char="•"/>
            </a:pPr>
            <a:r>
              <a:rPr lang="en-US" sz="1200" dirty="0">
                <a:solidFill>
                  <a:srgbClr val="1F2A44"/>
                </a:solidFill>
                <a:latin typeface="Calibri" pitchFamily="34" charset="0"/>
                <a:ea typeface="Calibri" pitchFamily="34" charset="-122"/>
                <a:cs typeface="Calibri" pitchFamily="34" charset="-120"/>
              </a:rPr>
              <a:t>Recall 74.76%: it catches 844 of 1,129 real declines</a:t>
            </a:r>
            <a:endParaRPr lang="en-US" sz="1200" dirty="0"/>
          </a:p>
        </p:txBody>
      </p:sp>
      <p:sp>
        <p:nvSpPr>
          <p:cNvPr id="34" name="note"/>
          <p:cNvSpPr/>
          <p:nvPr/>
        </p:nvSpPr>
        <p:spPr>
          <a:xfrm>
            <a:off x="7406640" y="4297680"/>
            <a:ext cx="4251960" cy="1371600"/>
          </a:xfrm>
          <a:prstGeom prst="roundRect">
            <a:avLst>
              <a:gd name="adj" fmla="val 8000"/>
            </a:avLst>
          </a:prstGeom>
          <a:solidFill>
            <a:srgbClr val="FFF1E0"/>
          </a:solidFill>
          <a:ln w="12700">
            <a:solidFill>
              <a:srgbClr val="F28C28"/>
            </a:solidFill>
            <a:prstDash val="solid"/>
          </a:ln>
        </p:spPr>
      </p:sp>
      <p:sp>
        <p:nvSpPr>
          <p:cNvPr id="35" name="Text 32"/>
          <p:cNvSpPr txBox="1"/>
          <p:nvPr/>
        </p:nvSpPr>
        <p:spPr>
          <a:xfrm>
            <a:off x="7589520" y="4389120"/>
            <a:ext cx="3886200" cy="411480"/>
          </a:xfrm>
          <a:prstGeom prst="rect">
            <a:avLst/>
          </a:prstGeom>
          <a:noFill/>
          <a:ln/>
        </p:spPr>
        <p:txBody>
          <a:bodyPr wrap="square" lIns="0" tIns="0" rIns="0" bIns="0" rtlCol="0" anchor="t"/>
          <a:lstStyle/>
          <a:p>
            <a:pPr indent="0" marL="0">
              <a:buNone/>
            </a:pPr>
            <a:r>
              <a:rPr lang="en-US" sz="1500" b="1" dirty="0">
                <a:solidFill>
                  <a:srgbClr val="0B1F4B"/>
                </a:solidFill>
                <a:latin typeface="Calibri" pitchFamily="34" charset="0"/>
                <a:ea typeface="Calibri" pitchFamily="34" charset="-122"/>
                <a:cs typeface="Calibri" pitchFamily="34" charset="-120"/>
              </a:rPr>
              <a:t>230 false declines out of 1,271 approvals (18.1%)</a:t>
            </a:r>
            <a:endParaRPr lang="en-US" sz="1500" dirty="0"/>
          </a:p>
        </p:txBody>
      </p:sp>
      <p:sp>
        <p:nvSpPr>
          <p:cNvPr id="36" name="Text 33"/>
          <p:cNvSpPr txBox="1"/>
          <p:nvPr/>
        </p:nvSpPr>
        <p:spPr>
          <a:xfrm>
            <a:off x="7589520" y="4846320"/>
            <a:ext cx="3886200" cy="731520"/>
          </a:xfrm>
          <a:prstGeom prst="rect">
            <a:avLst/>
          </a:prstGeom>
          <a:noFill/>
          <a:ln/>
        </p:spPr>
        <p:txBody>
          <a:bodyPr wrap="square" lIns="0" tIns="0" rIns="0" bIns="0" rtlCol="0" anchor="t"/>
          <a:lstStyle/>
          <a:p>
            <a:pPr indent="0" marL="0">
              <a:buNone/>
            </a:pPr>
            <a:r>
              <a:rPr lang="en-US" sz="1300" dirty="0">
                <a:solidFill>
                  <a:srgbClr val="1F2A44"/>
                </a:solidFill>
                <a:latin typeface="Calibri" pitchFamily="34" charset="0"/>
                <a:ea typeface="Calibri" pitchFamily="34" charset="-122"/>
                <a:cs typeface="Calibri" pitchFamily="34" charset="-120"/>
              </a:rPr>
              <a:t>Each one is a good customer lost and an unfair outcome.</a:t>
            </a:r>
            <a:endParaRPr lang="en-US" sz="1300" dirty="0"/>
          </a:p>
        </p:txBody>
      </p:sp>
      <p:sp>
        <p:nvSpPr>
          <p:cNvPr id="37" name="note"/>
          <p:cNvSpPr/>
          <p:nvPr/>
        </p:nvSpPr>
        <p:spPr>
          <a:xfrm>
            <a:off x="548640" y="5669280"/>
            <a:ext cx="6492240" cy="548640"/>
          </a:xfrm>
          <a:prstGeom prst="roundRect">
            <a:avLst>
              <a:gd name="adj" fmla="val 20000"/>
            </a:avLst>
          </a:prstGeom>
          <a:solidFill>
            <a:srgbClr val="FFF1E0"/>
          </a:solidFill>
          <a:ln w="12700">
            <a:solidFill>
              <a:srgbClr val="F28C28"/>
            </a:solidFill>
            <a:prstDash val="solid"/>
          </a:ln>
        </p:spPr>
      </p:sp>
      <p:sp>
        <p:nvSpPr>
          <p:cNvPr id="38" name="iconCircle"/>
          <p:cNvSpPr/>
          <p:nvPr/>
        </p:nvSpPr>
        <p:spPr>
          <a:xfrm>
            <a:off x="731520" y="5715000"/>
            <a:ext cx="457200" cy="457200"/>
          </a:xfrm>
          <a:prstGeom prst="ellipse">
            <a:avLst/>
          </a:prstGeom>
          <a:solidFill>
            <a:srgbClr val="F28C28"/>
          </a:solidFill>
          <a:ln w="12700">
            <a:solidFill>
              <a:srgbClr val="F28C28"/>
            </a:solidFill>
            <a:prstDash val="solid"/>
          </a:ln>
        </p:spPr>
      </p:sp>
      <p:pic>
        <p:nvPicPr>
          <p:cNvPr id="39" name="Image 0" descr="ExclamationTriangle icon">    </p:cNvPr>
          <p:cNvPicPr>
            <a:picLocks noChangeAspect="1"/>
          </p:cNvPicPr>
          <p:nvPr/>
        </p:nvPicPr>
        <p:blipFill>
          <a:blip r:embed="rId3"/>
          <a:stretch>
            <a:fillRect/>
          </a:stretch>
        </p:blipFill>
        <p:spPr>
          <a:xfrm>
            <a:off x="845820" y="5829300"/>
            <a:ext cx="228600" cy="228600"/>
          </a:xfrm>
          <a:prstGeom prst="rect">
            <a:avLst/>
          </a:prstGeom>
        </p:spPr>
      </p:pic>
      <p:sp>
        <p:nvSpPr>
          <p:cNvPr id="40" name="Text 36"/>
          <p:cNvSpPr txBox="1"/>
          <p:nvPr/>
        </p:nvSpPr>
        <p:spPr>
          <a:xfrm>
            <a:off x="1371600" y="5669280"/>
            <a:ext cx="5486400" cy="548640"/>
          </a:xfrm>
          <a:prstGeom prst="rect">
            <a:avLst/>
          </a:prstGeom>
          <a:noFill/>
          <a:ln/>
        </p:spPr>
        <p:txBody>
          <a:bodyPr wrap="square" lIns="0" tIns="0" rIns="0" bIns="0" rtlCol="0" anchor="ctr"/>
          <a:lstStyle/>
          <a:p>
            <a:pPr indent="0" marL="0">
              <a:buNone/>
            </a:pPr>
            <a:r>
              <a:rPr lang="en-US" sz="1300" b="1" dirty="0">
                <a:solidFill>
                  <a:srgbClr val="0B1F4B"/>
                </a:solidFill>
                <a:latin typeface="Calibri" pitchFamily="34" charset="0"/>
                <a:ea typeface="Calibri" pitchFamily="34" charset="-122"/>
                <a:cs typeface="Calibri" pitchFamily="34" charset="-120"/>
              </a:rPr>
              <a:t>False declines are why a 0.50 cut-off is not safe for auto-decline.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052560" cy="777240"/>
          </a:xfrm>
          <a:prstGeom prst="rect">
            <a:avLst/>
          </a:prstGeom>
          <a:noFill/>
          <a:ln/>
        </p:spPr>
        <p:txBody>
          <a:bodyPr wrap="square" lIns="0" tIns="0" rIns="0" bIns="0" rtlCol="0" anchor="ctr"/>
          <a:lstStyle/>
          <a:p>
            <a:pPr algn="l" indent="0" marL="0">
              <a:buNone/>
            </a:pPr>
            <a:r>
              <a:rPr lang="en-US" sz="2800" b="1" dirty="0">
                <a:solidFill>
                  <a:srgbClr val="0B1F4B"/>
                </a:solidFill>
                <a:latin typeface="Calibri" pitchFamily="34" charset="0"/>
                <a:ea typeface="Calibri" pitchFamily="34" charset="-122"/>
                <a:cs typeface="Calibri" pitchFamily="34" charset="-120"/>
              </a:rPr>
              <a:t>Choosing a Safer Auto-Decline Threshold — Step 5.5</a:t>
            </a:r>
            <a:endParaRPr lang="en-US" sz="2800" dirty="0"/>
          </a:p>
        </p:txBody>
      </p:sp>
      <p:sp>
        <p:nvSpPr>
          <p:cNvPr id="3" name="tag"/>
          <p:cNvSpPr/>
          <p:nvPr/>
        </p:nvSpPr>
        <p:spPr>
          <a:xfrm>
            <a:off x="9738360" y="457200"/>
            <a:ext cx="1920240" cy="365760"/>
          </a:xfrm>
          <a:prstGeom prst="roundRect">
            <a:avLst>
              <a:gd name="adj" fmla="val 50000"/>
            </a:avLst>
          </a:prstGeom>
          <a:solidFill>
            <a:srgbClr val="2E9E5B"/>
          </a:solidFill>
          <a:ln w="12700">
            <a:solidFill>
              <a:srgbClr val="2E9E5B"/>
            </a:solidFill>
            <a:prstDash val="solid"/>
          </a:ln>
        </p:spPr>
      </p:sp>
      <p:sp>
        <p:nvSpPr>
          <p:cNvPr id="4" name="Text 2"/>
          <p:cNvSpPr txBox="1"/>
          <p:nvPr/>
        </p:nvSpPr>
        <p:spPr>
          <a:xfrm>
            <a:off x="9738360" y="457200"/>
            <a:ext cx="1920240"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TEST RESULT</a:t>
            </a:r>
            <a:endParaRPr lang="en-US" sz="1000" dirty="0"/>
          </a:p>
        </p:txBody>
      </p:sp>
      <p:sp>
        <p:nvSpPr>
          <p:cNvPr id="5" name="Text 3"/>
          <p:cNvSpPr txBox="1"/>
          <p:nvPr/>
        </p:nvSpPr>
        <p:spPr>
          <a:xfrm>
            <a:off x="8229600" y="6400800"/>
            <a:ext cx="1554480" cy="32004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10 / 20</a:t>
            </a:r>
            <a:endParaRPr lang="en-US" sz="1000" dirty="0"/>
          </a:p>
        </p:txBody>
      </p:sp>
      <p:sp>
        <p:nvSpPr>
          <p:cNvPr id="6" name="navButton"/>
          <p:cNvSpPr/>
          <p:nvPr/>
        </p:nvSpPr>
        <p:spPr>
          <a:xfrm>
            <a:off x="9921240" y="6419088"/>
            <a:ext cx="822960" cy="292608"/>
          </a:xfrm>
          <a:prstGeom prst="roundRect">
            <a:avLst>
              <a:gd name="adj" fmla="val 50000"/>
            </a:avLst>
          </a:prstGeom>
          <a:solidFill>
            <a:srgbClr val="FFFFFF"/>
          </a:solidFill>
          <a:ln w="12700">
            <a:solidFill>
              <a:srgbClr val="C9D3E3"/>
            </a:solidFill>
            <a:prstDash val="solid"/>
          </a:ln>
        </p:spPr>
      </p:sp>
      <p:sp>
        <p:nvSpPr>
          <p:cNvPr id="7" name="Text 5">
            <a:hlinkClick r:id="rId1" tooltip="Previous slide" action="ppaction://hlinksldjump"/>
          </p:cNvPr>
          <p:cNvSpPr txBox="1"/>
          <p:nvPr/>
        </p:nvSpPr>
        <p:spPr>
          <a:xfrm>
            <a:off x="99212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1" action="ppaction://hlinksldjump" tooltip="Previous slide">
                  <a:extLst>
                    <a:ext uri="{A12FA001-AC4F-418D-AE19-62706E023703}">
                      <ahyp:hlinkClr xmlns:ahyp="http://schemas.microsoft.com/office/drawing/2018/hyperlinkcolor" val="tx"/>
                    </a:ext>
                  </a:extLst>
                </a:hlinkClick>
              </a:rPr>
              <a:t>‹ Prev</a:t>
            </a:r>
            <a:endParaRPr lang="en-US" sz="1000" dirty="0"/>
          </a:p>
        </p:txBody>
      </p:sp>
      <p:sp>
        <p:nvSpPr>
          <p:cNvPr id="8" name="navButton"/>
          <p:cNvSpPr/>
          <p:nvPr/>
        </p:nvSpPr>
        <p:spPr>
          <a:xfrm>
            <a:off x="10835640" y="6419088"/>
            <a:ext cx="822960" cy="292608"/>
          </a:xfrm>
          <a:prstGeom prst="roundRect">
            <a:avLst>
              <a:gd name="adj" fmla="val 50000"/>
            </a:avLst>
          </a:prstGeom>
          <a:solidFill>
            <a:srgbClr val="FFFFFF"/>
          </a:solidFill>
          <a:ln w="12700">
            <a:solidFill>
              <a:srgbClr val="C9D3E3"/>
            </a:solidFill>
            <a:prstDash val="solid"/>
          </a:ln>
        </p:spPr>
      </p:sp>
      <p:sp>
        <p:nvSpPr>
          <p:cNvPr id="9" name="Text 7">
            <a:hlinkClick r:id="rId2" tooltip="Next slide" action="ppaction://hlinksldjump"/>
          </p:cNvPr>
          <p:cNvSpPr txBox="1"/>
          <p:nvPr/>
        </p:nvSpPr>
        <p:spPr>
          <a:xfrm>
            <a:off x="108356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2" action="ppaction://hlinksldjump" tooltip="Next slide">
                  <a:extLst>
                    <a:ext uri="{A12FA001-AC4F-418D-AE19-62706E023703}">
                      <ahyp:hlinkClr xmlns:ahyp="http://schemas.microsoft.com/office/drawing/2018/hyperlinkcolor" val="tx"/>
                    </a:ext>
                  </a:extLst>
                </a:hlinkClick>
              </a:rPr>
              <a:t>Next ›</a:t>
            </a:r>
            <a:endParaRPr lang="en-US" sz="1000" dirty="0"/>
          </a:p>
        </p:txBody>
      </p:sp>
      <p:sp>
        <p:nvSpPr>
          <p:cNvPr id="11" name="card"/>
          <p:cNvSpPr/>
          <p:nvPr/>
        </p:nvSpPr>
        <p:spPr>
          <a:xfrm>
            <a:off x="548640" y="1325880"/>
            <a:ext cx="5760720" cy="3840480"/>
          </a:xfrm>
          <a:prstGeom prst="roundRect">
            <a:avLst>
              <a:gd name="adj" fmla="val 2857"/>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1508760"/>
          <a:ext cx="5394960" cy="914400"/>
        </p:xfrm>
        <a:graphic>
          <a:graphicData uri="http://schemas.openxmlformats.org/drawingml/2006/table">
            <a:tbl>
              <a:tblPr/>
              <a:tblGrid>
                <a:gridCol w="1005840"/>
                <a:gridCol w="1554480"/>
                <a:gridCol w="1371600"/>
                <a:gridCol w="1463040"/>
              </a:tblGrid>
              <a:tr h="5029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Threshold</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0B1F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Auto-declined (of 2,400)</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0B1F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auto-declined</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0B1F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wrongly declined</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0B1F4B"/>
                    </a:solidFill>
                  </a:tcPr>
                </a:tc>
              </a:tr>
              <a:tr h="411480">
                <a:tc>
                  <a:txBody>
                    <a:bodyPr/>
                    <a:lstStyle/>
                    <a:p>
                      <a:pPr algn="ctr" indent="0" marL="0">
                        <a:buNone/>
                      </a:pPr>
                      <a:r>
                        <a:rPr lang="en-US" sz="1300" dirty="0">
                          <a:solidFill>
                            <a:srgbClr val="1F2A44"/>
                          </a:solidFill>
                          <a:latin typeface="Calibri" pitchFamily="34" charset="0"/>
                          <a:ea typeface="Calibri" pitchFamily="34" charset="-122"/>
                          <a:cs typeface="Calibri" pitchFamily="34" charset="-120"/>
                        </a:rPr>
                        <a:t>0.50</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44"/>
                          </a:solidFill>
                          <a:latin typeface="Calibri" pitchFamily="34" charset="0"/>
                          <a:ea typeface="Calibri" pitchFamily="34" charset="-122"/>
                          <a:cs typeface="Calibri" pitchFamily="34" charset="-120"/>
                        </a:rPr>
                        <a:t>1,074</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44"/>
                          </a:solidFill>
                          <a:latin typeface="Calibri" pitchFamily="34" charset="0"/>
                          <a:ea typeface="Calibri" pitchFamily="34" charset="-122"/>
                          <a:cs typeface="Calibri" pitchFamily="34" charset="-120"/>
                        </a:rPr>
                        <a:t>44.75%</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D64545"/>
                          </a:solidFill>
                          <a:latin typeface="Calibri" pitchFamily="34" charset="0"/>
                          <a:ea typeface="Calibri" pitchFamily="34" charset="-122"/>
                          <a:cs typeface="Calibri" pitchFamily="34" charset="-120"/>
                        </a:rPr>
                        <a:t>21.42%</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411480">
                <a:tc>
                  <a:txBody>
                    <a:bodyPr/>
                    <a:lstStyle/>
                    <a:p>
                      <a:pPr algn="ctr" indent="0" marL="0">
                        <a:buNone/>
                      </a:pPr>
                      <a:r>
                        <a:rPr lang="en-US" sz="1300" dirty="0">
                          <a:solidFill>
                            <a:srgbClr val="1F2A44"/>
                          </a:solidFill>
                          <a:latin typeface="Calibri" pitchFamily="34" charset="0"/>
                          <a:ea typeface="Calibri" pitchFamily="34" charset="-122"/>
                          <a:cs typeface="Calibri" pitchFamily="34" charset="-120"/>
                        </a:rPr>
                        <a:t>0.60</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44"/>
                          </a:solidFill>
                          <a:latin typeface="Calibri" pitchFamily="34" charset="0"/>
                          <a:ea typeface="Calibri" pitchFamily="34" charset="-122"/>
                          <a:cs typeface="Calibri" pitchFamily="34" charset="-120"/>
                        </a:rPr>
                        <a:t>892</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44"/>
                          </a:solidFill>
                          <a:latin typeface="Calibri" pitchFamily="34" charset="0"/>
                          <a:ea typeface="Calibri" pitchFamily="34" charset="-122"/>
                          <a:cs typeface="Calibri" pitchFamily="34" charset="-120"/>
                        </a:rPr>
                        <a:t>37.17%</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D64545"/>
                          </a:solidFill>
                          <a:latin typeface="Calibri" pitchFamily="34" charset="0"/>
                          <a:ea typeface="Calibri" pitchFamily="34" charset="-122"/>
                          <a:cs typeface="Calibri" pitchFamily="34" charset="-120"/>
                        </a:rPr>
                        <a:t>16.70%</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411480">
                <a:tc>
                  <a:txBody>
                    <a:bodyPr/>
                    <a:lstStyle/>
                    <a:p>
                      <a:pPr algn="ctr" indent="0" marL="0">
                        <a:buNone/>
                      </a:pPr>
                      <a:r>
                        <a:rPr lang="en-US" sz="1300" dirty="0">
                          <a:solidFill>
                            <a:srgbClr val="1F2A44"/>
                          </a:solidFill>
                          <a:latin typeface="Calibri" pitchFamily="34" charset="0"/>
                          <a:ea typeface="Calibri" pitchFamily="34" charset="-122"/>
                          <a:cs typeface="Calibri" pitchFamily="34" charset="-120"/>
                        </a:rPr>
                        <a:t>0.70</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44"/>
                          </a:solidFill>
                          <a:latin typeface="Calibri" pitchFamily="34" charset="0"/>
                          <a:ea typeface="Calibri" pitchFamily="34" charset="-122"/>
                          <a:cs typeface="Calibri" pitchFamily="34" charset="-120"/>
                        </a:rPr>
                        <a:t>736</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44"/>
                          </a:solidFill>
                          <a:latin typeface="Calibri" pitchFamily="34" charset="0"/>
                          <a:ea typeface="Calibri" pitchFamily="34" charset="-122"/>
                          <a:cs typeface="Calibri" pitchFamily="34" charset="-120"/>
                        </a:rPr>
                        <a:t>30.67%</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D64545"/>
                          </a:solidFill>
                          <a:latin typeface="Calibri" pitchFamily="34" charset="0"/>
                          <a:ea typeface="Calibri" pitchFamily="34" charset="-122"/>
                          <a:cs typeface="Calibri" pitchFamily="34" charset="-120"/>
                        </a:rPr>
                        <a:t>11.68%</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411480">
                <a:tc>
                  <a:txBody>
                    <a:bodyPr/>
                    <a:lstStyle/>
                    <a:p>
                      <a:pPr algn="ctr" indent="0" marL="0">
                        <a:buNone/>
                      </a:pPr>
                      <a:r>
                        <a:rPr lang="en-US" sz="1300" dirty="0">
                          <a:solidFill>
                            <a:srgbClr val="1F2A44"/>
                          </a:solidFill>
                          <a:latin typeface="Calibri" pitchFamily="34" charset="0"/>
                          <a:ea typeface="Calibri" pitchFamily="34" charset="-122"/>
                          <a:cs typeface="Calibri" pitchFamily="34" charset="-120"/>
                        </a:rPr>
                        <a:t>0.80</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44"/>
                          </a:solidFill>
                          <a:latin typeface="Calibri" pitchFamily="34" charset="0"/>
                          <a:ea typeface="Calibri" pitchFamily="34" charset="-122"/>
                          <a:cs typeface="Calibri" pitchFamily="34" charset="-120"/>
                        </a:rPr>
                        <a:t>568</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44"/>
                          </a:solidFill>
                          <a:latin typeface="Calibri" pitchFamily="34" charset="0"/>
                          <a:ea typeface="Calibri" pitchFamily="34" charset="-122"/>
                          <a:cs typeface="Calibri" pitchFamily="34" charset="-120"/>
                        </a:rPr>
                        <a:t>23.67%</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D64545"/>
                          </a:solidFill>
                          <a:latin typeface="Calibri" pitchFamily="34" charset="0"/>
                          <a:ea typeface="Calibri" pitchFamily="34" charset="-122"/>
                          <a:cs typeface="Calibri" pitchFamily="34" charset="-120"/>
                        </a:rPr>
                        <a:t>7.39%</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411480">
                <a:tc>
                  <a:txBody>
                    <a:bodyPr/>
                    <a:lstStyle/>
                    <a:p>
                      <a:pPr algn="ctr" indent="0" marL="0">
                        <a:buNone/>
                      </a:pPr>
                      <a:r>
                        <a:rPr lang="en-US" sz="1300" dirty="0">
                          <a:solidFill>
                            <a:srgbClr val="1F2A44"/>
                          </a:solidFill>
                          <a:latin typeface="Calibri" pitchFamily="34" charset="0"/>
                          <a:ea typeface="Calibri" pitchFamily="34" charset="-122"/>
                          <a:cs typeface="Calibri" pitchFamily="34" charset="-120"/>
                        </a:rPr>
                        <a:t>0.85</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44"/>
                          </a:solidFill>
                          <a:latin typeface="Calibri" pitchFamily="34" charset="0"/>
                          <a:ea typeface="Calibri" pitchFamily="34" charset="-122"/>
                          <a:cs typeface="Calibri" pitchFamily="34" charset="-120"/>
                        </a:rPr>
                        <a:t>459</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44"/>
                          </a:solidFill>
                          <a:latin typeface="Calibri" pitchFamily="34" charset="0"/>
                          <a:ea typeface="Calibri" pitchFamily="34" charset="-122"/>
                          <a:cs typeface="Calibri" pitchFamily="34" charset="-120"/>
                        </a:rPr>
                        <a:t>19.12%</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D64545"/>
                          </a:solidFill>
                          <a:latin typeface="Calibri" pitchFamily="34" charset="0"/>
                          <a:ea typeface="Calibri" pitchFamily="34" charset="-122"/>
                          <a:cs typeface="Calibri" pitchFamily="34" charset="-120"/>
                        </a:rPr>
                        <a:t>5.66%</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411480">
                <a:tc>
                  <a:txBody>
                    <a:bodyPr/>
                    <a:lstStyle/>
                    <a:p>
                      <a:pPr algn="ctr" indent="0" marL="0">
                        <a:buNone/>
                      </a:pPr>
                      <a:r>
                        <a:rPr lang="en-US" sz="1300" b="1" dirty="0">
                          <a:solidFill>
                            <a:srgbClr val="1F2A44"/>
                          </a:solidFill>
                          <a:latin typeface="Calibri" pitchFamily="34" charset="0"/>
                          <a:ea typeface="Calibri" pitchFamily="34" charset="-122"/>
                          <a:cs typeface="Calibri" pitchFamily="34" charset="-120"/>
                        </a:rPr>
                        <a:t>0.90</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3F4EA"/>
                    </a:solidFill>
                  </a:tcPr>
                </a:tc>
                <a:tc>
                  <a:txBody>
                    <a:bodyPr/>
                    <a:lstStyle/>
                    <a:p>
                      <a:pPr algn="ctr" indent="0" marL="0">
                        <a:buNone/>
                      </a:pPr>
                      <a:r>
                        <a:rPr lang="en-US" sz="1300" b="1" dirty="0">
                          <a:solidFill>
                            <a:srgbClr val="1F2A44"/>
                          </a:solidFill>
                          <a:latin typeface="Calibri" pitchFamily="34" charset="0"/>
                          <a:ea typeface="Calibri" pitchFamily="34" charset="-122"/>
                          <a:cs typeface="Calibri" pitchFamily="34" charset="-120"/>
                        </a:rPr>
                        <a:t>351</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3F4EA"/>
                    </a:solidFill>
                  </a:tcPr>
                </a:tc>
                <a:tc>
                  <a:txBody>
                    <a:bodyPr/>
                    <a:lstStyle/>
                    <a:p>
                      <a:pPr algn="ctr" indent="0" marL="0">
                        <a:buNone/>
                      </a:pPr>
                      <a:r>
                        <a:rPr lang="en-US" sz="1300" b="1" dirty="0">
                          <a:solidFill>
                            <a:srgbClr val="1F2A44"/>
                          </a:solidFill>
                          <a:latin typeface="Calibri" pitchFamily="34" charset="0"/>
                          <a:ea typeface="Calibri" pitchFamily="34" charset="-122"/>
                          <a:cs typeface="Calibri" pitchFamily="34" charset="-120"/>
                        </a:rPr>
                        <a:t>14.62%</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3F4EA"/>
                    </a:solidFill>
                  </a:tcPr>
                </a:tc>
                <a:tc>
                  <a:txBody>
                    <a:bodyPr/>
                    <a:lstStyle/>
                    <a:p>
                      <a:pPr algn="ctr" indent="0" marL="0">
                        <a:buNone/>
                      </a:pPr>
                      <a:r>
                        <a:rPr lang="en-US" sz="1300" b="1" dirty="0">
                          <a:solidFill>
                            <a:srgbClr val="2E9E5B"/>
                          </a:solidFill>
                          <a:latin typeface="Calibri" pitchFamily="34" charset="0"/>
                          <a:ea typeface="Calibri" pitchFamily="34" charset="-122"/>
                          <a:cs typeface="Calibri" pitchFamily="34" charset="-120"/>
                        </a:rPr>
                        <a:t>4.27%</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3F4EA"/>
                    </a:solidFill>
                  </a:tcPr>
                </a:tc>
              </a:tr>
              <a:tr h="411480">
                <a:tc>
                  <a:txBody>
                    <a:bodyPr/>
                    <a:lstStyle/>
                    <a:p>
                      <a:pPr algn="ctr" indent="0" marL="0">
                        <a:buNone/>
                      </a:pPr>
                      <a:r>
                        <a:rPr lang="en-US" sz="1300" dirty="0">
                          <a:solidFill>
                            <a:srgbClr val="1F2A44"/>
                          </a:solidFill>
                          <a:latin typeface="Calibri" pitchFamily="34" charset="0"/>
                          <a:ea typeface="Calibri" pitchFamily="34" charset="-122"/>
                          <a:cs typeface="Calibri" pitchFamily="34" charset="-120"/>
                        </a:rPr>
                        <a:t>0.95</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44"/>
                          </a:solidFill>
                          <a:latin typeface="Calibri" pitchFamily="34" charset="0"/>
                          <a:ea typeface="Calibri" pitchFamily="34" charset="-122"/>
                          <a:cs typeface="Calibri" pitchFamily="34" charset="-120"/>
                        </a:rPr>
                        <a:t>232</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44"/>
                          </a:solidFill>
                          <a:latin typeface="Calibri" pitchFamily="34" charset="0"/>
                          <a:ea typeface="Calibri" pitchFamily="34" charset="-122"/>
                          <a:cs typeface="Calibri" pitchFamily="34" charset="-120"/>
                        </a:rPr>
                        <a:t>9.67%</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E9E5B"/>
                          </a:solidFill>
                          <a:latin typeface="Calibri" pitchFamily="34" charset="0"/>
                          <a:ea typeface="Calibri" pitchFamily="34" charset="-122"/>
                          <a:cs typeface="Calibri" pitchFamily="34" charset="-120"/>
                        </a:rPr>
                        <a:t>2.16%</a:t>
                      </a:r>
                      <a:endParaRPr lang="en-US" sz="13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bl>
          </a:graphicData>
        </a:graphic>
      </p:graphicFrame>
      <p:sp>
        <p:nvSpPr>
          <p:cNvPr id="13" name="card"/>
          <p:cNvSpPr/>
          <p:nvPr/>
        </p:nvSpPr>
        <p:spPr>
          <a:xfrm>
            <a:off x="6446520" y="1325880"/>
            <a:ext cx="5212080" cy="3840480"/>
          </a:xfrm>
          <a:prstGeom prst="roundRect">
            <a:avLst>
              <a:gd name="adj" fmla="val 2857"/>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graphicFrame>
        <p:nvGraphicFramePr>
          <p:cNvPr id="14" name="Chart 0" descr=""/>
          <p:cNvGraphicFramePr/>
          <p:nvPr/>
        </p:nvGraphicFramePr>
        <p:xfrm>
          <a:off x="6537960" y="1417320"/>
          <a:ext cx="5029200" cy="3657600"/>
        </p:xfrm>
        <a:graphic xmlns:a="http://schemas.openxmlformats.org/drawingml/2006/main">
          <a:graphicData uri="http://schemas.openxmlformats.org/drawingml/2006/chart">
            <c:chart xmlns:c="http://schemas.openxmlformats.org/drawingml/2006/chart" r:id="rId3"/>
          </a:graphicData>
        </a:graphic>
      </p:graphicFrame>
      <p:sp>
        <p:nvSpPr>
          <p:cNvPr id="15" name="stat"/>
          <p:cNvSpPr/>
          <p:nvPr/>
        </p:nvSpPr>
        <p:spPr>
          <a:xfrm>
            <a:off x="548640" y="5349240"/>
            <a:ext cx="3566160" cy="868680"/>
          </a:xfrm>
          <a:prstGeom prst="roundRect">
            <a:avLst>
              <a:gd name="adj" fmla="val 12632"/>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6" name="Text 11"/>
          <p:cNvSpPr txBox="1"/>
          <p:nvPr/>
        </p:nvSpPr>
        <p:spPr>
          <a:xfrm>
            <a:off x="731520" y="5486400"/>
            <a:ext cx="3200400" cy="434340"/>
          </a:xfrm>
          <a:prstGeom prst="rect">
            <a:avLst/>
          </a:prstGeom>
          <a:noFill/>
          <a:ln/>
        </p:spPr>
        <p:txBody>
          <a:bodyPr wrap="square" lIns="0" tIns="0" rIns="0" bIns="0" rtlCol="0" anchor="ctr"/>
          <a:lstStyle/>
          <a:p>
            <a:pPr indent="0" marL="0">
              <a:buNone/>
            </a:pPr>
            <a:r>
              <a:rPr lang="en-US" sz="2600" b="1" dirty="0">
                <a:solidFill>
                  <a:srgbClr val="D64545"/>
                </a:solidFill>
                <a:latin typeface="Calibri" pitchFamily="34" charset="0"/>
                <a:ea typeface="Calibri" pitchFamily="34" charset="-122"/>
                <a:cs typeface="Calibri" pitchFamily="34" charset="-120"/>
              </a:rPr>
              <a:t>≤ 5%</a:t>
            </a:r>
            <a:endParaRPr lang="en-US" sz="2600" dirty="0"/>
          </a:p>
        </p:txBody>
      </p:sp>
      <p:sp>
        <p:nvSpPr>
          <p:cNvPr id="17" name="Text 12"/>
          <p:cNvSpPr txBox="1"/>
          <p:nvPr/>
        </p:nvSpPr>
        <p:spPr>
          <a:xfrm>
            <a:off x="731520" y="5827014"/>
            <a:ext cx="3200400" cy="364846"/>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rule: wrongly declined auto-declines</a:t>
            </a:r>
            <a:endParaRPr lang="en-US" sz="1300" dirty="0"/>
          </a:p>
        </p:txBody>
      </p:sp>
      <p:sp>
        <p:nvSpPr>
          <p:cNvPr id="18" name="stat"/>
          <p:cNvSpPr/>
          <p:nvPr/>
        </p:nvSpPr>
        <p:spPr>
          <a:xfrm>
            <a:off x="4251960" y="5349240"/>
            <a:ext cx="3749040" cy="868680"/>
          </a:xfrm>
          <a:prstGeom prst="roundRect">
            <a:avLst>
              <a:gd name="adj" fmla="val 12632"/>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9" name="Text 14"/>
          <p:cNvSpPr txBox="1"/>
          <p:nvPr/>
        </p:nvSpPr>
        <p:spPr>
          <a:xfrm>
            <a:off x="4434840" y="5486400"/>
            <a:ext cx="3383280" cy="434340"/>
          </a:xfrm>
          <a:prstGeom prst="rect">
            <a:avLst/>
          </a:prstGeom>
          <a:noFill/>
          <a:ln/>
        </p:spPr>
        <p:txBody>
          <a:bodyPr wrap="square" lIns="0" tIns="0" rIns="0" bIns="0" rtlCol="0" anchor="ctr"/>
          <a:lstStyle/>
          <a:p>
            <a:pPr indent="0" marL="0">
              <a:buNone/>
            </a:pPr>
            <a:r>
              <a:rPr lang="en-US" sz="2400" b="1" dirty="0">
                <a:solidFill>
                  <a:srgbClr val="2E9E5B"/>
                </a:solidFill>
                <a:latin typeface="Calibri" pitchFamily="34" charset="0"/>
                <a:ea typeface="Calibri" pitchFamily="34" charset="-122"/>
                <a:cs typeface="Calibri" pitchFamily="34" charset="-120"/>
              </a:rPr>
              <a:t>0.90 selected</a:t>
            </a:r>
            <a:endParaRPr lang="en-US" sz="2400" dirty="0"/>
          </a:p>
        </p:txBody>
      </p:sp>
      <p:sp>
        <p:nvSpPr>
          <p:cNvPr id="20" name="Text 15"/>
          <p:cNvSpPr txBox="1"/>
          <p:nvPr/>
        </p:nvSpPr>
        <p:spPr>
          <a:xfrm>
            <a:off x="4434840" y="5827014"/>
            <a:ext cx="3383280" cy="364846"/>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14.62% auto-declined, 4.27% wrong</a:t>
            </a:r>
            <a:endParaRPr lang="en-US" sz="1300" dirty="0"/>
          </a:p>
        </p:txBody>
      </p:sp>
      <p:sp>
        <p:nvSpPr>
          <p:cNvPr id="21" name="stat"/>
          <p:cNvSpPr/>
          <p:nvPr/>
        </p:nvSpPr>
        <p:spPr>
          <a:xfrm>
            <a:off x="8138160" y="5349240"/>
            <a:ext cx="3520440" cy="868680"/>
          </a:xfrm>
          <a:prstGeom prst="roundRect">
            <a:avLst>
              <a:gd name="adj" fmla="val 12632"/>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22" name="Text 17"/>
          <p:cNvSpPr txBox="1"/>
          <p:nvPr/>
        </p:nvSpPr>
        <p:spPr>
          <a:xfrm>
            <a:off x="8321040" y="5486400"/>
            <a:ext cx="3154680" cy="434340"/>
          </a:xfrm>
          <a:prstGeom prst="rect">
            <a:avLst/>
          </a:prstGeom>
          <a:noFill/>
          <a:ln/>
        </p:spPr>
        <p:txBody>
          <a:bodyPr wrap="square" lIns="0" tIns="0" rIns="0" bIns="0" rtlCol="0" anchor="ctr"/>
          <a:lstStyle/>
          <a:p>
            <a:pPr indent="0" marL="0">
              <a:buNone/>
            </a:pPr>
            <a:r>
              <a:rPr lang="en-US" sz="2400" b="1" dirty="0">
                <a:solidFill>
                  <a:srgbClr val="0B1F4B"/>
                </a:solidFill>
                <a:latin typeface="Calibri" pitchFamily="34" charset="0"/>
                <a:ea typeface="Calibri" pitchFamily="34" charset="-122"/>
                <a:cs typeface="Calibri" pitchFamily="34" charset="-120"/>
              </a:rPr>
              <a:t>≈439 / month</a:t>
            </a:r>
            <a:endParaRPr lang="en-US" sz="2400" dirty="0"/>
          </a:p>
        </p:txBody>
      </p:sp>
      <p:sp>
        <p:nvSpPr>
          <p:cNvPr id="23" name="Text 18"/>
          <p:cNvSpPr txBox="1"/>
          <p:nvPr/>
        </p:nvSpPr>
        <p:spPr>
          <a:xfrm>
            <a:off x="8321040" y="5827014"/>
            <a:ext cx="3154680" cy="364846"/>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 182.8 analyst hours saved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052560" cy="777240"/>
          </a:xfrm>
          <a:prstGeom prst="rect">
            <a:avLst/>
          </a:prstGeom>
          <a:noFill/>
          <a:ln/>
        </p:spPr>
        <p:txBody>
          <a:bodyPr wrap="square" lIns="0" tIns="0" rIns="0" bIns="0" rtlCol="0" anchor="ctr"/>
          <a:lstStyle/>
          <a:p>
            <a:pPr algn="l" indent="0" marL="0">
              <a:buNone/>
            </a:pPr>
            <a:r>
              <a:rPr lang="en-US" sz="2800" b="1" dirty="0">
                <a:solidFill>
                  <a:srgbClr val="0B1F4B"/>
                </a:solidFill>
                <a:latin typeface="Calibri" pitchFamily="34" charset="0"/>
                <a:ea typeface="Calibri" pitchFamily="34" charset="-122"/>
                <a:cs typeface="Calibri" pitchFamily="34" charset="-120"/>
              </a:rPr>
              <a:t>Fairness and Responsible AI — Step 5.6</a:t>
            </a:r>
            <a:endParaRPr lang="en-US" sz="2800" dirty="0"/>
          </a:p>
        </p:txBody>
      </p:sp>
      <p:sp>
        <p:nvSpPr>
          <p:cNvPr id="3" name="tag"/>
          <p:cNvSpPr/>
          <p:nvPr/>
        </p:nvSpPr>
        <p:spPr>
          <a:xfrm>
            <a:off x="9738360" y="457200"/>
            <a:ext cx="1920240" cy="365760"/>
          </a:xfrm>
          <a:prstGeom prst="roundRect">
            <a:avLst>
              <a:gd name="adj" fmla="val 50000"/>
            </a:avLst>
          </a:prstGeom>
          <a:solidFill>
            <a:srgbClr val="6C4AB6"/>
          </a:solidFill>
          <a:ln w="12700">
            <a:solidFill>
              <a:srgbClr val="6C4AB6"/>
            </a:solidFill>
            <a:prstDash val="solid"/>
          </a:ln>
        </p:spPr>
      </p:sp>
      <p:sp>
        <p:nvSpPr>
          <p:cNvPr id="4" name="Text 2"/>
          <p:cNvSpPr txBox="1"/>
          <p:nvPr/>
        </p:nvSpPr>
        <p:spPr>
          <a:xfrm>
            <a:off x="9738360" y="457200"/>
            <a:ext cx="1920240"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FAIRNESS CHECK</a:t>
            </a:r>
            <a:endParaRPr lang="en-US" sz="1000" dirty="0"/>
          </a:p>
        </p:txBody>
      </p:sp>
      <p:sp>
        <p:nvSpPr>
          <p:cNvPr id="5" name="Text 3"/>
          <p:cNvSpPr txBox="1"/>
          <p:nvPr/>
        </p:nvSpPr>
        <p:spPr>
          <a:xfrm>
            <a:off x="8229600" y="6400800"/>
            <a:ext cx="1554480" cy="32004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11 / 20</a:t>
            </a:r>
            <a:endParaRPr lang="en-US" sz="1000" dirty="0"/>
          </a:p>
        </p:txBody>
      </p:sp>
      <p:sp>
        <p:nvSpPr>
          <p:cNvPr id="6" name="navButton"/>
          <p:cNvSpPr/>
          <p:nvPr/>
        </p:nvSpPr>
        <p:spPr>
          <a:xfrm>
            <a:off x="9921240" y="6419088"/>
            <a:ext cx="822960" cy="292608"/>
          </a:xfrm>
          <a:prstGeom prst="roundRect">
            <a:avLst>
              <a:gd name="adj" fmla="val 50000"/>
            </a:avLst>
          </a:prstGeom>
          <a:solidFill>
            <a:srgbClr val="FFFFFF"/>
          </a:solidFill>
          <a:ln w="12700">
            <a:solidFill>
              <a:srgbClr val="C9D3E3"/>
            </a:solidFill>
            <a:prstDash val="solid"/>
          </a:ln>
        </p:spPr>
      </p:sp>
      <p:sp>
        <p:nvSpPr>
          <p:cNvPr id="7" name="Text 5">
            <a:hlinkClick r:id="rId1" tooltip="Previous slide" action="ppaction://hlinksldjump"/>
          </p:cNvPr>
          <p:cNvSpPr txBox="1"/>
          <p:nvPr/>
        </p:nvSpPr>
        <p:spPr>
          <a:xfrm>
            <a:off x="99212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1" action="ppaction://hlinksldjump" tooltip="Previous slide">
                  <a:extLst>
                    <a:ext uri="{A12FA001-AC4F-418D-AE19-62706E023703}">
                      <ahyp:hlinkClr xmlns:ahyp="http://schemas.microsoft.com/office/drawing/2018/hyperlinkcolor" val="tx"/>
                    </a:ext>
                  </a:extLst>
                </a:hlinkClick>
              </a:rPr>
              <a:t>‹ Prev</a:t>
            </a:r>
            <a:endParaRPr lang="en-US" sz="1000" dirty="0"/>
          </a:p>
        </p:txBody>
      </p:sp>
      <p:sp>
        <p:nvSpPr>
          <p:cNvPr id="8" name="navButton"/>
          <p:cNvSpPr/>
          <p:nvPr/>
        </p:nvSpPr>
        <p:spPr>
          <a:xfrm>
            <a:off x="10835640" y="6419088"/>
            <a:ext cx="822960" cy="292608"/>
          </a:xfrm>
          <a:prstGeom prst="roundRect">
            <a:avLst>
              <a:gd name="adj" fmla="val 50000"/>
            </a:avLst>
          </a:prstGeom>
          <a:solidFill>
            <a:srgbClr val="FFFFFF"/>
          </a:solidFill>
          <a:ln w="12700">
            <a:solidFill>
              <a:srgbClr val="C9D3E3"/>
            </a:solidFill>
            <a:prstDash val="solid"/>
          </a:ln>
        </p:spPr>
      </p:sp>
      <p:sp>
        <p:nvSpPr>
          <p:cNvPr id="9" name="Text 7">
            <a:hlinkClick r:id="rId2" tooltip="Next slide" action="ppaction://hlinksldjump"/>
          </p:cNvPr>
          <p:cNvSpPr txBox="1"/>
          <p:nvPr/>
        </p:nvSpPr>
        <p:spPr>
          <a:xfrm>
            <a:off x="108356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2" action="ppaction://hlinksldjump" tooltip="Next slide">
                  <a:extLst>
                    <a:ext uri="{A12FA001-AC4F-418D-AE19-62706E023703}">
                      <ahyp:hlinkClr xmlns:ahyp="http://schemas.microsoft.com/office/drawing/2018/hyperlinkcolor" val="tx"/>
                    </a:ext>
                  </a:extLst>
                </a:hlinkClick>
              </a:rPr>
              <a:t>Next ›</a:t>
            </a:r>
            <a:endParaRPr lang="en-US" sz="1000" dirty="0"/>
          </a:p>
        </p:txBody>
      </p:sp>
      <p:sp>
        <p:nvSpPr>
          <p:cNvPr id="11" name="card"/>
          <p:cNvSpPr/>
          <p:nvPr/>
        </p:nvSpPr>
        <p:spPr>
          <a:xfrm>
            <a:off x="548640" y="1325880"/>
            <a:ext cx="6675120" cy="3611880"/>
          </a:xfrm>
          <a:prstGeom prst="roundRect">
            <a:avLst>
              <a:gd name="adj" fmla="val 3038"/>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graphicFrame>
        <p:nvGraphicFramePr>
          <p:cNvPr id="12" name="Chart 0" descr=""/>
          <p:cNvGraphicFramePr/>
          <p:nvPr/>
        </p:nvGraphicFramePr>
        <p:xfrm>
          <a:off x="640080" y="1417320"/>
          <a:ext cx="6492240" cy="3429000"/>
        </p:xfrm>
        <a:graphic xmlns:a="http://schemas.openxmlformats.org/drawingml/2006/main">
          <a:graphicData uri="http://schemas.openxmlformats.org/drawingml/2006/chart">
            <c:chart xmlns:c="http://schemas.openxmlformats.org/drawingml/2006/chart" r:id="rId3"/>
          </a:graphicData>
        </a:graphic>
      </p:graphicFrame>
      <p:sp>
        <p:nvSpPr>
          <p:cNvPr id="13" name="card"/>
          <p:cNvSpPr/>
          <p:nvPr/>
        </p:nvSpPr>
        <p:spPr>
          <a:xfrm>
            <a:off x="7406640" y="1325880"/>
            <a:ext cx="2103120" cy="1737360"/>
          </a:xfrm>
          <a:prstGeom prst="roundRect">
            <a:avLst>
              <a:gd name="adj" fmla="val 6316"/>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4" name="Text 10"/>
          <p:cNvSpPr txBox="1"/>
          <p:nvPr/>
        </p:nvSpPr>
        <p:spPr>
          <a:xfrm>
            <a:off x="7543800" y="1463040"/>
            <a:ext cx="1828800" cy="457200"/>
          </a:xfrm>
          <a:prstGeom prst="rect">
            <a:avLst/>
          </a:prstGeom>
          <a:noFill/>
          <a:ln/>
        </p:spPr>
        <p:txBody>
          <a:bodyPr wrap="square" lIns="0" tIns="0" rIns="0" bIns="0" rtlCol="0" anchor="t"/>
          <a:lstStyle/>
          <a:p>
            <a:pPr indent="0" marL="0">
              <a:buNone/>
            </a:pPr>
            <a:r>
              <a:rPr lang="en-US" sz="1200" b="1" dirty="0">
                <a:solidFill>
                  <a:srgbClr val="5B6B82"/>
                </a:solidFill>
                <a:latin typeface="Calibri" pitchFamily="34" charset="0"/>
                <a:ea typeface="Calibri" pitchFamily="34" charset="-122"/>
                <a:cs typeface="Calibri" pitchFamily="34" charset="-120"/>
              </a:rPr>
              <a:t>Overall approval</a:t>
            </a:r>
            <a:endParaRPr lang="en-US" sz="1200" dirty="0"/>
          </a:p>
        </p:txBody>
      </p:sp>
      <p:sp>
        <p:nvSpPr>
          <p:cNvPr id="15" name="Text 11"/>
          <p:cNvSpPr txBox="1"/>
          <p:nvPr/>
        </p:nvSpPr>
        <p:spPr>
          <a:xfrm>
            <a:off x="7543800" y="2011680"/>
            <a:ext cx="1828800" cy="914400"/>
          </a:xfrm>
          <a:prstGeom prst="rect">
            <a:avLst/>
          </a:prstGeom>
          <a:noFill/>
          <a:ln/>
        </p:spPr>
        <p:txBody>
          <a:bodyPr wrap="square" lIns="0" tIns="0" rIns="0" bIns="0" rtlCol="0" anchor="t"/>
          <a:lstStyle/>
          <a:p>
            <a:pPr indent="0" marL="0">
              <a:buNone/>
            </a:pPr>
            <a:r>
              <a:rPr lang="en-US" sz="1500" b="1" dirty="0">
                <a:solidFill>
                  <a:srgbClr val="0B1F4B"/>
                </a:solidFill>
                <a:latin typeface="Calibri" pitchFamily="34" charset="0"/>
                <a:ea typeface="Calibri" pitchFamily="34" charset="-122"/>
                <a:cs typeface="Calibri" pitchFamily="34" charset="-120"/>
              </a:rPr>
              <a:t>F 50.43%  ·  M 54.10%</a:t>
            </a:r>
            <a:endParaRPr lang="en-US" sz="1500" dirty="0"/>
          </a:p>
        </p:txBody>
      </p:sp>
      <p:sp>
        <p:nvSpPr>
          <p:cNvPr id="16" name="card"/>
          <p:cNvSpPr/>
          <p:nvPr/>
        </p:nvSpPr>
        <p:spPr>
          <a:xfrm>
            <a:off x="9601200" y="1325880"/>
            <a:ext cx="2103120" cy="1737360"/>
          </a:xfrm>
          <a:prstGeom prst="roundRect">
            <a:avLst>
              <a:gd name="adj" fmla="val 6316"/>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7" name="Text 13"/>
          <p:cNvSpPr txBox="1"/>
          <p:nvPr/>
        </p:nvSpPr>
        <p:spPr>
          <a:xfrm>
            <a:off x="9738360" y="1463040"/>
            <a:ext cx="1828800" cy="457200"/>
          </a:xfrm>
          <a:prstGeom prst="rect">
            <a:avLst/>
          </a:prstGeom>
          <a:noFill/>
          <a:ln/>
        </p:spPr>
        <p:txBody>
          <a:bodyPr wrap="square" lIns="0" tIns="0" rIns="0" bIns="0" rtlCol="0" anchor="t"/>
          <a:lstStyle/>
          <a:p>
            <a:pPr indent="0" marL="0">
              <a:buNone/>
            </a:pPr>
            <a:r>
              <a:rPr lang="en-US" sz="1200" b="1" dirty="0">
                <a:solidFill>
                  <a:srgbClr val="5B6B82"/>
                </a:solidFill>
                <a:latin typeface="Calibri" pitchFamily="34" charset="0"/>
                <a:ea typeface="Calibri" pitchFamily="34" charset="-122"/>
                <a:cs typeface="Calibri" pitchFamily="34" charset="-120"/>
              </a:rPr>
              <a:t>Median monthly income</a:t>
            </a:r>
            <a:endParaRPr lang="en-US" sz="1200" dirty="0"/>
          </a:p>
        </p:txBody>
      </p:sp>
      <p:sp>
        <p:nvSpPr>
          <p:cNvPr id="18" name="Text 14"/>
          <p:cNvSpPr txBox="1"/>
          <p:nvPr/>
        </p:nvSpPr>
        <p:spPr>
          <a:xfrm>
            <a:off x="9738360" y="2011680"/>
            <a:ext cx="1828800" cy="914400"/>
          </a:xfrm>
          <a:prstGeom prst="rect">
            <a:avLst/>
          </a:prstGeom>
          <a:noFill/>
          <a:ln/>
        </p:spPr>
        <p:txBody>
          <a:bodyPr wrap="square" lIns="0" tIns="0" rIns="0" bIns="0" rtlCol="0" anchor="t"/>
          <a:lstStyle/>
          <a:p>
            <a:pPr indent="0" marL="0">
              <a:buNone/>
            </a:pPr>
            <a:r>
              <a:rPr lang="en-US" sz="1500" b="1" dirty="0">
                <a:solidFill>
                  <a:srgbClr val="00A6A6"/>
                </a:solidFill>
                <a:latin typeface="Calibri" pitchFamily="34" charset="0"/>
                <a:ea typeface="Calibri" pitchFamily="34" charset="-122"/>
                <a:cs typeface="Calibri" pitchFamily="34" charset="-120"/>
              </a:rPr>
              <a:t>F ₹45,000  ·  M ₹55,000</a:t>
            </a:r>
            <a:endParaRPr lang="en-US" sz="1500" dirty="0"/>
          </a:p>
        </p:txBody>
      </p:sp>
      <p:sp>
        <p:nvSpPr>
          <p:cNvPr id="19" name="card"/>
          <p:cNvSpPr/>
          <p:nvPr/>
        </p:nvSpPr>
        <p:spPr>
          <a:xfrm>
            <a:off x="7406640" y="3200400"/>
            <a:ext cx="2103120" cy="1737360"/>
          </a:xfrm>
          <a:prstGeom prst="roundRect">
            <a:avLst>
              <a:gd name="adj" fmla="val 6316"/>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20" name="Text 16"/>
          <p:cNvSpPr txBox="1"/>
          <p:nvPr/>
        </p:nvSpPr>
        <p:spPr>
          <a:xfrm>
            <a:off x="7543800" y="3337560"/>
            <a:ext cx="1828800" cy="457200"/>
          </a:xfrm>
          <a:prstGeom prst="rect">
            <a:avLst/>
          </a:prstGeom>
          <a:noFill/>
          <a:ln/>
        </p:spPr>
        <p:txBody>
          <a:bodyPr wrap="square" lIns="0" tIns="0" rIns="0" bIns="0" rtlCol="0" anchor="t"/>
          <a:lstStyle/>
          <a:p>
            <a:pPr indent="0" marL="0">
              <a:buNone/>
            </a:pPr>
            <a:r>
              <a:rPr lang="en-US" sz="1200" b="1" dirty="0">
                <a:solidFill>
                  <a:srgbClr val="5B6B82"/>
                </a:solidFill>
                <a:latin typeface="Calibri" pitchFamily="34" charset="0"/>
                <a:ea typeface="Calibri" pitchFamily="34" charset="-122"/>
                <a:cs typeface="Calibri" pitchFamily="34" charset="-120"/>
              </a:rPr>
              <a:t>Gig / Contract share</a:t>
            </a:r>
            <a:endParaRPr lang="en-US" sz="1200" dirty="0"/>
          </a:p>
        </p:txBody>
      </p:sp>
      <p:sp>
        <p:nvSpPr>
          <p:cNvPr id="21" name="Text 17"/>
          <p:cNvSpPr txBox="1"/>
          <p:nvPr/>
        </p:nvSpPr>
        <p:spPr>
          <a:xfrm>
            <a:off x="7543800" y="3886200"/>
            <a:ext cx="1828800" cy="914400"/>
          </a:xfrm>
          <a:prstGeom prst="rect">
            <a:avLst/>
          </a:prstGeom>
          <a:noFill/>
          <a:ln/>
        </p:spPr>
        <p:txBody>
          <a:bodyPr wrap="square" lIns="0" tIns="0" rIns="0" bIns="0" rtlCol="0" anchor="t"/>
          <a:lstStyle/>
          <a:p>
            <a:pPr indent="0" marL="0">
              <a:buNone/>
            </a:pPr>
            <a:r>
              <a:rPr lang="en-US" sz="1500" b="1" dirty="0">
                <a:solidFill>
                  <a:srgbClr val="F28C28"/>
                </a:solidFill>
                <a:latin typeface="Calibri" pitchFamily="34" charset="0"/>
                <a:ea typeface="Calibri" pitchFamily="34" charset="-122"/>
                <a:cs typeface="Calibri" pitchFamily="34" charset="-120"/>
              </a:rPr>
              <a:t>F 21.37%  ·  M 11.64%</a:t>
            </a:r>
            <a:endParaRPr lang="en-US" sz="1500" dirty="0"/>
          </a:p>
        </p:txBody>
      </p:sp>
      <p:sp>
        <p:nvSpPr>
          <p:cNvPr id="22" name="card"/>
          <p:cNvSpPr/>
          <p:nvPr/>
        </p:nvSpPr>
        <p:spPr>
          <a:xfrm>
            <a:off x="9601200" y="3200400"/>
            <a:ext cx="2103120" cy="1737360"/>
          </a:xfrm>
          <a:prstGeom prst="roundRect">
            <a:avLst>
              <a:gd name="adj" fmla="val 6316"/>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23" name="Text 19"/>
          <p:cNvSpPr txBox="1"/>
          <p:nvPr/>
        </p:nvSpPr>
        <p:spPr>
          <a:xfrm>
            <a:off x="9738360" y="3337560"/>
            <a:ext cx="1828800" cy="457200"/>
          </a:xfrm>
          <a:prstGeom prst="rect">
            <a:avLst/>
          </a:prstGeom>
          <a:noFill/>
          <a:ln/>
        </p:spPr>
        <p:txBody>
          <a:bodyPr wrap="square" lIns="0" tIns="0" rIns="0" bIns="0" rtlCol="0" anchor="t"/>
          <a:lstStyle/>
          <a:p>
            <a:pPr indent="0" marL="0">
              <a:buNone/>
            </a:pPr>
            <a:r>
              <a:rPr lang="en-US" sz="1200" b="1" dirty="0">
                <a:solidFill>
                  <a:srgbClr val="5B6B82"/>
                </a:solidFill>
                <a:latin typeface="Calibri" pitchFamily="34" charset="0"/>
                <a:ea typeface="Calibri" pitchFamily="34" charset="-122"/>
                <a:cs typeface="Calibri" pitchFamily="34" charset="-120"/>
              </a:rPr>
              <a:t>Auto-decline at 0.90</a:t>
            </a:r>
            <a:endParaRPr lang="en-US" sz="1200" dirty="0"/>
          </a:p>
        </p:txBody>
      </p:sp>
      <p:sp>
        <p:nvSpPr>
          <p:cNvPr id="24" name="Text 20"/>
          <p:cNvSpPr txBox="1"/>
          <p:nvPr/>
        </p:nvSpPr>
        <p:spPr>
          <a:xfrm>
            <a:off x="9738360" y="3886200"/>
            <a:ext cx="1828800" cy="914400"/>
          </a:xfrm>
          <a:prstGeom prst="rect">
            <a:avLst/>
          </a:prstGeom>
          <a:noFill/>
          <a:ln/>
        </p:spPr>
        <p:txBody>
          <a:bodyPr wrap="square" lIns="0" tIns="0" rIns="0" bIns="0" rtlCol="0" anchor="t"/>
          <a:lstStyle/>
          <a:p>
            <a:pPr indent="0" marL="0">
              <a:buNone/>
            </a:pPr>
            <a:r>
              <a:rPr lang="en-US" sz="1500" b="1" dirty="0">
                <a:solidFill>
                  <a:srgbClr val="6C4AB6"/>
                </a:solidFill>
                <a:latin typeface="Calibri" pitchFamily="34" charset="0"/>
                <a:ea typeface="Calibri" pitchFamily="34" charset="-122"/>
                <a:cs typeface="Calibri" pitchFamily="34" charset="-120"/>
              </a:rPr>
              <a:t>F 15.33%  ·  M 14.30%</a:t>
            </a:r>
            <a:endParaRPr lang="en-US" sz="1500" dirty="0"/>
          </a:p>
        </p:txBody>
      </p:sp>
      <p:sp>
        <p:nvSpPr>
          <p:cNvPr id="25" name="note"/>
          <p:cNvSpPr/>
          <p:nvPr/>
        </p:nvSpPr>
        <p:spPr>
          <a:xfrm>
            <a:off x="548640" y="5120640"/>
            <a:ext cx="11109960" cy="1097280"/>
          </a:xfrm>
          <a:prstGeom prst="roundRect">
            <a:avLst>
              <a:gd name="adj" fmla="val 10000"/>
            </a:avLst>
          </a:prstGeom>
          <a:solidFill>
            <a:srgbClr val="EFE9FA"/>
          </a:solidFill>
          <a:ln w="12700">
            <a:solidFill>
              <a:srgbClr val="6C4AB6"/>
            </a:solidFill>
            <a:prstDash val="solid"/>
          </a:ln>
        </p:spPr>
      </p:sp>
      <p:sp>
        <p:nvSpPr>
          <p:cNvPr id="26" name="iconCircle"/>
          <p:cNvSpPr/>
          <p:nvPr/>
        </p:nvSpPr>
        <p:spPr>
          <a:xfrm>
            <a:off x="731520" y="5440680"/>
            <a:ext cx="457200" cy="457200"/>
          </a:xfrm>
          <a:prstGeom prst="ellipse">
            <a:avLst/>
          </a:prstGeom>
          <a:solidFill>
            <a:srgbClr val="6C4AB6"/>
          </a:solidFill>
          <a:ln w="12700">
            <a:solidFill>
              <a:srgbClr val="6C4AB6"/>
            </a:solidFill>
            <a:prstDash val="solid"/>
          </a:ln>
        </p:spPr>
      </p:sp>
      <p:pic>
        <p:nvPicPr>
          <p:cNvPr id="27" name="Image 0" descr="BalanceScale icon">    </p:cNvPr>
          <p:cNvPicPr>
            <a:picLocks noChangeAspect="1"/>
          </p:cNvPicPr>
          <p:nvPr/>
        </p:nvPicPr>
        <p:blipFill>
          <a:blip r:embed="rId4"/>
          <a:stretch>
            <a:fillRect/>
          </a:stretch>
        </p:blipFill>
        <p:spPr>
          <a:xfrm>
            <a:off x="845820" y="5554980"/>
            <a:ext cx="228600" cy="228600"/>
          </a:xfrm>
          <a:prstGeom prst="rect">
            <a:avLst/>
          </a:prstGeom>
        </p:spPr>
      </p:pic>
      <p:sp>
        <p:nvSpPr>
          <p:cNvPr id="28" name="Text 23"/>
          <p:cNvSpPr txBox="1"/>
          <p:nvPr/>
        </p:nvSpPr>
        <p:spPr>
          <a:xfrm>
            <a:off x="1371600" y="5120640"/>
            <a:ext cx="10104120" cy="1097280"/>
          </a:xfrm>
          <a:prstGeom prst="rect">
            <a:avLst/>
          </a:prstGeom>
          <a:noFill/>
          <a:ln/>
        </p:spPr>
        <p:txBody>
          <a:bodyPr wrap="square" lIns="0" tIns="0" rIns="0" bIns="0" rtlCol="0" anchor="ctr"/>
          <a:lstStyle/>
          <a:p>
            <a:pPr indent="0" marL="0">
              <a:buNone/>
            </a:pPr>
            <a:r>
              <a:rPr lang="en-US" sz="1500" b="1" dirty="0">
                <a:solidFill>
                  <a:srgbClr val="0B1F4B"/>
                </a:solidFill>
                <a:latin typeface="Calibri" pitchFamily="34" charset="0"/>
                <a:ea typeface="Calibri" pitchFamily="34" charset="-122"/>
                <a:cs typeface="Calibri" pitchFamily="34" charset="-120"/>
              </a:rPr>
              <a:t>Leaving gender out does not guarantee fairness: employment type, income and FOIR can act as proxies. Women are auto-declined slightly more (a 1.03-point gap). That is not proof of discrimination, but it needs monitoring.</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052560" cy="777240"/>
          </a:xfrm>
          <a:prstGeom prst="rect">
            <a:avLst/>
          </a:prstGeom>
          <a:noFill/>
          <a:ln/>
        </p:spPr>
        <p:txBody>
          <a:bodyPr wrap="square" lIns="0" tIns="0" rIns="0" bIns="0" rtlCol="0" anchor="ctr"/>
          <a:lstStyle/>
          <a:p>
            <a:pPr algn="l" indent="0" marL="0">
              <a:buNone/>
            </a:pPr>
            <a:r>
              <a:rPr lang="en-US" sz="2800" b="1" dirty="0">
                <a:solidFill>
                  <a:srgbClr val="0B1F4B"/>
                </a:solidFill>
                <a:latin typeface="Calibri" pitchFamily="34" charset="0"/>
                <a:ea typeface="Calibri" pitchFamily="34" charset="-122"/>
                <a:cs typeface="Calibri" pitchFamily="34" charset="-120"/>
              </a:rPr>
              <a:t>Interim Business Briefing — Step 5.7</a:t>
            </a:r>
            <a:endParaRPr lang="en-US" sz="2800" dirty="0"/>
          </a:p>
        </p:txBody>
      </p:sp>
      <p:sp>
        <p:nvSpPr>
          <p:cNvPr id="3" name="tag"/>
          <p:cNvSpPr/>
          <p:nvPr/>
        </p:nvSpPr>
        <p:spPr>
          <a:xfrm>
            <a:off x="9738360" y="457200"/>
            <a:ext cx="1920240" cy="365760"/>
          </a:xfrm>
          <a:prstGeom prst="roundRect">
            <a:avLst>
              <a:gd name="adj" fmla="val 50000"/>
            </a:avLst>
          </a:prstGeom>
          <a:solidFill>
            <a:srgbClr val="00A6A6"/>
          </a:solidFill>
          <a:ln w="12700">
            <a:solidFill>
              <a:srgbClr val="00A6A6"/>
            </a:solidFill>
            <a:prstDash val="solid"/>
          </a:ln>
        </p:spPr>
      </p:sp>
      <p:sp>
        <p:nvSpPr>
          <p:cNvPr id="4" name="Text 2"/>
          <p:cNvSpPr txBox="1"/>
          <p:nvPr/>
        </p:nvSpPr>
        <p:spPr>
          <a:xfrm>
            <a:off x="9738360" y="457200"/>
            <a:ext cx="1920240"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BASELINE SUMMARY</a:t>
            </a:r>
            <a:endParaRPr lang="en-US" sz="1000" dirty="0"/>
          </a:p>
        </p:txBody>
      </p:sp>
      <p:sp>
        <p:nvSpPr>
          <p:cNvPr id="5" name="Text 3"/>
          <p:cNvSpPr txBox="1"/>
          <p:nvPr/>
        </p:nvSpPr>
        <p:spPr>
          <a:xfrm>
            <a:off x="8229600" y="6400800"/>
            <a:ext cx="1554480" cy="32004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12 / 20</a:t>
            </a:r>
            <a:endParaRPr lang="en-US" sz="1000" dirty="0"/>
          </a:p>
        </p:txBody>
      </p:sp>
      <p:sp>
        <p:nvSpPr>
          <p:cNvPr id="6" name="navButton"/>
          <p:cNvSpPr/>
          <p:nvPr/>
        </p:nvSpPr>
        <p:spPr>
          <a:xfrm>
            <a:off x="9921240" y="6419088"/>
            <a:ext cx="822960" cy="292608"/>
          </a:xfrm>
          <a:prstGeom prst="roundRect">
            <a:avLst>
              <a:gd name="adj" fmla="val 50000"/>
            </a:avLst>
          </a:prstGeom>
          <a:solidFill>
            <a:srgbClr val="FFFFFF"/>
          </a:solidFill>
          <a:ln w="12700">
            <a:solidFill>
              <a:srgbClr val="C9D3E3"/>
            </a:solidFill>
            <a:prstDash val="solid"/>
          </a:ln>
        </p:spPr>
      </p:sp>
      <p:sp>
        <p:nvSpPr>
          <p:cNvPr id="7" name="Text 5">
            <a:hlinkClick r:id="rId1" tooltip="Previous slide" action="ppaction://hlinksldjump"/>
          </p:cNvPr>
          <p:cNvSpPr txBox="1"/>
          <p:nvPr/>
        </p:nvSpPr>
        <p:spPr>
          <a:xfrm>
            <a:off x="99212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1" action="ppaction://hlinksldjump" tooltip="Previous slide">
                  <a:extLst>
                    <a:ext uri="{A12FA001-AC4F-418D-AE19-62706E023703}">
                      <ahyp:hlinkClr xmlns:ahyp="http://schemas.microsoft.com/office/drawing/2018/hyperlinkcolor" val="tx"/>
                    </a:ext>
                  </a:extLst>
                </a:hlinkClick>
              </a:rPr>
              <a:t>‹ Prev</a:t>
            </a:r>
            <a:endParaRPr lang="en-US" sz="1000" dirty="0"/>
          </a:p>
        </p:txBody>
      </p:sp>
      <p:sp>
        <p:nvSpPr>
          <p:cNvPr id="8" name="navButton"/>
          <p:cNvSpPr/>
          <p:nvPr/>
        </p:nvSpPr>
        <p:spPr>
          <a:xfrm>
            <a:off x="10835640" y="6419088"/>
            <a:ext cx="822960" cy="292608"/>
          </a:xfrm>
          <a:prstGeom prst="roundRect">
            <a:avLst>
              <a:gd name="adj" fmla="val 50000"/>
            </a:avLst>
          </a:prstGeom>
          <a:solidFill>
            <a:srgbClr val="FFFFFF"/>
          </a:solidFill>
          <a:ln w="12700">
            <a:solidFill>
              <a:srgbClr val="C9D3E3"/>
            </a:solidFill>
            <a:prstDash val="solid"/>
          </a:ln>
        </p:spPr>
      </p:sp>
      <p:sp>
        <p:nvSpPr>
          <p:cNvPr id="9" name="Text 7">
            <a:hlinkClick r:id="rId2" tooltip="Next slide" action="ppaction://hlinksldjump"/>
          </p:cNvPr>
          <p:cNvSpPr txBox="1"/>
          <p:nvPr/>
        </p:nvSpPr>
        <p:spPr>
          <a:xfrm>
            <a:off x="108356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2" action="ppaction://hlinksldjump" tooltip="Next slide">
                  <a:extLst>
                    <a:ext uri="{A12FA001-AC4F-418D-AE19-62706E023703}">
                      <ahyp:hlinkClr xmlns:ahyp="http://schemas.microsoft.com/office/drawing/2018/hyperlinkcolor" val="tx"/>
                    </a:ext>
                  </a:extLst>
                </a:hlinkClick>
              </a:rPr>
              <a:t>Next ›</a:t>
            </a:r>
            <a:endParaRPr lang="en-US" sz="1000" dirty="0"/>
          </a:p>
        </p:txBody>
      </p:sp>
      <p:sp>
        <p:nvSpPr>
          <p:cNvPr id="11" name="stat"/>
          <p:cNvSpPr/>
          <p:nvPr/>
        </p:nvSpPr>
        <p:spPr>
          <a:xfrm>
            <a:off x="548640" y="1325880"/>
            <a:ext cx="2651760" cy="1783080"/>
          </a:xfrm>
          <a:prstGeom prst="roundRect">
            <a:avLst>
              <a:gd name="adj" fmla="val 6154"/>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2" name="iconCircle"/>
          <p:cNvSpPr/>
          <p:nvPr/>
        </p:nvSpPr>
        <p:spPr>
          <a:xfrm>
            <a:off x="731520" y="1463040"/>
            <a:ext cx="548640" cy="548640"/>
          </a:xfrm>
          <a:prstGeom prst="ellipse">
            <a:avLst/>
          </a:prstGeom>
          <a:solidFill>
            <a:srgbClr val="0B1F4B"/>
          </a:solidFill>
          <a:ln w="12700">
            <a:solidFill>
              <a:srgbClr val="0B1F4B"/>
            </a:solidFill>
            <a:prstDash val="solid"/>
          </a:ln>
        </p:spPr>
      </p:sp>
      <p:pic>
        <p:nvPicPr>
          <p:cNvPr id="13" name="Image 0" descr="SlidersH icon">    </p:cNvPr>
          <p:cNvPicPr>
            <a:picLocks noChangeAspect="1"/>
          </p:cNvPicPr>
          <p:nvPr/>
        </p:nvPicPr>
        <p:blipFill>
          <a:blip r:embed="rId3"/>
          <a:stretch>
            <a:fillRect/>
          </a:stretch>
        </p:blipFill>
        <p:spPr>
          <a:xfrm>
            <a:off x="868680" y="1600200"/>
            <a:ext cx="274320" cy="274320"/>
          </a:xfrm>
          <a:prstGeom prst="rect">
            <a:avLst/>
          </a:prstGeom>
        </p:spPr>
      </p:pic>
      <p:sp>
        <p:nvSpPr>
          <p:cNvPr id="14" name="Text 10"/>
          <p:cNvSpPr txBox="1"/>
          <p:nvPr/>
        </p:nvSpPr>
        <p:spPr>
          <a:xfrm>
            <a:off x="731520" y="2103120"/>
            <a:ext cx="2286000" cy="548640"/>
          </a:xfrm>
          <a:prstGeom prst="rect">
            <a:avLst/>
          </a:prstGeom>
          <a:noFill/>
          <a:ln/>
        </p:spPr>
        <p:txBody>
          <a:bodyPr wrap="square" lIns="0" tIns="0" rIns="0" bIns="0" rtlCol="0" anchor="ctr"/>
          <a:lstStyle/>
          <a:p>
            <a:pPr indent="0" marL="0">
              <a:buNone/>
            </a:pPr>
            <a:r>
              <a:rPr lang="en-US" sz="3000" b="1" dirty="0">
                <a:solidFill>
                  <a:srgbClr val="0B1F4B"/>
                </a:solidFill>
                <a:latin typeface="Calibri" pitchFamily="34" charset="0"/>
                <a:ea typeface="Calibri" pitchFamily="34" charset="-122"/>
                <a:cs typeface="Calibri" pitchFamily="34" charset="-120"/>
              </a:rPr>
              <a:t>0.90</a:t>
            </a:r>
            <a:endParaRPr lang="en-US" sz="3000" dirty="0"/>
          </a:p>
        </p:txBody>
      </p:sp>
      <p:sp>
        <p:nvSpPr>
          <p:cNvPr id="15" name="Text 11"/>
          <p:cNvSpPr txBox="1"/>
          <p:nvPr/>
        </p:nvSpPr>
        <p:spPr>
          <a:xfrm>
            <a:off x="731520" y="2651760"/>
            <a:ext cx="2286000" cy="411480"/>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recommended auto-decline threshold</a:t>
            </a:r>
            <a:endParaRPr lang="en-US" sz="1300" dirty="0"/>
          </a:p>
        </p:txBody>
      </p:sp>
      <p:sp>
        <p:nvSpPr>
          <p:cNvPr id="16" name="stat"/>
          <p:cNvSpPr/>
          <p:nvPr/>
        </p:nvSpPr>
        <p:spPr>
          <a:xfrm>
            <a:off x="3383280" y="1325880"/>
            <a:ext cx="2651760" cy="1783080"/>
          </a:xfrm>
          <a:prstGeom prst="roundRect">
            <a:avLst>
              <a:gd name="adj" fmla="val 6154"/>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7" name="iconCircle"/>
          <p:cNvSpPr/>
          <p:nvPr/>
        </p:nvSpPr>
        <p:spPr>
          <a:xfrm>
            <a:off x="3566160" y="1463040"/>
            <a:ext cx="548640" cy="548640"/>
          </a:xfrm>
          <a:prstGeom prst="ellipse">
            <a:avLst/>
          </a:prstGeom>
          <a:solidFill>
            <a:srgbClr val="2E9E5B"/>
          </a:solidFill>
          <a:ln w="12700">
            <a:solidFill>
              <a:srgbClr val="2E9E5B"/>
            </a:solidFill>
            <a:prstDash val="solid"/>
          </a:ln>
        </p:spPr>
      </p:sp>
      <p:pic>
        <p:nvPicPr>
          <p:cNvPr id="18" name="Image 1" descr="ShieldAlt icon">    </p:cNvPr>
          <p:cNvPicPr>
            <a:picLocks noChangeAspect="1"/>
          </p:cNvPicPr>
          <p:nvPr/>
        </p:nvPicPr>
        <p:blipFill>
          <a:blip r:embed="rId4"/>
          <a:stretch>
            <a:fillRect/>
          </a:stretch>
        </p:blipFill>
        <p:spPr>
          <a:xfrm>
            <a:off x="3703320" y="1600200"/>
            <a:ext cx="274320" cy="274320"/>
          </a:xfrm>
          <a:prstGeom prst="rect">
            <a:avLst/>
          </a:prstGeom>
        </p:spPr>
      </p:pic>
      <p:sp>
        <p:nvSpPr>
          <p:cNvPr id="19" name="Text 14"/>
          <p:cNvSpPr txBox="1"/>
          <p:nvPr/>
        </p:nvSpPr>
        <p:spPr>
          <a:xfrm>
            <a:off x="3566160" y="2103120"/>
            <a:ext cx="2286000" cy="548640"/>
          </a:xfrm>
          <a:prstGeom prst="rect">
            <a:avLst/>
          </a:prstGeom>
          <a:noFill/>
          <a:ln/>
        </p:spPr>
        <p:txBody>
          <a:bodyPr wrap="square" lIns="0" tIns="0" rIns="0" bIns="0" rtlCol="0" anchor="ctr"/>
          <a:lstStyle/>
          <a:p>
            <a:pPr indent="0" marL="0">
              <a:buNone/>
            </a:pPr>
            <a:r>
              <a:rPr lang="en-US" sz="3000" b="1" dirty="0">
                <a:solidFill>
                  <a:srgbClr val="2E9E5B"/>
                </a:solidFill>
                <a:latin typeface="Calibri" pitchFamily="34" charset="0"/>
                <a:ea typeface="Calibri" pitchFamily="34" charset="-122"/>
                <a:cs typeface="Calibri" pitchFamily="34" charset="-120"/>
              </a:rPr>
              <a:t>4.27%</a:t>
            </a:r>
            <a:endParaRPr lang="en-US" sz="3000" dirty="0"/>
          </a:p>
        </p:txBody>
      </p:sp>
      <p:sp>
        <p:nvSpPr>
          <p:cNvPr id="20" name="Text 15"/>
          <p:cNvSpPr txBox="1"/>
          <p:nvPr/>
        </p:nvSpPr>
        <p:spPr>
          <a:xfrm>
            <a:off x="3566160" y="2651760"/>
            <a:ext cx="2286000" cy="411480"/>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wrongly declined (limit 5%)</a:t>
            </a:r>
            <a:endParaRPr lang="en-US" sz="1300" dirty="0"/>
          </a:p>
        </p:txBody>
      </p:sp>
      <p:sp>
        <p:nvSpPr>
          <p:cNvPr id="21" name="stat"/>
          <p:cNvSpPr/>
          <p:nvPr/>
        </p:nvSpPr>
        <p:spPr>
          <a:xfrm>
            <a:off x="6217920" y="1325880"/>
            <a:ext cx="2651760" cy="1783080"/>
          </a:xfrm>
          <a:prstGeom prst="roundRect">
            <a:avLst>
              <a:gd name="adj" fmla="val 6154"/>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22" name="iconCircle"/>
          <p:cNvSpPr/>
          <p:nvPr/>
        </p:nvSpPr>
        <p:spPr>
          <a:xfrm>
            <a:off x="6400800" y="1463040"/>
            <a:ext cx="548640" cy="548640"/>
          </a:xfrm>
          <a:prstGeom prst="ellipse">
            <a:avLst/>
          </a:prstGeom>
          <a:solidFill>
            <a:srgbClr val="00A6A6"/>
          </a:solidFill>
          <a:ln w="12700">
            <a:solidFill>
              <a:srgbClr val="00A6A6"/>
            </a:solidFill>
            <a:prstDash val="solid"/>
          </a:ln>
        </p:spPr>
      </p:sp>
      <p:pic>
        <p:nvPicPr>
          <p:cNvPr id="23" name="Image 2" descr="FileAlt icon">    </p:cNvPr>
          <p:cNvPicPr>
            <a:picLocks noChangeAspect="1"/>
          </p:cNvPicPr>
          <p:nvPr/>
        </p:nvPicPr>
        <p:blipFill>
          <a:blip r:embed="rId5"/>
          <a:stretch>
            <a:fillRect/>
          </a:stretch>
        </p:blipFill>
        <p:spPr>
          <a:xfrm>
            <a:off x="6537960" y="1600200"/>
            <a:ext cx="274320" cy="274320"/>
          </a:xfrm>
          <a:prstGeom prst="rect">
            <a:avLst/>
          </a:prstGeom>
        </p:spPr>
      </p:pic>
      <p:sp>
        <p:nvSpPr>
          <p:cNvPr id="24" name="Text 18"/>
          <p:cNvSpPr txBox="1"/>
          <p:nvPr/>
        </p:nvSpPr>
        <p:spPr>
          <a:xfrm>
            <a:off x="6400800" y="2103120"/>
            <a:ext cx="2286000" cy="548640"/>
          </a:xfrm>
          <a:prstGeom prst="rect">
            <a:avLst/>
          </a:prstGeom>
          <a:noFill/>
          <a:ln/>
        </p:spPr>
        <p:txBody>
          <a:bodyPr wrap="square" lIns="0" tIns="0" rIns="0" bIns="0" rtlCol="0" anchor="ctr"/>
          <a:lstStyle/>
          <a:p>
            <a:pPr indent="0" marL="0">
              <a:buNone/>
            </a:pPr>
            <a:r>
              <a:rPr lang="en-US" sz="3000" b="1" dirty="0">
                <a:solidFill>
                  <a:srgbClr val="00A6A6"/>
                </a:solidFill>
                <a:latin typeface="Calibri" pitchFamily="34" charset="0"/>
                <a:ea typeface="Calibri" pitchFamily="34" charset="-122"/>
                <a:cs typeface="Calibri" pitchFamily="34" charset="-120"/>
              </a:rPr>
              <a:t>≈439</a:t>
            </a:r>
            <a:endParaRPr lang="en-US" sz="3000" dirty="0"/>
          </a:p>
        </p:txBody>
      </p:sp>
      <p:sp>
        <p:nvSpPr>
          <p:cNvPr id="25" name="Text 19"/>
          <p:cNvSpPr txBox="1"/>
          <p:nvPr/>
        </p:nvSpPr>
        <p:spPr>
          <a:xfrm>
            <a:off x="6400800" y="2651760"/>
            <a:ext cx="2286000" cy="411480"/>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applications off manual review each month</a:t>
            </a:r>
            <a:endParaRPr lang="en-US" sz="1300" dirty="0"/>
          </a:p>
        </p:txBody>
      </p:sp>
      <p:sp>
        <p:nvSpPr>
          <p:cNvPr id="26" name="stat"/>
          <p:cNvSpPr/>
          <p:nvPr/>
        </p:nvSpPr>
        <p:spPr>
          <a:xfrm>
            <a:off x="9052560" y="1325880"/>
            <a:ext cx="2651760" cy="1783080"/>
          </a:xfrm>
          <a:prstGeom prst="roundRect">
            <a:avLst>
              <a:gd name="adj" fmla="val 6154"/>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27" name="iconCircle"/>
          <p:cNvSpPr/>
          <p:nvPr/>
        </p:nvSpPr>
        <p:spPr>
          <a:xfrm>
            <a:off x="9235440" y="1463040"/>
            <a:ext cx="548640" cy="548640"/>
          </a:xfrm>
          <a:prstGeom prst="ellipse">
            <a:avLst/>
          </a:prstGeom>
          <a:solidFill>
            <a:srgbClr val="F28C28"/>
          </a:solidFill>
          <a:ln w="12700">
            <a:solidFill>
              <a:srgbClr val="F28C28"/>
            </a:solidFill>
            <a:prstDash val="solid"/>
          </a:ln>
        </p:spPr>
      </p:sp>
      <p:pic>
        <p:nvPicPr>
          <p:cNvPr id="28" name="Image 3" descr="Clock icon">    </p:cNvPr>
          <p:cNvPicPr>
            <a:picLocks noChangeAspect="1"/>
          </p:cNvPicPr>
          <p:nvPr/>
        </p:nvPicPr>
        <p:blipFill>
          <a:blip r:embed="rId6"/>
          <a:stretch>
            <a:fillRect/>
          </a:stretch>
        </p:blipFill>
        <p:spPr>
          <a:xfrm>
            <a:off x="9372600" y="1600200"/>
            <a:ext cx="274320" cy="274320"/>
          </a:xfrm>
          <a:prstGeom prst="rect">
            <a:avLst/>
          </a:prstGeom>
        </p:spPr>
      </p:pic>
      <p:sp>
        <p:nvSpPr>
          <p:cNvPr id="29" name="Text 22"/>
          <p:cNvSpPr txBox="1"/>
          <p:nvPr/>
        </p:nvSpPr>
        <p:spPr>
          <a:xfrm>
            <a:off x="9235440" y="2103120"/>
            <a:ext cx="2286000" cy="548640"/>
          </a:xfrm>
          <a:prstGeom prst="rect">
            <a:avLst/>
          </a:prstGeom>
          <a:noFill/>
          <a:ln/>
        </p:spPr>
        <p:txBody>
          <a:bodyPr wrap="square" lIns="0" tIns="0" rIns="0" bIns="0" rtlCol="0" anchor="ctr"/>
          <a:lstStyle/>
          <a:p>
            <a:pPr indent="0" marL="0">
              <a:buNone/>
            </a:pPr>
            <a:r>
              <a:rPr lang="en-US" sz="3000" b="1" dirty="0">
                <a:solidFill>
                  <a:srgbClr val="F28C28"/>
                </a:solidFill>
                <a:latin typeface="Calibri" pitchFamily="34" charset="0"/>
                <a:ea typeface="Calibri" pitchFamily="34" charset="-122"/>
                <a:cs typeface="Calibri" pitchFamily="34" charset="-120"/>
              </a:rPr>
              <a:t>182.8 hrs</a:t>
            </a:r>
            <a:endParaRPr lang="en-US" sz="3000" dirty="0"/>
          </a:p>
        </p:txBody>
      </p:sp>
      <p:sp>
        <p:nvSpPr>
          <p:cNvPr id="30" name="Text 23"/>
          <p:cNvSpPr txBox="1"/>
          <p:nvPr/>
        </p:nvSpPr>
        <p:spPr>
          <a:xfrm>
            <a:off x="9235440" y="2651760"/>
            <a:ext cx="2286000" cy="411480"/>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analyst time freed each month</a:t>
            </a:r>
            <a:endParaRPr lang="en-US" sz="1300" dirty="0"/>
          </a:p>
        </p:txBody>
      </p:sp>
      <p:sp>
        <p:nvSpPr>
          <p:cNvPr id="31" name="card"/>
          <p:cNvSpPr/>
          <p:nvPr/>
        </p:nvSpPr>
        <p:spPr>
          <a:xfrm>
            <a:off x="548640" y="3337560"/>
            <a:ext cx="5440680" cy="2834640"/>
          </a:xfrm>
          <a:prstGeom prst="roundRect">
            <a:avLst>
              <a:gd name="adj" fmla="val 3871"/>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32" name="iconCircle"/>
          <p:cNvSpPr/>
          <p:nvPr/>
        </p:nvSpPr>
        <p:spPr>
          <a:xfrm>
            <a:off x="777240" y="3520440"/>
            <a:ext cx="502920" cy="502920"/>
          </a:xfrm>
          <a:prstGeom prst="ellipse">
            <a:avLst/>
          </a:prstGeom>
          <a:solidFill>
            <a:srgbClr val="00A6A6"/>
          </a:solidFill>
          <a:ln w="12700">
            <a:solidFill>
              <a:srgbClr val="00A6A6"/>
            </a:solidFill>
            <a:prstDash val="solid"/>
          </a:ln>
        </p:spPr>
      </p:sp>
      <p:pic>
        <p:nvPicPr>
          <p:cNvPr id="33" name="Image 4" descr="CheckCircle icon">    </p:cNvPr>
          <p:cNvPicPr>
            <a:picLocks noChangeAspect="1"/>
          </p:cNvPicPr>
          <p:nvPr/>
        </p:nvPicPr>
        <p:blipFill>
          <a:blip r:embed="rId7"/>
          <a:stretch>
            <a:fillRect/>
          </a:stretch>
        </p:blipFill>
        <p:spPr>
          <a:xfrm>
            <a:off x="902970" y="3646170"/>
            <a:ext cx="251460" cy="251460"/>
          </a:xfrm>
          <a:prstGeom prst="rect">
            <a:avLst/>
          </a:prstGeom>
        </p:spPr>
      </p:pic>
      <p:sp>
        <p:nvSpPr>
          <p:cNvPr id="34" name="Text 26"/>
          <p:cNvSpPr txBox="1"/>
          <p:nvPr/>
        </p:nvSpPr>
        <p:spPr>
          <a:xfrm>
            <a:off x="1463040" y="3520440"/>
            <a:ext cx="4389120" cy="502920"/>
          </a:xfrm>
          <a:prstGeom prst="rect">
            <a:avLst/>
          </a:prstGeom>
          <a:noFill/>
          <a:ln/>
        </p:spPr>
        <p:txBody>
          <a:bodyPr wrap="square" lIns="0" tIns="0" rIns="0" bIns="0" rtlCol="0" anchor="ctr"/>
          <a:lstStyle/>
          <a:p>
            <a:pPr indent="0" marL="0">
              <a:buNone/>
            </a:pPr>
            <a:r>
              <a:rPr lang="en-US" sz="1800" b="1" dirty="0">
                <a:solidFill>
                  <a:srgbClr val="0B1F4B"/>
                </a:solidFill>
                <a:latin typeface="Calibri" pitchFamily="34" charset="0"/>
                <a:ea typeface="Calibri" pitchFamily="34" charset="-122"/>
                <a:cs typeface="Calibri" pitchFamily="34" charset="-120"/>
              </a:rPr>
              <a:t>What we found</a:t>
            </a:r>
            <a:endParaRPr lang="en-US" sz="1800" dirty="0"/>
          </a:p>
        </p:txBody>
      </p:sp>
      <p:sp>
        <p:nvSpPr>
          <p:cNvPr id="35" name="Text 27"/>
          <p:cNvSpPr txBox="1"/>
          <p:nvPr/>
        </p:nvSpPr>
        <p:spPr>
          <a:xfrm>
            <a:off x="777240" y="4206240"/>
            <a:ext cx="502920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A44"/>
                </a:solidFill>
                <a:latin typeface="Calibri" pitchFamily="34" charset="0"/>
                <a:ea typeface="Calibri" pitchFamily="34" charset="-122"/>
                <a:cs typeface="Calibri" pitchFamily="34" charset="-120"/>
              </a:rPr>
              <a:t>Logistic Regression is a solid, explainable baseline</a:t>
            </a:r>
            <a:endParaRPr lang="en-US" sz="1500" dirty="0"/>
          </a:p>
          <a:p>
            <a:pPr marL="342900" indent="-342900">
              <a:spcAft>
                <a:spcPts val="800"/>
              </a:spcAft>
              <a:buSzPct val="100000"/>
              <a:buChar char="•"/>
            </a:pPr>
            <a:r>
              <a:rPr lang="en-US" sz="1500" dirty="0">
                <a:solidFill>
                  <a:srgbClr val="1F2A44"/>
                </a:solidFill>
                <a:latin typeface="Calibri" pitchFamily="34" charset="0"/>
                <a:ea typeface="Calibri" pitchFamily="34" charset="-122"/>
                <a:cs typeface="Calibri" pitchFamily="34" charset="-120"/>
              </a:rPr>
              <a:t>It auto-declines 14.6% of applications</a:t>
            </a:r>
            <a:endParaRPr lang="en-US" sz="1500" dirty="0"/>
          </a:p>
          <a:p>
            <a:pPr marL="342900" indent="-342900">
              <a:spcAft>
                <a:spcPts val="800"/>
              </a:spcAft>
              <a:buSzPct val="100000"/>
              <a:buChar char="•"/>
            </a:pPr>
            <a:r>
              <a:rPr lang="en-US" sz="1500" dirty="0">
                <a:solidFill>
                  <a:srgbClr val="1F2A44"/>
                </a:solidFill>
                <a:latin typeface="Calibri" pitchFamily="34" charset="0"/>
                <a:ea typeface="Calibri" pitchFamily="34" charset="-122"/>
                <a:cs typeface="Calibri" pitchFamily="34" charset="-120"/>
              </a:rPr>
              <a:t>About 85% still go to manual review</a:t>
            </a:r>
            <a:endParaRPr lang="en-US" sz="1500" dirty="0"/>
          </a:p>
        </p:txBody>
      </p:sp>
      <p:sp>
        <p:nvSpPr>
          <p:cNvPr id="36" name="weak"/>
          <p:cNvSpPr/>
          <p:nvPr/>
        </p:nvSpPr>
        <p:spPr>
          <a:xfrm>
            <a:off x="6217920" y="3337560"/>
            <a:ext cx="5440680" cy="2834640"/>
          </a:xfrm>
          <a:prstGeom prst="roundRect">
            <a:avLst>
              <a:gd name="adj" fmla="val 3871"/>
            </a:avLst>
          </a:prstGeom>
          <a:solidFill>
            <a:srgbClr val="FFF1E0"/>
          </a:solidFill>
          <a:ln w="12700">
            <a:solidFill>
              <a:srgbClr val="F28C28"/>
            </a:solidFill>
            <a:prstDash val="solid"/>
          </a:ln>
        </p:spPr>
      </p:sp>
      <p:sp>
        <p:nvSpPr>
          <p:cNvPr id="37" name="iconCircle"/>
          <p:cNvSpPr/>
          <p:nvPr/>
        </p:nvSpPr>
        <p:spPr>
          <a:xfrm>
            <a:off x="6446520" y="3520440"/>
            <a:ext cx="502920" cy="502920"/>
          </a:xfrm>
          <a:prstGeom prst="ellipse">
            <a:avLst/>
          </a:prstGeom>
          <a:solidFill>
            <a:srgbClr val="F28C28"/>
          </a:solidFill>
          <a:ln w="12700">
            <a:solidFill>
              <a:srgbClr val="F28C28"/>
            </a:solidFill>
            <a:prstDash val="solid"/>
          </a:ln>
        </p:spPr>
      </p:sp>
      <p:pic>
        <p:nvPicPr>
          <p:cNvPr id="38" name="Image 5" descr="ExclamationTriangle icon">    </p:cNvPr>
          <p:cNvPicPr>
            <a:picLocks noChangeAspect="1"/>
          </p:cNvPicPr>
          <p:nvPr/>
        </p:nvPicPr>
        <p:blipFill>
          <a:blip r:embed="rId8"/>
          <a:stretch>
            <a:fillRect/>
          </a:stretch>
        </p:blipFill>
        <p:spPr>
          <a:xfrm>
            <a:off x="6572250" y="3646170"/>
            <a:ext cx="251460" cy="251460"/>
          </a:xfrm>
          <a:prstGeom prst="rect">
            <a:avLst/>
          </a:prstGeom>
        </p:spPr>
      </p:pic>
      <p:sp>
        <p:nvSpPr>
          <p:cNvPr id="39" name="Text 30"/>
          <p:cNvSpPr txBox="1"/>
          <p:nvPr/>
        </p:nvSpPr>
        <p:spPr>
          <a:xfrm>
            <a:off x="7132320" y="3520440"/>
            <a:ext cx="4389120" cy="502920"/>
          </a:xfrm>
          <a:prstGeom prst="rect">
            <a:avLst/>
          </a:prstGeom>
          <a:noFill/>
          <a:ln/>
        </p:spPr>
        <p:txBody>
          <a:bodyPr wrap="square" lIns="0" tIns="0" rIns="0" bIns="0" rtlCol="0" anchor="ctr"/>
          <a:lstStyle/>
          <a:p>
            <a:pPr indent="0" marL="0">
              <a:buNone/>
            </a:pPr>
            <a:r>
              <a:rPr lang="en-US" sz="1800" b="1" dirty="0">
                <a:solidFill>
                  <a:srgbClr val="0B1F4B"/>
                </a:solidFill>
                <a:latin typeface="Calibri" pitchFamily="34" charset="0"/>
                <a:ea typeface="Calibri" pitchFamily="34" charset="-122"/>
                <a:cs typeface="Calibri" pitchFamily="34" charset="-120"/>
              </a:rPr>
              <a:t>Weakness to fix next</a:t>
            </a:r>
            <a:endParaRPr lang="en-US" sz="1800" dirty="0"/>
          </a:p>
        </p:txBody>
      </p:sp>
      <p:sp>
        <p:nvSpPr>
          <p:cNvPr id="40" name="Text 31"/>
          <p:cNvSpPr txBox="1"/>
          <p:nvPr/>
        </p:nvSpPr>
        <p:spPr>
          <a:xfrm>
            <a:off x="6446520" y="4206240"/>
            <a:ext cx="502920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A44"/>
                </a:solidFill>
                <a:latin typeface="Calibri" pitchFamily="34" charset="0"/>
                <a:ea typeface="Calibri" pitchFamily="34" charset="-122"/>
                <a:cs typeface="Calibri" pitchFamily="34" charset="-120"/>
              </a:rPr>
              <a:t>Only an auto-decline lane: most of the queue stays manual</a:t>
            </a:r>
            <a:endParaRPr lang="en-US" sz="1500" dirty="0"/>
          </a:p>
          <a:p>
            <a:pPr marL="342900" indent="-342900">
              <a:spcAft>
                <a:spcPts val="800"/>
              </a:spcAft>
              <a:buSzPct val="100000"/>
              <a:buChar char="•"/>
            </a:pPr>
            <a:r>
              <a:rPr lang="en-US" sz="1500" dirty="0">
                <a:solidFill>
                  <a:srgbClr val="1F2A44"/>
                </a:solidFill>
                <a:latin typeface="Calibri" pitchFamily="34" charset="0"/>
                <a:ea typeface="Calibri" pitchFamily="34" charset="-122"/>
                <a:cs typeface="Calibri" pitchFamily="34" charset="-120"/>
              </a:rPr>
              <a:t>False declines remain (230 at 0.50)</a:t>
            </a:r>
            <a:endParaRPr lang="en-US" sz="1500" dirty="0"/>
          </a:p>
          <a:p>
            <a:pPr marL="342900" indent="-342900">
              <a:spcAft>
                <a:spcPts val="800"/>
              </a:spcAft>
              <a:buSzPct val="100000"/>
              <a:buChar char="•"/>
            </a:pPr>
            <a:r>
              <a:rPr lang="en-US" sz="1500" dirty="0">
                <a:solidFill>
                  <a:srgbClr val="1F2A44"/>
                </a:solidFill>
                <a:latin typeface="Calibri" pitchFamily="34" charset="0"/>
                <a:ea typeface="Calibri" pitchFamily="34" charset="-122"/>
                <a:cs typeface="Calibri" pitchFamily="34" charset="-120"/>
              </a:rPr>
              <a:t>Next: improve the model and add a fast-track lane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052560" cy="777240"/>
          </a:xfrm>
          <a:prstGeom prst="rect">
            <a:avLst/>
          </a:prstGeom>
          <a:noFill/>
          <a:ln/>
        </p:spPr>
        <p:txBody>
          <a:bodyPr wrap="square" lIns="0" tIns="0" rIns="0" bIns="0" rtlCol="0" anchor="ctr"/>
          <a:lstStyle/>
          <a:p>
            <a:pPr algn="l" indent="0" marL="0">
              <a:buNone/>
            </a:pPr>
            <a:r>
              <a:rPr lang="en-US" sz="2800" b="1" dirty="0">
                <a:solidFill>
                  <a:srgbClr val="0B1F4B"/>
                </a:solidFill>
                <a:latin typeface="Calibri" pitchFamily="34" charset="0"/>
                <a:ea typeface="Calibri" pitchFamily="34" charset="-122"/>
                <a:cs typeface="Calibri" pitchFamily="34" charset="-120"/>
              </a:rPr>
              <a:t>From Model to Reusable Pipeline — Step 5.8</a:t>
            </a:r>
            <a:endParaRPr lang="en-US" sz="2800" dirty="0"/>
          </a:p>
        </p:txBody>
      </p:sp>
      <p:sp>
        <p:nvSpPr>
          <p:cNvPr id="3" name="tag"/>
          <p:cNvSpPr/>
          <p:nvPr/>
        </p:nvSpPr>
        <p:spPr>
          <a:xfrm>
            <a:off x="9738360" y="457200"/>
            <a:ext cx="1920240" cy="365760"/>
          </a:xfrm>
          <a:prstGeom prst="roundRect">
            <a:avLst>
              <a:gd name="adj" fmla="val 50000"/>
            </a:avLst>
          </a:prstGeom>
          <a:solidFill>
            <a:srgbClr val="6C4AB6"/>
          </a:solidFill>
          <a:ln w="12700">
            <a:solidFill>
              <a:srgbClr val="6C4AB6"/>
            </a:solidFill>
            <a:prstDash val="solid"/>
          </a:ln>
        </p:spPr>
      </p:sp>
      <p:sp>
        <p:nvSpPr>
          <p:cNvPr id="4" name="Text 2"/>
          <p:cNvSpPr txBox="1"/>
          <p:nvPr/>
        </p:nvSpPr>
        <p:spPr>
          <a:xfrm>
            <a:off x="9738360" y="457200"/>
            <a:ext cx="1920240"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METHOD</a:t>
            </a:r>
            <a:endParaRPr lang="en-US" sz="1000" dirty="0"/>
          </a:p>
        </p:txBody>
      </p:sp>
      <p:sp>
        <p:nvSpPr>
          <p:cNvPr id="5" name="Text 3"/>
          <p:cNvSpPr txBox="1"/>
          <p:nvPr/>
        </p:nvSpPr>
        <p:spPr>
          <a:xfrm>
            <a:off x="8229600" y="6400800"/>
            <a:ext cx="1554480" cy="32004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13 / 20</a:t>
            </a:r>
            <a:endParaRPr lang="en-US" sz="1000" dirty="0"/>
          </a:p>
        </p:txBody>
      </p:sp>
      <p:sp>
        <p:nvSpPr>
          <p:cNvPr id="6" name="navButton"/>
          <p:cNvSpPr/>
          <p:nvPr/>
        </p:nvSpPr>
        <p:spPr>
          <a:xfrm>
            <a:off x="9921240" y="6419088"/>
            <a:ext cx="822960" cy="292608"/>
          </a:xfrm>
          <a:prstGeom prst="roundRect">
            <a:avLst>
              <a:gd name="adj" fmla="val 50000"/>
            </a:avLst>
          </a:prstGeom>
          <a:solidFill>
            <a:srgbClr val="FFFFFF"/>
          </a:solidFill>
          <a:ln w="12700">
            <a:solidFill>
              <a:srgbClr val="C9D3E3"/>
            </a:solidFill>
            <a:prstDash val="solid"/>
          </a:ln>
        </p:spPr>
      </p:sp>
      <p:sp>
        <p:nvSpPr>
          <p:cNvPr id="7" name="Text 5">
            <a:hlinkClick r:id="rId1" tooltip="Previous slide" action="ppaction://hlinksldjump"/>
          </p:cNvPr>
          <p:cNvSpPr txBox="1"/>
          <p:nvPr/>
        </p:nvSpPr>
        <p:spPr>
          <a:xfrm>
            <a:off x="99212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1" action="ppaction://hlinksldjump" tooltip="Previous slide">
                  <a:extLst>
                    <a:ext uri="{A12FA001-AC4F-418D-AE19-62706E023703}">
                      <ahyp:hlinkClr xmlns:ahyp="http://schemas.microsoft.com/office/drawing/2018/hyperlinkcolor" val="tx"/>
                    </a:ext>
                  </a:extLst>
                </a:hlinkClick>
              </a:rPr>
              <a:t>‹ Prev</a:t>
            </a:r>
            <a:endParaRPr lang="en-US" sz="1000" dirty="0"/>
          </a:p>
        </p:txBody>
      </p:sp>
      <p:sp>
        <p:nvSpPr>
          <p:cNvPr id="8" name="navButton"/>
          <p:cNvSpPr/>
          <p:nvPr/>
        </p:nvSpPr>
        <p:spPr>
          <a:xfrm>
            <a:off x="10835640" y="6419088"/>
            <a:ext cx="822960" cy="292608"/>
          </a:xfrm>
          <a:prstGeom prst="roundRect">
            <a:avLst>
              <a:gd name="adj" fmla="val 50000"/>
            </a:avLst>
          </a:prstGeom>
          <a:solidFill>
            <a:srgbClr val="FFFFFF"/>
          </a:solidFill>
          <a:ln w="12700">
            <a:solidFill>
              <a:srgbClr val="C9D3E3"/>
            </a:solidFill>
            <a:prstDash val="solid"/>
          </a:ln>
        </p:spPr>
      </p:sp>
      <p:sp>
        <p:nvSpPr>
          <p:cNvPr id="9" name="Text 7">
            <a:hlinkClick r:id="rId2" tooltip="Next slide" action="ppaction://hlinksldjump"/>
          </p:cNvPr>
          <p:cNvSpPr txBox="1"/>
          <p:nvPr/>
        </p:nvSpPr>
        <p:spPr>
          <a:xfrm>
            <a:off x="108356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2" action="ppaction://hlinksldjump" tooltip="Next slide">
                  <a:extLst>
                    <a:ext uri="{A12FA001-AC4F-418D-AE19-62706E023703}">
                      <ahyp:hlinkClr xmlns:ahyp="http://schemas.microsoft.com/office/drawing/2018/hyperlinkcolor" val="tx"/>
                    </a:ext>
                  </a:extLst>
                </a:hlinkClick>
              </a:rPr>
              <a:t>Next ›</a:t>
            </a:r>
            <a:endParaRPr lang="en-US" sz="1000" dirty="0"/>
          </a:p>
        </p:txBody>
      </p:sp>
      <p:sp>
        <p:nvSpPr>
          <p:cNvPr id="11" name="card"/>
          <p:cNvSpPr/>
          <p:nvPr/>
        </p:nvSpPr>
        <p:spPr>
          <a:xfrm>
            <a:off x="548640" y="1325880"/>
            <a:ext cx="1737360" cy="1554480"/>
          </a:xfrm>
          <a:prstGeom prst="roundRect">
            <a:avLst>
              <a:gd name="adj" fmla="val 7059"/>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2" name="iconCircle"/>
          <p:cNvSpPr/>
          <p:nvPr/>
        </p:nvSpPr>
        <p:spPr>
          <a:xfrm>
            <a:off x="1143000" y="1463040"/>
            <a:ext cx="548640" cy="548640"/>
          </a:xfrm>
          <a:prstGeom prst="ellipse">
            <a:avLst/>
          </a:prstGeom>
          <a:solidFill>
            <a:srgbClr val="0B1F4B"/>
          </a:solidFill>
          <a:ln w="12700">
            <a:solidFill>
              <a:srgbClr val="0B1F4B"/>
            </a:solidFill>
            <a:prstDash val="solid"/>
          </a:ln>
        </p:spPr>
      </p:sp>
      <p:pic>
        <p:nvPicPr>
          <p:cNvPr id="13" name="Image 0" descr="FileAlt icon">    </p:cNvPr>
          <p:cNvPicPr>
            <a:picLocks noChangeAspect="1"/>
          </p:cNvPicPr>
          <p:nvPr/>
        </p:nvPicPr>
        <p:blipFill>
          <a:blip r:embed="rId3"/>
          <a:stretch>
            <a:fillRect/>
          </a:stretch>
        </p:blipFill>
        <p:spPr>
          <a:xfrm>
            <a:off x="1280160" y="1600200"/>
            <a:ext cx="274320" cy="274320"/>
          </a:xfrm>
          <a:prstGeom prst="rect">
            <a:avLst/>
          </a:prstGeom>
        </p:spPr>
      </p:pic>
      <p:sp>
        <p:nvSpPr>
          <p:cNvPr id="14" name="Text 10"/>
          <p:cNvSpPr txBox="1"/>
          <p:nvPr/>
        </p:nvSpPr>
        <p:spPr>
          <a:xfrm>
            <a:off x="640080" y="2103120"/>
            <a:ext cx="1554480" cy="731520"/>
          </a:xfrm>
          <a:prstGeom prst="rect">
            <a:avLst/>
          </a:prstGeom>
          <a:noFill/>
          <a:ln/>
        </p:spPr>
        <p:txBody>
          <a:bodyPr wrap="square" lIns="0" tIns="0" rIns="0" bIns="0" rtlCol="0" anchor="t"/>
          <a:lstStyle/>
          <a:p>
            <a:pPr algn="ctr" indent="0" marL="0">
              <a:buNone/>
            </a:pPr>
            <a:r>
              <a:rPr lang="en-US" sz="1200" b="1" dirty="0">
                <a:solidFill>
                  <a:srgbClr val="0B1F4B"/>
                </a:solidFill>
                <a:latin typeface="Calibri" pitchFamily="34" charset="0"/>
                <a:ea typeface="Calibri" pitchFamily="34" charset="-122"/>
                <a:cs typeface="Calibri" pitchFamily="34" charset="-120"/>
              </a:rPr>
              <a:t>Raw application</a:t>
            </a:r>
            <a:endParaRPr lang="en-US" sz="1200" dirty="0"/>
          </a:p>
        </p:txBody>
      </p:sp>
      <p:sp>
        <p:nvSpPr>
          <p:cNvPr id="15" name="card"/>
          <p:cNvSpPr/>
          <p:nvPr/>
        </p:nvSpPr>
        <p:spPr>
          <a:xfrm>
            <a:off x="2423160" y="1325880"/>
            <a:ext cx="1737360" cy="1554480"/>
          </a:xfrm>
          <a:prstGeom prst="roundRect">
            <a:avLst>
              <a:gd name="adj" fmla="val 7059"/>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6" name="iconCircle"/>
          <p:cNvSpPr/>
          <p:nvPr/>
        </p:nvSpPr>
        <p:spPr>
          <a:xfrm>
            <a:off x="3017520" y="1463040"/>
            <a:ext cx="548640" cy="548640"/>
          </a:xfrm>
          <a:prstGeom prst="ellipse">
            <a:avLst/>
          </a:prstGeom>
          <a:solidFill>
            <a:srgbClr val="00A6A6"/>
          </a:solidFill>
          <a:ln w="12700">
            <a:solidFill>
              <a:srgbClr val="00A6A6"/>
            </a:solidFill>
            <a:prstDash val="solid"/>
          </a:ln>
        </p:spPr>
      </p:sp>
      <p:pic>
        <p:nvPicPr>
          <p:cNvPr id="17" name="Image 1" descr="Magic icon">    </p:cNvPr>
          <p:cNvPicPr>
            <a:picLocks noChangeAspect="1"/>
          </p:cNvPicPr>
          <p:nvPr/>
        </p:nvPicPr>
        <p:blipFill>
          <a:blip r:embed="rId4"/>
          <a:stretch>
            <a:fillRect/>
          </a:stretch>
        </p:blipFill>
        <p:spPr>
          <a:xfrm>
            <a:off x="3154680" y="1600200"/>
            <a:ext cx="274320" cy="274320"/>
          </a:xfrm>
          <a:prstGeom prst="rect">
            <a:avLst/>
          </a:prstGeom>
        </p:spPr>
      </p:pic>
      <p:sp>
        <p:nvSpPr>
          <p:cNvPr id="18" name="Text 13"/>
          <p:cNvSpPr txBox="1"/>
          <p:nvPr/>
        </p:nvSpPr>
        <p:spPr>
          <a:xfrm>
            <a:off x="2514600" y="2103120"/>
            <a:ext cx="1554480" cy="731520"/>
          </a:xfrm>
          <a:prstGeom prst="rect">
            <a:avLst/>
          </a:prstGeom>
          <a:noFill/>
          <a:ln/>
        </p:spPr>
        <p:txBody>
          <a:bodyPr wrap="square" lIns="0" tIns="0" rIns="0" bIns="0" rtlCol="0" anchor="t"/>
          <a:lstStyle/>
          <a:p>
            <a:pPr algn="ctr" indent="0" marL="0">
              <a:buNone/>
            </a:pPr>
            <a:r>
              <a:rPr lang="en-US" sz="1200" b="1" dirty="0">
                <a:solidFill>
                  <a:srgbClr val="0B1F4B"/>
                </a:solidFill>
                <a:latin typeface="Calibri" pitchFamily="34" charset="0"/>
                <a:ea typeface="Calibri" pitchFamily="34" charset="-122"/>
                <a:cs typeface="Calibri" pitchFamily="34" charset="-120"/>
              </a:rPr>
              <a:t>Create features (FOIR, is_ntc…)</a:t>
            </a:r>
            <a:endParaRPr lang="en-US" sz="1200" dirty="0"/>
          </a:p>
        </p:txBody>
      </p:sp>
      <p:sp>
        <p:nvSpPr>
          <p:cNvPr id="19" name="card"/>
          <p:cNvSpPr/>
          <p:nvPr/>
        </p:nvSpPr>
        <p:spPr>
          <a:xfrm>
            <a:off x="4297680" y="1325880"/>
            <a:ext cx="1737360" cy="1554480"/>
          </a:xfrm>
          <a:prstGeom prst="roundRect">
            <a:avLst>
              <a:gd name="adj" fmla="val 7059"/>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20" name="iconCircle"/>
          <p:cNvSpPr/>
          <p:nvPr/>
        </p:nvSpPr>
        <p:spPr>
          <a:xfrm>
            <a:off x="4892040" y="1463040"/>
            <a:ext cx="548640" cy="548640"/>
          </a:xfrm>
          <a:prstGeom prst="ellipse">
            <a:avLst/>
          </a:prstGeom>
          <a:solidFill>
            <a:srgbClr val="6C4AB6"/>
          </a:solidFill>
          <a:ln w="12700">
            <a:solidFill>
              <a:srgbClr val="6C4AB6"/>
            </a:solidFill>
            <a:prstDash val="solid"/>
          </a:ln>
        </p:spPr>
      </p:sp>
      <p:pic>
        <p:nvPicPr>
          <p:cNvPr id="21" name="Image 2" descr="Filter icon">    </p:cNvPr>
          <p:cNvPicPr>
            <a:picLocks noChangeAspect="1"/>
          </p:cNvPicPr>
          <p:nvPr/>
        </p:nvPicPr>
        <p:blipFill>
          <a:blip r:embed="rId5"/>
          <a:stretch>
            <a:fillRect/>
          </a:stretch>
        </p:blipFill>
        <p:spPr>
          <a:xfrm>
            <a:off x="5029200" y="1600200"/>
            <a:ext cx="274320" cy="274320"/>
          </a:xfrm>
          <a:prstGeom prst="rect">
            <a:avLst/>
          </a:prstGeom>
        </p:spPr>
      </p:pic>
      <p:sp>
        <p:nvSpPr>
          <p:cNvPr id="22" name="Text 16"/>
          <p:cNvSpPr txBox="1"/>
          <p:nvPr/>
        </p:nvSpPr>
        <p:spPr>
          <a:xfrm>
            <a:off x="4389120" y="2103120"/>
            <a:ext cx="1554480" cy="731520"/>
          </a:xfrm>
          <a:prstGeom prst="rect">
            <a:avLst/>
          </a:prstGeom>
          <a:noFill/>
          <a:ln/>
        </p:spPr>
        <p:txBody>
          <a:bodyPr wrap="square" lIns="0" tIns="0" rIns="0" bIns="0" rtlCol="0" anchor="t"/>
          <a:lstStyle/>
          <a:p>
            <a:pPr algn="ctr" indent="0" marL="0">
              <a:buNone/>
            </a:pPr>
            <a:r>
              <a:rPr lang="en-US" sz="1200" b="1" dirty="0">
                <a:solidFill>
                  <a:srgbClr val="0B1F4B"/>
                </a:solidFill>
                <a:latin typeface="Calibri" pitchFamily="34" charset="0"/>
                <a:ea typeface="Calibri" pitchFamily="34" charset="-122"/>
                <a:cs typeface="Calibri" pitchFamily="34" charset="-120"/>
              </a:rPr>
              <a:t>Handle missing values</a:t>
            </a:r>
            <a:endParaRPr lang="en-US" sz="1200" dirty="0"/>
          </a:p>
        </p:txBody>
      </p:sp>
      <p:sp>
        <p:nvSpPr>
          <p:cNvPr id="23" name="card"/>
          <p:cNvSpPr/>
          <p:nvPr/>
        </p:nvSpPr>
        <p:spPr>
          <a:xfrm>
            <a:off x="6172200" y="1325880"/>
            <a:ext cx="1737360" cy="1554480"/>
          </a:xfrm>
          <a:prstGeom prst="roundRect">
            <a:avLst>
              <a:gd name="adj" fmla="val 7059"/>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24" name="iconCircle"/>
          <p:cNvSpPr/>
          <p:nvPr/>
        </p:nvSpPr>
        <p:spPr>
          <a:xfrm>
            <a:off x="6766560" y="1463040"/>
            <a:ext cx="548640" cy="548640"/>
          </a:xfrm>
          <a:prstGeom prst="ellipse">
            <a:avLst/>
          </a:prstGeom>
          <a:solidFill>
            <a:srgbClr val="F28C28"/>
          </a:solidFill>
          <a:ln w="12700">
            <a:solidFill>
              <a:srgbClr val="F28C28"/>
            </a:solidFill>
            <a:prstDash val="solid"/>
          </a:ln>
        </p:spPr>
      </p:sp>
      <p:pic>
        <p:nvPicPr>
          <p:cNvPr id="25" name="Image 3" descr="SlidersH icon">    </p:cNvPr>
          <p:cNvPicPr>
            <a:picLocks noChangeAspect="1"/>
          </p:cNvPicPr>
          <p:nvPr/>
        </p:nvPicPr>
        <p:blipFill>
          <a:blip r:embed="rId6"/>
          <a:stretch>
            <a:fillRect/>
          </a:stretch>
        </p:blipFill>
        <p:spPr>
          <a:xfrm>
            <a:off x="6903720" y="1600200"/>
            <a:ext cx="274320" cy="274320"/>
          </a:xfrm>
          <a:prstGeom prst="rect">
            <a:avLst/>
          </a:prstGeom>
        </p:spPr>
      </p:pic>
      <p:sp>
        <p:nvSpPr>
          <p:cNvPr id="26" name="Text 19"/>
          <p:cNvSpPr txBox="1"/>
          <p:nvPr/>
        </p:nvSpPr>
        <p:spPr>
          <a:xfrm>
            <a:off x="6263640" y="2103120"/>
            <a:ext cx="1554480" cy="731520"/>
          </a:xfrm>
          <a:prstGeom prst="rect">
            <a:avLst/>
          </a:prstGeom>
          <a:noFill/>
          <a:ln/>
        </p:spPr>
        <p:txBody>
          <a:bodyPr wrap="square" lIns="0" tIns="0" rIns="0" bIns="0" rtlCol="0" anchor="t"/>
          <a:lstStyle/>
          <a:p>
            <a:pPr algn="ctr" indent="0" marL="0">
              <a:buNone/>
            </a:pPr>
            <a:r>
              <a:rPr lang="en-US" sz="1200" b="1" dirty="0">
                <a:solidFill>
                  <a:srgbClr val="0B1F4B"/>
                </a:solidFill>
                <a:latin typeface="Calibri" pitchFamily="34" charset="0"/>
                <a:ea typeface="Calibri" pitchFamily="34" charset="-122"/>
                <a:cs typeface="Calibri" pitchFamily="34" charset="-120"/>
              </a:rPr>
              <a:t>Scale numbers</a:t>
            </a:r>
            <a:endParaRPr lang="en-US" sz="1200" dirty="0"/>
          </a:p>
        </p:txBody>
      </p:sp>
      <p:sp>
        <p:nvSpPr>
          <p:cNvPr id="27" name="card"/>
          <p:cNvSpPr/>
          <p:nvPr/>
        </p:nvSpPr>
        <p:spPr>
          <a:xfrm>
            <a:off x="8046720" y="1325880"/>
            <a:ext cx="1737360" cy="1554480"/>
          </a:xfrm>
          <a:prstGeom prst="roundRect">
            <a:avLst>
              <a:gd name="adj" fmla="val 7059"/>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28" name="iconCircle"/>
          <p:cNvSpPr/>
          <p:nvPr/>
        </p:nvSpPr>
        <p:spPr>
          <a:xfrm>
            <a:off x="8641080" y="1463040"/>
            <a:ext cx="548640" cy="548640"/>
          </a:xfrm>
          <a:prstGeom prst="ellipse">
            <a:avLst/>
          </a:prstGeom>
          <a:solidFill>
            <a:srgbClr val="2E9E5B"/>
          </a:solidFill>
          <a:ln w="12700">
            <a:solidFill>
              <a:srgbClr val="2E9E5B"/>
            </a:solidFill>
            <a:prstDash val="solid"/>
          </a:ln>
        </p:spPr>
      </p:sp>
      <p:pic>
        <p:nvPicPr>
          <p:cNvPr id="29" name="Image 4" descr="LayerGroup icon">    </p:cNvPr>
          <p:cNvPicPr>
            <a:picLocks noChangeAspect="1"/>
          </p:cNvPicPr>
          <p:nvPr/>
        </p:nvPicPr>
        <p:blipFill>
          <a:blip r:embed="rId7"/>
          <a:stretch>
            <a:fillRect/>
          </a:stretch>
        </p:blipFill>
        <p:spPr>
          <a:xfrm>
            <a:off x="8778240" y="1600200"/>
            <a:ext cx="274320" cy="274320"/>
          </a:xfrm>
          <a:prstGeom prst="rect">
            <a:avLst/>
          </a:prstGeom>
        </p:spPr>
      </p:pic>
      <p:sp>
        <p:nvSpPr>
          <p:cNvPr id="30" name="Text 22"/>
          <p:cNvSpPr txBox="1"/>
          <p:nvPr/>
        </p:nvSpPr>
        <p:spPr>
          <a:xfrm>
            <a:off x="8138160" y="2103120"/>
            <a:ext cx="1554480" cy="731520"/>
          </a:xfrm>
          <a:prstGeom prst="rect">
            <a:avLst/>
          </a:prstGeom>
          <a:noFill/>
          <a:ln/>
        </p:spPr>
        <p:txBody>
          <a:bodyPr wrap="square" lIns="0" tIns="0" rIns="0" bIns="0" rtlCol="0" anchor="t"/>
          <a:lstStyle/>
          <a:p>
            <a:pPr algn="ctr" indent="0" marL="0">
              <a:buNone/>
            </a:pPr>
            <a:r>
              <a:rPr lang="en-US" sz="1200" b="1" dirty="0">
                <a:solidFill>
                  <a:srgbClr val="0B1F4B"/>
                </a:solidFill>
                <a:latin typeface="Calibri" pitchFamily="34" charset="0"/>
                <a:ea typeface="Calibri" pitchFamily="34" charset="-122"/>
                <a:cs typeface="Calibri" pitchFamily="34" charset="-120"/>
              </a:rPr>
              <a:t>Encode categories</a:t>
            </a:r>
            <a:endParaRPr lang="en-US" sz="1200" dirty="0"/>
          </a:p>
        </p:txBody>
      </p:sp>
      <p:sp>
        <p:nvSpPr>
          <p:cNvPr id="31" name="card"/>
          <p:cNvSpPr/>
          <p:nvPr/>
        </p:nvSpPr>
        <p:spPr>
          <a:xfrm>
            <a:off x="9921240" y="1325880"/>
            <a:ext cx="1737360" cy="1554480"/>
          </a:xfrm>
          <a:prstGeom prst="roundRect">
            <a:avLst>
              <a:gd name="adj" fmla="val 7059"/>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32" name="iconCircle"/>
          <p:cNvSpPr/>
          <p:nvPr/>
        </p:nvSpPr>
        <p:spPr>
          <a:xfrm>
            <a:off x="10515600" y="1463040"/>
            <a:ext cx="548640" cy="548640"/>
          </a:xfrm>
          <a:prstGeom prst="ellipse">
            <a:avLst/>
          </a:prstGeom>
          <a:solidFill>
            <a:srgbClr val="D64545"/>
          </a:solidFill>
          <a:ln w="12700">
            <a:solidFill>
              <a:srgbClr val="D64545"/>
            </a:solidFill>
            <a:prstDash val="solid"/>
          </a:ln>
        </p:spPr>
      </p:sp>
      <p:pic>
        <p:nvPicPr>
          <p:cNvPr id="33" name="Image 5" descr="ChartLine icon">    </p:cNvPr>
          <p:cNvPicPr>
            <a:picLocks noChangeAspect="1"/>
          </p:cNvPicPr>
          <p:nvPr/>
        </p:nvPicPr>
        <p:blipFill>
          <a:blip r:embed="rId8"/>
          <a:stretch>
            <a:fillRect/>
          </a:stretch>
        </p:blipFill>
        <p:spPr>
          <a:xfrm>
            <a:off x="10652760" y="1600200"/>
            <a:ext cx="274320" cy="274320"/>
          </a:xfrm>
          <a:prstGeom prst="rect">
            <a:avLst/>
          </a:prstGeom>
        </p:spPr>
      </p:pic>
      <p:sp>
        <p:nvSpPr>
          <p:cNvPr id="34" name="Text 25"/>
          <p:cNvSpPr txBox="1"/>
          <p:nvPr/>
        </p:nvSpPr>
        <p:spPr>
          <a:xfrm>
            <a:off x="10012680" y="2103120"/>
            <a:ext cx="1554480" cy="731520"/>
          </a:xfrm>
          <a:prstGeom prst="rect">
            <a:avLst/>
          </a:prstGeom>
          <a:noFill/>
          <a:ln/>
        </p:spPr>
        <p:txBody>
          <a:bodyPr wrap="square" lIns="0" tIns="0" rIns="0" bIns="0" rtlCol="0" anchor="t"/>
          <a:lstStyle/>
          <a:p>
            <a:pPr algn="ctr" indent="0" marL="0">
              <a:buNone/>
            </a:pPr>
            <a:r>
              <a:rPr lang="en-US" sz="1200" b="1" dirty="0">
                <a:solidFill>
                  <a:srgbClr val="0B1F4B"/>
                </a:solidFill>
                <a:latin typeface="Calibri" pitchFamily="34" charset="0"/>
                <a:ea typeface="Calibri" pitchFamily="34" charset="-122"/>
                <a:cs typeface="Calibri" pitchFamily="34" charset="-120"/>
              </a:rPr>
              <a:t>Decline probability</a:t>
            </a:r>
            <a:endParaRPr lang="en-US" sz="1200" dirty="0"/>
          </a:p>
        </p:txBody>
      </p:sp>
      <p:sp>
        <p:nvSpPr>
          <p:cNvPr id="35" name="card"/>
          <p:cNvSpPr/>
          <p:nvPr/>
        </p:nvSpPr>
        <p:spPr>
          <a:xfrm>
            <a:off x="548640" y="3108960"/>
            <a:ext cx="3931920" cy="2286000"/>
          </a:xfrm>
          <a:prstGeom prst="roundRect">
            <a:avLst>
              <a:gd name="adj" fmla="val 4800"/>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36" name="Text 27"/>
          <p:cNvSpPr txBox="1"/>
          <p:nvPr/>
        </p:nvSpPr>
        <p:spPr>
          <a:xfrm>
            <a:off x="777240" y="3200400"/>
            <a:ext cx="3474720" cy="640080"/>
          </a:xfrm>
          <a:prstGeom prst="rect">
            <a:avLst/>
          </a:prstGeom>
          <a:noFill/>
          <a:ln/>
        </p:spPr>
        <p:txBody>
          <a:bodyPr wrap="square" lIns="0" tIns="0" rIns="0" bIns="0" rtlCol="0" anchor="ctr"/>
          <a:lstStyle/>
          <a:p>
            <a:pPr indent="0" marL="0">
              <a:buNone/>
            </a:pPr>
            <a:r>
              <a:rPr lang="en-US" sz="3600" b="1" dirty="0">
                <a:solidFill>
                  <a:srgbClr val="00A6A6"/>
                </a:solidFill>
                <a:latin typeface="Calibri" pitchFamily="34" charset="0"/>
                <a:ea typeface="Calibri" pitchFamily="34" charset="-122"/>
                <a:cs typeface="Calibri" pitchFamily="34" charset="-120"/>
              </a:rPr>
              <a:t>78.54%</a:t>
            </a:r>
            <a:endParaRPr lang="en-US" sz="3600" dirty="0"/>
          </a:p>
        </p:txBody>
      </p:sp>
      <p:sp>
        <p:nvSpPr>
          <p:cNvPr id="37" name="Text 28"/>
          <p:cNvSpPr txBox="1"/>
          <p:nvPr/>
        </p:nvSpPr>
        <p:spPr>
          <a:xfrm>
            <a:off x="777240" y="3840480"/>
            <a:ext cx="3474720" cy="548640"/>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accuracy reproduced; predictions identical to Step 5.4</a:t>
            </a:r>
            <a:endParaRPr lang="en-US" sz="1300" dirty="0"/>
          </a:p>
        </p:txBody>
      </p:sp>
      <p:sp>
        <p:nvSpPr>
          <p:cNvPr id="38" name="Text 29"/>
          <p:cNvSpPr txBox="1"/>
          <p:nvPr/>
        </p:nvSpPr>
        <p:spPr>
          <a:xfrm>
            <a:off x="777240" y="4480560"/>
            <a:ext cx="3474720" cy="822960"/>
          </a:xfrm>
          <a:prstGeom prst="rect">
            <a:avLst/>
          </a:prstGeom>
          <a:noFill/>
          <a:ln/>
        </p:spPr>
        <p:txBody>
          <a:bodyPr wrap="square" lIns="0" tIns="0" rIns="0" bIns="0" rtlCol="0" anchor="t"/>
          <a:lstStyle/>
          <a:p>
            <a:pPr indent="0" marL="0">
              <a:buNone/>
            </a:pPr>
            <a:r>
              <a:rPr lang="en-US" sz="1300" b="1" dirty="0">
                <a:solidFill>
                  <a:srgbClr val="0B1F4B"/>
                </a:solidFill>
                <a:latin typeface="Calibri" pitchFamily="34" charset="0"/>
                <a:ea typeface="Calibri" pitchFamily="34" charset="-122"/>
                <a:cs typeface="Calibri" pitchFamily="34" charset="-120"/>
              </a:rPr>
              <a:t>ColumnTransformer + Pipeline = one workflow for every new application.</a:t>
            </a:r>
            <a:endParaRPr lang="en-US" sz="1300" dirty="0"/>
          </a:p>
        </p:txBody>
      </p:sp>
      <p:sp>
        <p:nvSpPr>
          <p:cNvPr id="39" name="card"/>
          <p:cNvSpPr/>
          <p:nvPr/>
        </p:nvSpPr>
        <p:spPr>
          <a:xfrm>
            <a:off x="4663440" y="3108960"/>
            <a:ext cx="6995160" cy="2286000"/>
          </a:xfrm>
          <a:prstGeom prst="roundRect">
            <a:avLst>
              <a:gd name="adj" fmla="val 4800"/>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40" name="Text 31"/>
          <p:cNvSpPr txBox="1"/>
          <p:nvPr/>
        </p:nvSpPr>
        <p:spPr>
          <a:xfrm>
            <a:off x="4892040" y="3200400"/>
            <a:ext cx="6583680" cy="365760"/>
          </a:xfrm>
          <a:prstGeom prst="rect">
            <a:avLst/>
          </a:prstGeom>
          <a:noFill/>
          <a:ln/>
        </p:spPr>
        <p:txBody>
          <a:bodyPr wrap="square" lIns="0" tIns="0" rIns="0" bIns="0" rtlCol="0" anchor="t"/>
          <a:lstStyle/>
          <a:p>
            <a:pPr indent="0" marL="0">
              <a:buNone/>
            </a:pPr>
            <a:r>
              <a:rPr lang="en-US" sz="1400" b="1" dirty="0">
                <a:solidFill>
                  <a:srgbClr val="0B1F4B"/>
                </a:solidFill>
                <a:latin typeface="Calibri" pitchFamily="34" charset="0"/>
                <a:ea typeface="Calibri" pitchFamily="34" charset="-122"/>
                <a:cs typeface="Calibri" pitchFamily="34" charset="-120"/>
              </a:rPr>
              <a:t>Decline probability of the 5 most recent applications (30 Sep 2026)</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892040" y="3611880"/>
          <a:ext cx="6537960" cy="914400"/>
        </p:xfrm>
        <a:graphic>
          <a:graphicData uri="http://schemas.openxmlformats.org/drawingml/2006/table">
            <a:tbl>
              <a:tblPr/>
              <a:tblGrid>
                <a:gridCol w="2194560"/>
                <a:gridCol w="2194560"/>
                <a:gridCol w="2148840"/>
              </a:tblGrid>
              <a:tr h="283464">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Application</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0B1F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Decline probability</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0B1F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Result at 0.50</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0B1F4B"/>
                    </a:solidFill>
                  </a:tcPr>
                </a:tc>
              </a:tr>
              <a:tr h="283464">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APP111969</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6.33%</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Approved</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283464">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APP111970</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13.85%</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Approved</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283464">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APP111971</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57.71%</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Declined</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283464">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APP111960</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77.47%</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Declined</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283464">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APP112000</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40.14%</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Approved</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bl>
          </a:graphicData>
        </a:graphic>
      </p:graphicFrame>
      <p:sp>
        <p:nvSpPr>
          <p:cNvPr id="42" name="note"/>
          <p:cNvSpPr/>
          <p:nvPr/>
        </p:nvSpPr>
        <p:spPr>
          <a:xfrm>
            <a:off x="548640" y="5532120"/>
            <a:ext cx="11109960" cy="731520"/>
          </a:xfrm>
          <a:prstGeom prst="roundRect">
            <a:avLst>
              <a:gd name="adj" fmla="val 15000"/>
            </a:avLst>
          </a:prstGeom>
          <a:solidFill>
            <a:srgbClr val="DFF4F4"/>
          </a:solidFill>
          <a:ln w="12700">
            <a:solidFill>
              <a:srgbClr val="00A6A6"/>
            </a:solidFill>
            <a:prstDash val="solid"/>
          </a:ln>
        </p:spPr>
      </p:sp>
      <p:sp>
        <p:nvSpPr>
          <p:cNvPr id="43" name="iconCircle"/>
          <p:cNvSpPr/>
          <p:nvPr/>
        </p:nvSpPr>
        <p:spPr>
          <a:xfrm>
            <a:off x="731520" y="5669280"/>
            <a:ext cx="457200" cy="457200"/>
          </a:xfrm>
          <a:prstGeom prst="ellipse">
            <a:avLst/>
          </a:prstGeom>
          <a:solidFill>
            <a:srgbClr val="00A6A6"/>
          </a:solidFill>
          <a:ln w="12700">
            <a:solidFill>
              <a:srgbClr val="00A6A6"/>
            </a:solidFill>
            <a:prstDash val="solid"/>
          </a:ln>
        </p:spPr>
      </p:sp>
      <p:pic>
        <p:nvPicPr>
          <p:cNvPr id="44" name="Image 6" descr="ShieldAlt icon">    </p:cNvPr>
          <p:cNvPicPr>
            <a:picLocks noChangeAspect="1"/>
          </p:cNvPicPr>
          <p:nvPr/>
        </p:nvPicPr>
        <p:blipFill>
          <a:blip r:embed="rId9"/>
          <a:stretch>
            <a:fillRect/>
          </a:stretch>
        </p:blipFill>
        <p:spPr>
          <a:xfrm>
            <a:off x="845820" y="5783580"/>
            <a:ext cx="228600" cy="228600"/>
          </a:xfrm>
          <a:prstGeom prst="rect">
            <a:avLst/>
          </a:prstGeom>
        </p:spPr>
      </p:pic>
      <p:sp>
        <p:nvSpPr>
          <p:cNvPr id="45" name="Text 34"/>
          <p:cNvSpPr txBox="1"/>
          <p:nvPr/>
        </p:nvSpPr>
        <p:spPr>
          <a:xfrm>
            <a:off x="1371600" y="5532120"/>
            <a:ext cx="10104120" cy="731520"/>
          </a:xfrm>
          <a:prstGeom prst="rect">
            <a:avLst/>
          </a:prstGeom>
          <a:noFill/>
          <a:ln/>
        </p:spPr>
        <p:txBody>
          <a:bodyPr wrap="square" lIns="0" tIns="0" rIns="0" bIns="0" rtlCol="0" anchor="ctr"/>
          <a:lstStyle/>
          <a:p>
            <a:pPr indent="0" marL="0">
              <a:buNone/>
            </a:pPr>
            <a:r>
              <a:rPr lang="en-US" sz="1400" b="1" dirty="0">
                <a:solidFill>
                  <a:srgbClr val="0B1F4B"/>
                </a:solidFill>
                <a:latin typeface="Calibri" pitchFamily="34" charset="0"/>
                <a:ea typeface="Calibri" pitchFamily="34" charset="-122"/>
                <a:cs typeface="Calibri" pitchFamily="34" charset="-120"/>
              </a:rPr>
              <a:t>Data leakage = test information sneaking into training. A pipeline learns medians, scaling and categories from training data only.</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052560" cy="777240"/>
          </a:xfrm>
          <a:prstGeom prst="rect">
            <a:avLst/>
          </a:prstGeom>
          <a:noFill/>
          <a:ln/>
        </p:spPr>
        <p:txBody>
          <a:bodyPr wrap="square" lIns="0" tIns="0" rIns="0" bIns="0" rtlCol="0" anchor="ctr"/>
          <a:lstStyle/>
          <a:p>
            <a:pPr algn="l" indent="0" marL="0">
              <a:buNone/>
            </a:pPr>
            <a:r>
              <a:rPr lang="en-US" sz="2800" b="1" dirty="0">
                <a:solidFill>
                  <a:srgbClr val="0B1F4B"/>
                </a:solidFill>
                <a:latin typeface="Calibri" pitchFamily="34" charset="0"/>
                <a:ea typeface="Calibri" pitchFamily="34" charset="-122"/>
                <a:cs typeface="Calibri" pitchFamily="34" charset="-120"/>
              </a:rPr>
              <a:t>Comparing Four Machine-Learning Models — Step 5.9</a:t>
            </a:r>
            <a:endParaRPr lang="en-US" sz="2800" dirty="0"/>
          </a:p>
        </p:txBody>
      </p:sp>
      <p:sp>
        <p:nvSpPr>
          <p:cNvPr id="3" name="tag"/>
          <p:cNvSpPr/>
          <p:nvPr/>
        </p:nvSpPr>
        <p:spPr>
          <a:xfrm>
            <a:off x="9738360" y="457200"/>
            <a:ext cx="1920240" cy="365760"/>
          </a:xfrm>
          <a:prstGeom prst="roundRect">
            <a:avLst>
              <a:gd name="adj" fmla="val 50000"/>
            </a:avLst>
          </a:prstGeom>
          <a:solidFill>
            <a:srgbClr val="6C4AB6"/>
          </a:solidFill>
          <a:ln w="12700">
            <a:solidFill>
              <a:srgbClr val="6C4AB6"/>
            </a:solidFill>
            <a:prstDash val="solid"/>
          </a:ln>
        </p:spPr>
      </p:sp>
      <p:sp>
        <p:nvSpPr>
          <p:cNvPr id="4" name="Text 2"/>
          <p:cNvSpPr txBox="1"/>
          <p:nvPr/>
        </p:nvSpPr>
        <p:spPr>
          <a:xfrm>
            <a:off x="9738360" y="457200"/>
            <a:ext cx="1920240"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CROSS-VALIDATION</a:t>
            </a:r>
            <a:endParaRPr lang="en-US" sz="1000" dirty="0"/>
          </a:p>
        </p:txBody>
      </p:sp>
      <p:sp>
        <p:nvSpPr>
          <p:cNvPr id="5" name="Text 3"/>
          <p:cNvSpPr txBox="1"/>
          <p:nvPr/>
        </p:nvSpPr>
        <p:spPr>
          <a:xfrm>
            <a:off x="8229600" y="6400800"/>
            <a:ext cx="1554480" cy="32004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14 / 20</a:t>
            </a:r>
            <a:endParaRPr lang="en-US" sz="1000" dirty="0"/>
          </a:p>
        </p:txBody>
      </p:sp>
      <p:sp>
        <p:nvSpPr>
          <p:cNvPr id="6" name="navButton"/>
          <p:cNvSpPr/>
          <p:nvPr/>
        </p:nvSpPr>
        <p:spPr>
          <a:xfrm>
            <a:off x="9921240" y="6419088"/>
            <a:ext cx="822960" cy="292608"/>
          </a:xfrm>
          <a:prstGeom prst="roundRect">
            <a:avLst>
              <a:gd name="adj" fmla="val 50000"/>
            </a:avLst>
          </a:prstGeom>
          <a:solidFill>
            <a:srgbClr val="FFFFFF"/>
          </a:solidFill>
          <a:ln w="12700">
            <a:solidFill>
              <a:srgbClr val="C9D3E3"/>
            </a:solidFill>
            <a:prstDash val="solid"/>
          </a:ln>
        </p:spPr>
      </p:sp>
      <p:sp>
        <p:nvSpPr>
          <p:cNvPr id="7" name="Text 5">
            <a:hlinkClick r:id="rId1" tooltip="Previous slide" action="ppaction://hlinksldjump"/>
          </p:cNvPr>
          <p:cNvSpPr txBox="1"/>
          <p:nvPr/>
        </p:nvSpPr>
        <p:spPr>
          <a:xfrm>
            <a:off x="99212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1" action="ppaction://hlinksldjump" tooltip="Previous slide">
                  <a:extLst>
                    <a:ext uri="{A12FA001-AC4F-418D-AE19-62706E023703}">
                      <ahyp:hlinkClr xmlns:ahyp="http://schemas.microsoft.com/office/drawing/2018/hyperlinkcolor" val="tx"/>
                    </a:ext>
                  </a:extLst>
                </a:hlinkClick>
              </a:rPr>
              <a:t>‹ Prev</a:t>
            </a:r>
            <a:endParaRPr lang="en-US" sz="1000" dirty="0"/>
          </a:p>
        </p:txBody>
      </p:sp>
      <p:sp>
        <p:nvSpPr>
          <p:cNvPr id="8" name="navButton"/>
          <p:cNvSpPr/>
          <p:nvPr/>
        </p:nvSpPr>
        <p:spPr>
          <a:xfrm>
            <a:off x="10835640" y="6419088"/>
            <a:ext cx="822960" cy="292608"/>
          </a:xfrm>
          <a:prstGeom prst="roundRect">
            <a:avLst>
              <a:gd name="adj" fmla="val 50000"/>
            </a:avLst>
          </a:prstGeom>
          <a:solidFill>
            <a:srgbClr val="FFFFFF"/>
          </a:solidFill>
          <a:ln w="12700">
            <a:solidFill>
              <a:srgbClr val="C9D3E3"/>
            </a:solidFill>
            <a:prstDash val="solid"/>
          </a:ln>
        </p:spPr>
      </p:sp>
      <p:sp>
        <p:nvSpPr>
          <p:cNvPr id="9" name="Text 7">
            <a:hlinkClick r:id="rId2" tooltip="Next slide" action="ppaction://hlinksldjump"/>
          </p:cNvPr>
          <p:cNvSpPr txBox="1"/>
          <p:nvPr/>
        </p:nvSpPr>
        <p:spPr>
          <a:xfrm>
            <a:off x="108356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2" action="ppaction://hlinksldjump" tooltip="Next slide">
                  <a:extLst>
                    <a:ext uri="{A12FA001-AC4F-418D-AE19-62706E023703}">
                      <ahyp:hlinkClr xmlns:ahyp="http://schemas.microsoft.com/office/drawing/2018/hyperlinkcolor" val="tx"/>
                    </a:ext>
                  </a:extLst>
                </a:hlinkClick>
              </a:rPr>
              <a:t>Next ›</a:t>
            </a:r>
            <a:endParaRPr lang="en-US" sz="1000" dirty="0"/>
          </a:p>
        </p:txBody>
      </p:sp>
      <p:sp>
        <p:nvSpPr>
          <p:cNvPr id="11" name="card"/>
          <p:cNvSpPr/>
          <p:nvPr/>
        </p:nvSpPr>
        <p:spPr>
          <a:xfrm>
            <a:off x="548640" y="1325880"/>
            <a:ext cx="5669280" cy="3611880"/>
          </a:xfrm>
          <a:prstGeom prst="roundRect">
            <a:avLst>
              <a:gd name="adj" fmla="val 3038"/>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graphicFrame>
        <p:nvGraphicFramePr>
          <p:cNvPr id="12" name="Chart 0" descr=""/>
          <p:cNvGraphicFramePr/>
          <p:nvPr/>
        </p:nvGraphicFramePr>
        <p:xfrm>
          <a:off x="640080" y="1417320"/>
          <a:ext cx="5486400" cy="3429000"/>
        </p:xfrm>
        <a:graphic xmlns:a="http://schemas.openxmlformats.org/drawingml/2006/main">
          <a:graphicData uri="http://schemas.openxmlformats.org/drawingml/2006/chart">
            <c:chart xmlns:c="http://schemas.openxmlformats.org/drawingml/2006/chart" r:id="rId3"/>
          </a:graphicData>
        </a:graphic>
      </p:graphicFrame>
      <p:sp>
        <p:nvSpPr>
          <p:cNvPr id="13" name="card"/>
          <p:cNvSpPr/>
          <p:nvPr/>
        </p:nvSpPr>
        <p:spPr>
          <a:xfrm>
            <a:off x="6400800" y="1325880"/>
            <a:ext cx="5257800" cy="3611880"/>
          </a:xfrm>
          <a:prstGeom prst="roundRect">
            <a:avLst>
              <a:gd name="adj" fmla="val 3038"/>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583680" y="1508760"/>
          <a:ext cx="4892040" cy="914400"/>
        </p:xfrm>
        <a:graphic>
          <a:graphicData uri="http://schemas.openxmlformats.org/drawingml/2006/table">
            <a:tbl>
              <a:tblPr/>
              <a:tblGrid>
                <a:gridCol w="1691640"/>
                <a:gridCol w="868680"/>
                <a:gridCol w="777240"/>
                <a:gridCol w="777240"/>
                <a:gridCol w="777240"/>
              </a:tblGrid>
              <a:tr h="45720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0B1F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ROC-AUC</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0B1F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Acc.</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0B1F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Prec.</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0B1F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0B1F4B"/>
                    </a:solidFill>
                  </a:tcPr>
                </a:tc>
              </a:tr>
              <a:tr h="457200">
                <a:tc>
                  <a:txBody>
                    <a:bodyPr/>
                    <a:lstStyle/>
                    <a:p>
                      <a:pPr algn="l" indent="0" marL="0">
                        <a:buNone/>
                      </a:pPr>
                      <a:r>
                        <a:rPr lang="en-US" sz="1200" b="1" dirty="0">
                          <a:solidFill>
                            <a:srgbClr val="1F2A44"/>
                          </a:solidFill>
                          <a:latin typeface="Calibri" pitchFamily="34" charset="0"/>
                          <a:ea typeface="Calibri" pitchFamily="34" charset="-122"/>
                          <a:cs typeface="Calibri" pitchFamily="34" charset="-120"/>
                        </a:rPr>
                        <a:t>Gradient Boosting</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3F4EA"/>
                    </a:solidFill>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0.8896</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3F4EA"/>
                    </a:solidFill>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80.10%</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3F4EA"/>
                    </a:solidFill>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81.38%</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3F4EA"/>
                    </a:solidFill>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74.88%</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3F4EA"/>
                    </a:solidFill>
                  </a:tcPr>
                </a:tc>
              </a:tr>
              <a:tr h="457200">
                <a:tc>
                  <a:txBody>
                    <a:bodyPr/>
                    <a:lstStyle/>
                    <a:p>
                      <a:pPr algn="l" indent="0" marL="0">
                        <a:buNone/>
                      </a:pPr>
                      <a:r>
                        <a:rPr lang="en-US" sz="1200" dirty="0">
                          <a:solidFill>
                            <a:srgbClr val="1F2A44"/>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0.8773</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79.18%</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79.32%</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75.43%</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F2A44"/>
                          </a:solidFill>
                          <a:latin typeface="Calibri" pitchFamily="34" charset="0"/>
                          <a:ea typeface="Calibri" pitchFamily="34" charset="-122"/>
                          <a:cs typeface="Calibri" pitchFamily="34" charset="-120"/>
                        </a:rPr>
                        <a:t>Logistic Regression</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0.8667</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77.36%</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77.91%</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72.47%</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F2A44"/>
                          </a:solidFill>
                          <a:latin typeface="Calibri" pitchFamily="34" charset="0"/>
                          <a:ea typeface="Calibri" pitchFamily="34" charset="-122"/>
                          <a:cs typeface="Calibri" pitchFamily="34" charset="-120"/>
                        </a:rPr>
                        <a:t>Decision Tree</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0.7187</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71.97%</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70.25%</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70.21%</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bl>
          </a:graphicData>
        </a:graphic>
      </p:graphicFrame>
      <p:sp>
        <p:nvSpPr>
          <p:cNvPr id="15" name="Text 10"/>
          <p:cNvSpPr txBox="1"/>
          <p:nvPr/>
        </p:nvSpPr>
        <p:spPr>
          <a:xfrm>
            <a:off x="6583680" y="3977640"/>
            <a:ext cx="4892040" cy="822960"/>
          </a:xfrm>
          <a:prstGeom prst="rect">
            <a:avLst/>
          </a:prstGeom>
          <a:noFill/>
          <a:ln/>
        </p:spPr>
        <p:txBody>
          <a:bodyPr wrap="square" lIns="0" tIns="0" rIns="0" bIns="0" rtlCol="0" anchor="t"/>
          <a:lstStyle/>
          <a:p>
            <a:pPr indent="0" marL="0">
              <a:buNone/>
            </a:pPr>
            <a:r>
              <a:rPr lang="en-US" sz="1200" dirty="0">
                <a:solidFill>
                  <a:srgbClr val="5B6B82"/>
                </a:solidFill>
                <a:latin typeface="Calibri" pitchFamily="34" charset="0"/>
                <a:ea typeface="Calibri" pitchFamily="34" charset="-122"/>
                <a:cs typeface="Calibri" pitchFamily="34" charset="-120"/>
              </a:rPr>
              <a:t>5-fold Stratified Cross-Validation on the training set only. Precision and recall are for the Declined class.</a:t>
            </a:r>
            <a:endParaRPr lang="en-US" sz="1200" dirty="0"/>
          </a:p>
        </p:txBody>
      </p:sp>
      <p:sp>
        <p:nvSpPr>
          <p:cNvPr id="16" name="note"/>
          <p:cNvSpPr/>
          <p:nvPr/>
        </p:nvSpPr>
        <p:spPr>
          <a:xfrm>
            <a:off x="548640" y="5120640"/>
            <a:ext cx="11109960" cy="1097280"/>
          </a:xfrm>
          <a:prstGeom prst="roundRect">
            <a:avLst>
              <a:gd name="adj" fmla="val 10000"/>
            </a:avLst>
          </a:prstGeom>
          <a:solidFill>
            <a:srgbClr val="E3F4EA"/>
          </a:solidFill>
          <a:ln w="12700">
            <a:solidFill>
              <a:srgbClr val="2E9E5B"/>
            </a:solidFill>
            <a:prstDash val="solid"/>
          </a:ln>
        </p:spPr>
      </p:sp>
      <p:sp>
        <p:nvSpPr>
          <p:cNvPr id="17" name="iconCircle"/>
          <p:cNvSpPr/>
          <p:nvPr/>
        </p:nvSpPr>
        <p:spPr>
          <a:xfrm>
            <a:off x="731520" y="5440680"/>
            <a:ext cx="457200" cy="457200"/>
          </a:xfrm>
          <a:prstGeom prst="ellipse">
            <a:avLst/>
          </a:prstGeom>
          <a:solidFill>
            <a:srgbClr val="2E9E5B"/>
          </a:solidFill>
          <a:ln w="12700">
            <a:solidFill>
              <a:srgbClr val="2E9E5B"/>
            </a:solidFill>
            <a:prstDash val="solid"/>
          </a:ln>
        </p:spPr>
      </p:sp>
      <p:pic>
        <p:nvPicPr>
          <p:cNvPr id="18" name="Image 0" descr="CheckCircle icon">    </p:cNvPr>
          <p:cNvPicPr>
            <a:picLocks noChangeAspect="1"/>
          </p:cNvPicPr>
          <p:nvPr/>
        </p:nvPicPr>
        <p:blipFill>
          <a:blip r:embed="rId4"/>
          <a:stretch>
            <a:fillRect/>
          </a:stretch>
        </p:blipFill>
        <p:spPr>
          <a:xfrm>
            <a:off x="845820" y="5554980"/>
            <a:ext cx="228600" cy="228600"/>
          </a:xfrm>
          <a:prstGeom prst="rect">
            <a:avLst/>
          </a:prstGeom>
        </p:spPr>
      </p:pic>
      <p:sp>
        <p:nvSpPr>
          <p:cNvPr id="19" name="Text 13"/>
          <p:cNvSpPr txBox="1"/>
          <p:nvPr/>
        </p:nvSpPr>
        <p:spPr>
          <a:xfrm>
            <a:off x="1371600" y="5120640"/>
            <a:ext cx="10104120" cy="1097280"/>
          </a:xfrm>
          <a:prstGeom prst="rect">
            <a:avLst/>
          </a:prstGeom>
          <a:noFill/>
          <a:ln/>
        </p:spPr>
        <p:txBody>
          <a:bodyPr wrap="square" lIns="0" tIns="0" rIns="0" bIns="0" rtlCol="0" anchor="ctr"/>
          <a:lstStyle/>
          <a:p>
            <a:pPr indent="0" marL="0">
              <a:buNone/>
            </a:pPr>
            <a:r>
              <a:rPr lang="en-US" sz="1600" b="1" dirty="0">
                <a:solidFill>
                  <a:srgbClr val="0B1F4B"/>
                </a:solidFill>
                <a:latin typeface="Calibri" pitchFamily="34" charset="0"/>
                <a:ea typeface="Calibri" pitchFamily="34" charset="-122"/>
                <a:cs typeface="Calibri" pitchFamily="34" charset="-120"/>
              </a:rPr>
              <a:t>Selected: Gradient Boosting (best mean ROC-AUC). On the test set: ROC-AUC 0.8853, accuracy 80.29%, precision 81.54%, recall 75.11%.</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052560" cy="777240"/>
          </a:xfrm>
          <a:prstGeom prst="rect">
            <a:avLst/>
          </a:prstGeom>
          <a:noFill/>
          <a:ln/>
        </p:spPr>
        <p:txBody>
          <a:bodyPr wrap="square" lIns="0" tIns="0" rIns="0" bIns="0" rtlCol="0" anchor="ctr"/>
          <a:lstStyle/>
          <a:p>
            <a:pPr algn="l" indent="0" marL="0">
              <a:buNone/>
            </a:pPr>
            <a:r>
              <a:rPr lang="en-US" sz="2800" b="1" dirty="0">
                <a:solidFill>
                  <a:srgbClr val="0B1F4B"/>
                </a:solidFill>
                <a:latin typeface="Calibri" pitchFamily="34" charset="0"/>
                <a:ea typeface="Calibri" pitchFamily="34" charset="-122"/>
                <a:cs typeface="Calibri" pitchFamily="34" charset="-120"/>
              </a:rPr>
              <a:t>Feature Importance and Model Selection</a:t>
            </a:r>
            <a:endParaRPr lang="en-US" sz="2800" dirty="0"/>
          </a:p>
        </p:txBody>
      </p:sp>
      <p:sp>
        <p:nvSpPr>
          <p:cNvPr id="3" name="tag"/>
          <p:cNvSpPr/>
          <p:nvPr/>
        </p:nvSpPr>
        <p:spPr>
          <a:xfrm>
            <a:off x="9738360" y="457200"/>
            <a:ext cx="1920240" cy="365760"/>
          </a:xfrm>
          <a:prstGeom prst="roundRect">
            <a:avLst>
              <a:gd name="adj" fmla="val 50000"/>
            </a:avLst>
          </a:prstGeom>
          <a:solidFill>
            <a:srgbClr val="2E9E5B"/>
          </a:solidFill>
          <a:ln w="12700">
            <a:solidFill>
              <a:srgbClr val="2E9E5B"/>
            </a:solidFill>
            <a:prstDash val="solid"/>
          </a:ln>
        </p:spPr>
      </p:sp>
      <p:sp>
        <p:nvSpPr>
          <p:cNvPr id="4" name="Text 2"/>
          <p:cNvSpPr txBox="1"/>
          <p:nvPr/>
        </p:nvSpPr>
        <p:spPr>
          <a:xfrm>
            <a:off x="9738360" y="457200"/>
            <a:ext cx="1920240"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TEST RESULT</a:t>
            </a:r>
            <a:endParaRPr lang="en-US" sz="1000" dirty="0"/>
          </a:p>
        </p:txBody>
      </p:sp>
      <p:sp>
        <p:nvSpPr>
          <p:cNvPr id="5" name="Text 3"/>
          <p:cNvSpPr txBox="1"/>
          <p:nvPr/>
        </p:nvSpPr>
        <p:spPr>
          <a:xfrm>
            <a:off x="8229600" y="6400800"/>
            <a:ext cx="1554480" cy="32004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15 / 20</a:t>
            </a:r>
            <a:endParaRPr lang="en-US" sz="1000" dirty="0"/>
          </a:p>
        </p:txBody>
      </p:sp>
      <p:sp>
        <p:nvSpPr>
          <p:cNvPr id="6" name="navButton"/>
          <p:cNvSpPr/>
          <p:nvPr/>
        </p:nvSpPr>
        <p:spPr>
          <a:xfrm>
            <a:off x="9921240" y="6419088"/>
            <a:ext cx="822960" cy="292608"/>
          </a:xfrm>
          <a:prstGeom prst="roundRect">
            <a:avLst>
              <a:gd name="adj" fmla="val 50000"/>
            </a:avLst>
          </a:prstGeom>
          <a:solidFill>
            <a:srgbClr val="FFFFFF"/>
          </a:solidFill>
          <a:ln w="12700">
            <a:solidFill>
              <a:srgbClr val="C9D3E3"/>
            </a:solidFill>
            <a:prstDash val="solid"/>
          </a:ln>
        </p:spPr>
      </p:sp>
      <p:sp>
        <p:nvSpPr>
          <p:cNvPr id="7" name="Text 5">
            <a:hlinkClick r:id="rId1" tooltip="Previous slide" action="ppaction://hlinksldjump"/>
          </p:cNvPr>
          <p:cNvSpPr txBox="1"/>
          <p:nvPr/>
        </p:nvSpPr>
        <p:spPr>
          <a:xfrm>
            <a:off x="99212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1" action="ppaction://hlinksldjump" tooltip="Previous slide">
                  <a:extLst>
                    <a:ext uri="{A12FA001-AC4F-418D-AE19-62706E023703}">
                      <ahyp:hlinkClr xmlns:ahyp="http://schemas.microsoft.com/office/drawing/2018/hyperlinkcolor" val="tx"/>
                    </a:ext>
                  </a:extLst>
                </a:hlinkClick>
              </a:rPr>
              <a:t>‹ Prev</a:t>
            </a:r>
            <a:endParaRPr lang="en-US" sz="1000" dirty="0"/>
          </a:p>
        </p:txBody>
      </p:sp>
      <p:sp>
        <p:nvSpPr>
          <p:cNvPr id="8" name="navButton"/>
          <p:cNvSpPr/>
          <p:nvPr/>
        </p:nvSpPr>
        <p:spPr>
          <a:xfrm>
            <a:off x="10835640" y="6419088"/>
            <a:ext cx="822960" cy="292608"/>
          </a:xfrm>
          <a:prstGeom prst="roundRect">
            <a:avLst>
              <a:gd name="adj" fmla="val 50000"/>
            </a:avLst>
          </a:prstGeom>
          <a:solidFill>
            <a:srgbClr val="FFFFFF"/>
          </a:solidFill>
          <a:ln w="12700">
            <a:solidFill>
              <a:srgbClr val="C9D3E3"/>
            </a:solidFill>
            <a:prstDash val="solid"/>
          </a:ln>
        </p:spPr>
      </p:sp>
      <p:sp>
        <p:nvSpPr>
          <p:cNvPr id="9" name="Text 7">
            <a:hlinkClick r:id="rId2" tooltip="Next slide" action="ppaction://hlinksldjump"/>
          </p:cNvPr>
          <p:cNvSpPr txBox="1"/>
          <p:nvPr/>
        </p:nvSpPr>
        <p:spPr>
          <a:xfrm>
            <a:off x="108356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2" action="ppaction://hlinksldjump" tooltip="Next slide">
                  <a:extLst>
                    <a:ext uri="{A12FA001-AC4F-418D-AE19-62706E023703}">
                      <ahyp:hlinkClr xmlns:ahyp="http://schemas.microsoft.com/office/drawing/2018/hyperlinkcolor" val="tx"/>
                    </a:ext>
                  </a:extLst>
                </a:hlinkClick>
              </a:rPr>
              <a:t>Next ›</a:t>
            </a:r>
            <a:endParaRPr lang="en-US" sz="1000" dirty="0"/>
          </a:p>
        </p:txBody>
      </p:sp>
      <p:sp>
        <p:nvSpPr>
          <p:cNvPr id="11" name="card"/>
          <p:cNvSpPr/>
          <p:nvPr/>
        </p:nvSpPr>
        <p:spPr>
          <a:xfrm>
            <a:off x="548640" y="1325880"/>
            <a:ext cx="4297680" cy="1280160"/>
          </a:xfrm>
          <a:prstGeom prst="roundRect">
            <a:avLst>
              <a:gd name="adj" fmla="val 8571"/>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777240" y="1417320"/>
            <a:ext cx="3840480" cy="502920"/>
          </a:xfrm>
          <a:prstGeom prst="rect">
            <a:avLst/>
          </a:prstGeom>
          <a:noFill/>
          <a:ln/>
        </p:spPr>
        <p:txBody>
          <a:bodyPr wrap="square" lIns="0" tIns="0" rIns="0" bIns="0" rtlCol="0" anchor="ctr"/>
          <a:lstStyle/>
          <a:p>
            <a:pPr indent="0" marL="0">
              <a:buNone/>
            </a:pPr>
            <a:r>
              <a:rPr lang="en-US" sz="2600" b="1" dirty="0">
                <a:solidFill>
                  <a:srgbClr val="00A6A6"/>
                </a:solidFill>
                <a:latin typeface="Calibri" pitchFamily="34" charset="0"/>
                <a:ea typeface="Calibri" pitchFamily="34" charset="-122"/>
                <a:cs typeface="Calibri" pitchFamily="34" charset="-120"/>
              </a:rPr>
              <a:t>88.14%</a:t>
            </a:r>
            <a:endParaRPr lang="en-US" sz="2600" dirty="0"/>
          </a:p>
        </p:txBody>
      </p:sp>
      <p:sp>
        <p:nvSpPr>
          <p:cNvPr id="13" name="Text 10"/>
          <p:cNvSpPr txBox="1"/>
          <p:nvPr/>
        </p:nvSpPr>
        <p:spPr>
          <a:xfrm>
            <a:off x="777240" y="1965960"/>
            <a:ext cx="3840480" cy="594360"/>
          </a:xfrm>
          <a:prstGeom prst="rect">
            <a:avLst/>
          </a:prstGeom>
          <a:noFill/>
          <a:ln/>
        </p:spPr>
        <p:txBody>
          <a:bodyPr wrap="square" lIns="0" tIns="0" rIns="0" bIns="0" rtlCol="0" anchor="t"/>
          <a:lstStyle/>
          <a:p>
            <a:pPr indent="0" marL="0">
              <a:buNone/>
            </a:pPr>
            <a:r>
              <a:rPr lang="en-US" sz="1200" dirty="0">
                <a:solidFill>
                  <a:srgbClr val="5B6B82"/>
                </a:solidFill>
                <a:latin typeface="Calibri" pitchFamily="34" charset="0"/>
                <a:ea typeface="Calibri" pitchFamily="34" charset="-122"/>
                <a:cs typeface="Calibri" pitchFamily="34" charset="-120"/>
              </a:rPr>
              <a:t>of total importance comes from just 3 features: delinquencies, credit score, FOIR</a:t>
            </a:r>
            <a:endParaRPr lang="en-US" sz="1200" dirty="0"/>
          </a:p>
        </p:txBody>
      </p:sp>
      <p:sp>
        <p:nvSpPr>
          <p:cNvPr id="14" name="card"/>
          <p:cNvSpPr/>
          <p:nvPr/>
        </p:nvSpPr>
        <p:spPr>
          <a:xfrm>
            <a:off x="548640" y="2743200"/>
            <a:ext cx="4297680" cy="1280160"/>
          </a:xfrm>
          <a:prstGeom prst="roundRect">
            <a:avLst>
              <a:gd name="adj" fmla="val 8571"/>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5" name="Text 12"/>
          <p:cNvSpPr txBox="1"/>
          <p:nvPr/>
        </p:nvSpPr>
        <p:spPr>
          <a:xfrm>
            <a:off x="777240" y="2834640"/>
            <a:ext cx="3840480" cy="502920"/>
          </a:xfrm>
          <a:prstGeom prst="rect">
            <a:avLst/>
          </a:prstGeom>
          <a:noFill/>
          <a:ln/>
        </p:spPr>
        <p:txBody>
          <a:bodyPr wrap="square" lIns="0" tIns="0" rIns="0" bIns="0" rtlCol="0" anchor="ctr"/>
          <a:lstStyle/>
          <a:p>
            <a:pPr indent="0" marL="0">
              <a:buNone/>
            </a:pPr>
            <a:r>
              <a:rPr lang="en-US" sz="2600" b="1" dirty="0">
                <a:solidFill>
                  <a:srgbClr val="0B1F4B"/>
                </a:solidFill>
                <a:latin typeface="Calibri" pitchFamily="34" charset="0"/>
                <a:ea typeface="Calibri" pitchFamily="34" charset="-122"/>
                <a:cs typeface="Calibri" pitchFamily="34" charset="-120"/>
              </a:rPr>
              <a:t>Agrees</a:t>
            </a:r>
            <a:endParaRPr lang="en-US" sz="2600" dirty="0"/>
          </a:p>
        </p:txBody>
      </p:sp>
      <p:sp>
        <p:nvSpPr>
          <p:cNvPr id="16" name="Text 13"/>
          <p:cNvSpPr txBox="1"/>
          <p:nvPr/>
        </p:nvSpPr>
        <p:spPr>
          <a:xfrm>
            <a:off x="777240" y="3383280"/>
            <a:ext cx="3840480" cy="594360"/>
          </a:xfrm>
          <a:prstGeom prst="rect">
            <a:avLst/>
          </a:prstGeom>
          <a:noFill/>
          <a:ln/>
        </p:spPr>
        <p:txBody>
          <a:bodyPr wrap="square" lIns="0" tIns="0" rIns="0" bIns="0" rtlCol="0" anchor="t"/>
          <a:lstStyle/>
          <a:p>
            <a:pPr indent="0" marL="0">
              <a:buNone/>
            </a:pPr>
            <a:r>
              <a:rPr lang="en-US" sz="1200" dirty="0">
                <a:solidFill>
                  <a:srgbClr val="5B6B82"/>
                </a:solidFill>
                <a:latin typeface="Calibri" pitchFamily="34" charset="0"/>
                <a:ea typeface="Calibri" pitchFamily="34" charset="-122"/>
                <a:cs typeface="Calibri" pitchFamily="34" charset="-120"/>
              </a:rPr>
              <a:t>with Steps 5.2 and 5.3: the 650 score gate and the FOIR drop</a:t>
            </a:r>
            <a:endParaRPr lang="en-US" sz="1200" dirty="0"/>
          </a:p>
        </p:txBody>
      </p:sp>
      <p:sp>
        <p:nvSpPr>
          <p:cNvPr id="17" name="card"/>
          <p:cNvSpPr/>
          <p:nvPr/>
        </p:nvSpPr>
        <p:spPr>
          <a:xfrm>
            <a:off x="548640" y="4160520"/>
            <a:ext cx="4297680" cy="1280160"/>
          </a:xfrm>
          <a:prstGeom prst="roundRect">
            <a:avLst>
              <a:gd name="adj" fmla="val 8571"/>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8" name="Text 15"/>
          <p:cNvSpPr txBox="1"/>
          <p:nvPr/>
        </p:nvSpPr>
        <p:spPr>
          <a:xfrm>
            <a:off x="777240" y="4251960"/>
            <a:ext cx="3840480" cy="502920"/>
          </a:xfrm>
          <a:prstGeom prst="rect">
            <a:avLst/>
          </a:prstGeom>
          <a:noFill/>
          <a:ln/>
        </p:spPr>
        <p:txBody>
          <a:bodyPr wrap="square" lIns="0" tIns="0" rIns="0" bIns="0" rtlCol="0" anchor="ctr"/>
          <a:lstStyle/>
          <a:p>
            <a:pPr indent="0" marL="0">
              <a:buNone/>
            </a:pPr>
            <a:r>
              <a:rPr lang="en-US" sz="2600" b="1" dirty="0">
                <a:solidFill>
                  <a:srgbClr val="6C4AB6"/>
                </a:solidFill>
                <a:latin typeface="Calibri" pitchFamily="34" charset="0"/>
                <a:ea typeface="Calibri" pitchFamily="34" charset="-122"/>
                <a:cs typeface="Calibri" pitchFamily="34" charset="-120"/>
              </a:rPr>
              <a:t>Trade-off</a:t>
            </a:r>
            <a:endParaRPr lang="en-US" sz="2600" dirty="0"/>
          </a:p>
        </p:txBody>
      </p:sp>
      <p:sp>
        <p:nvSpPr>
          <p:cNvPr id="19" name="Text 16"/>
          <p:cNvSpPr txBox="1"/>
          <p:nvPr/>
        </p:nvSpPr>
        <p:spPr>
          <a:xfrm>
            <a:off x="777240" y="4800600"/>
            <a:ext cx="3840480" cy="594360"/>
          </a:xfrm>
          <a:prstGeom prst="rect">
            <a:avLst/>
          </a:prstGeom>
          <a:noFill/>
          <a:ln/>
        </p:spPr>
        <p:txBody>
          <a:bodyPr wrap="square" lIns="0" tIns="0" rIns="0" bIns="0" rtlCol="0" anchor="t"/>
          <a:lstStyle/>
          <a:p>
            <a:pPr indent="0" marL="0">
              <a:buNone/>
            </a:pPr>
            <a:r>
              <a:rPr lang="en-US" sz="1200" dirty="0">
                <a:solidFill>
                  <a:srgbClr val="5B6B82"/>
                </a:solidFill>
                <a:latin typeface="Calibri" pitchFamily="34" charset="0"/>
                <a:ea typeface="Calibri" pitchFamily="34" charset="-122"/>
                <a:cs typeface="Calibri" pitchFamily="34" charset="-120"/>
              </a:rPr>
              <a:t>Boosting ranks better; Logistic Regression is easier to explain</a:t>
            </a:r>
            <a:endParaRPr lang="en-US" sz="1200" dirty="0"/>
          </a:p>
        </p:txBody>
      </p:sp>
      <p:sp>
        <p:nvSpPr>
          <p:cNvPr id="20" name="card"/>
          <p:cNvSpPr/>
          <p:nvPr/>
        </p:nvSpPr>
        <p:spPr>
          <a:xfrm>
            <a:off x="5029200" y="1325880"/>
            <a:ext cx="6629400" cy="4160520"/>
          </a:xfrm>
          <a:prstGeom prst="roundRect">
            <a:avLst>
              <a:gd name="adj" fmla="val 2637"/>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graphicFrame>
        <p:nvGraphicFramePr>
          <p:cNvPr id="21" name="Chart 0" descr=""/>
          <p:cNvGraphicFramePr/>
          <p:nvPr/>
        </p:nvGraphicFramePr>
        <p:xfrm>
          <a:off x="5120640" y="1417320"/>
          <a:ext cx="6446520" cy="3977640"/>
        </p:xfrm>
        <a:graphic xmlns:a="http://schemas.openxmlformats.org/drawingml/2006/main">
          <a:graphicData uri="http://schemas.openxmlformats.org/drawingml/2006/chart">
            <c:chart xmlns:c="http://schemas.openxmlformats.org/drawingml/2006/chart" r:id="rId3"/>
          </a:graphicData>
        </a:graphic>
      </p:graphicFrame>
      <p:sp>
        <p:nvSpPr>
          <p:cNvPr id="22" name="note"/>
          <p:cNvSpPr/>
          <p:nvPr/>
        </p:nvSpPr>
        <p:spPr>
          <a:xfrm>
            <a:off x="548640" y="5623560"/>
            <a:ext cx="11109960" cy="594360"/>
          </a:xfrm>
          <a:prstGeom prst="roundRect">
            <a:avLst>
              <a:gd name="adj" fmla="val 18462"/>
            </a:avLst>
          </a:prstGeom>
          <a:solidFill>
            <a:srgbClr val="FFF1E0"/>
          </a:solidFill>
          <a:ln w="12700">
            <a:solidFill>
              <a:srgbClr val="F28C28"/>
            </a:solidFill>
            <a:prstDash val="solid"/>
          </a:ln>
        </p:spPr>
      </p:sp>
      <p:sp>
        <p:nvSpPr>
          <p:cNvPr id="23" name="iconCircle"/>
          <p:cNvSpPr/>
          <p:nvPr/>
        </p:nvSpPr>
        <p:spPr>
          <a:xfrm>
            <a:off x="731520" y="5692140"/>
            <a:ext cx="457200" cy="457200"/>
          </a:xfrm>
          <a:prstGeom prst="ellipse">
            <a:avLst/>
          </a:prstGeom>
          <a:solidFill>
            <a:srgbClr val="F28C28"/>
          </a:solidFill>
          <a:ln w="12700">
            <a:solidFill>
              <a:srgbClr val="F28C28"/>
            </a:solidFill>
            <a:prstDash val="solid"/>
          </a:ln>
        </p:spPr>
      </p:sp>
      <p:pic>
        <p:nvPicPr>
          <p:cNvPr id="24" name="Image 0" descr="ExclamationTriangle icon">    </p:cNvPr>
          <p:cNvPicPr>
            <a:picLocks noChangeAspect="1"/>
          </p:cNvPicPr>
          <p:nvPr/>
        </p:nvPicPr>
        <p:blipFill>
          <a:blip r:embed="rId4"/>
          <a:stretch>
            <a:fillRect/>
          </a:stretch>
        </p:blipFill>
        <p:spPr>
          <a:xfrm>
            <a:off x="845820" y="5806440"/>
            <a:ext cx="228600" cy="228600"/>
          </a:xfrm>
          <a:prstGeom prst="rect">
            <a:avLst/>
          </a:prstGeom>
        </p:spPr>
      </p:pic>
      <p:sp>
        <p:nvSpPr>
          <p:cNvPr id="25" name="Text 20"/>
          <p:cNvSpPr txBox="1"/>
          <p:nvPr/>
        </p:nvSpPr>
        <p:spPr>
          <a:xfrm>
            <a:off x="1371600" y="5623560"/>
            <a:ext cx="10104120" cy="594360"/>
          </a:xfrm>
          <a:prstGeom prst="rect">
            <a:avLst/>
          </a:prstGeom>
          <a:noFill/>
          <a:ln/>
        </p:spPr>
        <p:txBody>
          <a:bodyPr wrap="square" lIns="0" tIns="0" rIns="0" bIns="0" rtlCol="0" anchor="ctr"/>
          <a:lstStyle/>
          <a:p>
            <a:pPr indent="0" marL="0">
              <a:buNone/>
            </a:pPr>
            <a:r>
              <a:rPr lang="en-US" sz="1400" b="1" dirty="0">
                <a:solidFill>
                  <a:srgbClr val="0B1F4B"/>
                </a:solidFill>
                <a:latin typeface="Calibri" pitchFamily="34" charset="0"/>
                <a:ea typeface="Calibri" pitchFamily="34" charset="-122"/>
                <a:cs typeface="Calibri" pitchFamily="34" charset="-120"/>
              </a:rPr>
              <a:t>Importance shows what helps prediction. It does not prove cause, and it does not prove fairness.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052560" cy="777240"/>
          </a:xfrm>
          <a:prstGeom prst="rect">
            <a:avLst/>
          </a:prstGeom>
          <a:noFill/>
          <a:ln/>
        </p:spPr>
        <p:txBody>
          <a:bodyPr wrap="square" lIns="0" tIns="0" rIns="0" bIns="0" rtlCol="0" anchor="ctr"/>
          <a:lstStyle/>
          <a:p>
            <a:pPr algn="l" indent="0" marL="0">
              <a:buNone/>
            </a:pPr>
            <a:r>
              <a:rPr lang="en-US" sz="2800" b="1" dirty="0">
                <a:solidFill>
                  <a:srgbClr val="0B1F4B"/>
                </a:solidFill>
                <a:latin typeface="Calibri" pitchFamily="34" charset="0"/>
                <a:ea typeface="Calibri" pitchFamily="34" charset="-122"/>
                <a:cs typeface="Calibri" pitchFamily="34" charset="-120"/>
              </a:rPr>
              <a:t>The Two-Threshold Screening System — Step 5.10</a:t>
            </a:r>
            <a:endParaRPr lang="en-US" sz="2800" dirty="0"/>
          </a:p>
        </p:txBody>
      </p:sp>
      <p:sp>
        <p:nvSpPr>
          <p:cNvPr id="3" name="tag"/>
          <p:cNvSpPr/>
          <p:nvPr/>
        </p:nvSpPr>
        <p:spPr>
          <a:xfrm>
            <a:off x="9738360" y="457200"/>
            <a:ext cx="1920240" cy="365760"/>
          </a:xfrm>
          <a:prstGeom prst="roundRect">
            <a:avLst>
              <a:gd name="adj" fmla="val 50000"/>
            </a:avLst>
          </a:prstGeom>
          <a:solidFill>
            <a:srgbClr val="0B1F4B"/>
          </a:solidFill>
          <a:ln w="12700">
            <a:solidFill>
              <a:srgbClr val="0B1F4B"/>
            </a:solidFill>
            <a:prstDash val="solid"/>
          </a:ln>
        </p:spPr>
      </p:sp>
      <p:sp>
        <p:nvSpPr>
          <p:cNvPr id="4" name="Text 2"/>
          <p:cNvSpPr txBox="1"/>
          <p:nvPr/>
        </p:nvSpPr>
        <p:spPr>
          <a:xfrm>
            <a:off x="9738360" y="457200"/>
            <a:ext cx="1920240"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THRESHOLD DESIGN</a:t>
            </a:r>
            <a:endParaRPr lang="en-US" sz="1000" dirty="0"/>
          </a:p>
        </p:txBody>
      </p:sp>
      <p:sp>
        <p:nvSpPr>
          <p:cNvPr id="5" name="Text 3"/>
          <p:cNvSpPr txBox="1"/>
          <p:nvPr/>
        </p:nvSpPr>
        <p:spPr>
          <a:xfrm>
            <a:off x="8229600" y="6400800"/>
            <a:ext cx="1554480" cy="32004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16 / 20</a:t>
            </a:r>
            <a:endParaRPr lang="en-US" sz="1000" dirty="0"/>
          </a:p>
        </p:txBody>
      </p:sp>
      <p:sp>
        <p:nvSpPr>
          <p:cNvPr id="6" name="navButton"/>
          <p:cNvSpPr/>
          <p:nvPr/>
        </p:nvSpPr>
        <p:spPr>
          <a:xfrm>
            <a:off x="9921240" y="6419088"/>
            <a:ext cx="822960" cy="292608"/>
          </a:xfrm>
          <a:prstGeom prst="roundRect">
            <a:avLst>
              <a:gd name="adj" fmla="val 50000"/>
            </a:avLst>
          </a:prstGeom>
          <a:solidFill>
            <a:srgbClr val="FFFFFF"/>
          </a:solidFill>
          <a:ln w="12700">
            <a:solidFill>
              <a:srgbClr val="C9D3E3"/>
            </a:solidFill>
            <a:prstDash val="solid"/>
          </a:ln>
        </p:spPr>
      </p:sp>
      <p:sp>
        <p:nvSpPr>
          <p:cNvPr id="7" name="Text 5">
            <a:hlinkClick r:id="rId1" tooltip="Previous slide" action="ppaction://hlinksldjump"/>
          </p:cNvPr>
          <p:cNvSpPr txBox="1"/>
          <p:nvPr/>
        </p:nvSpPr>
        <p:spPr>
          <a:xfrm>
            <a:off x="99212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1" action="ppaction://hlinksldjump" tooltip="Previous slide">
                  <a:extLst>
                    <a:ext uri="{A12FA001-AC4F-418D-AE19-62706E023703}">
                      <ahyp:hlinkClr xmlns:ahyp="http://schemas.microsoft.com/office/drawing/2018/hyperlinkcolor" val="tx"/>
                    </a:ext>
                  </a:extLst>
                </a:hlinkClick>
              </a:rPr>
              <a:t>‹ Prev</a:t>
            </a:r>
            <a:endParaRPr lang="en-US" sz="1000" dirty="0"/>
          </a:p>
        </p:txBody>
      </p:sp>
      <p:sp>
        <p:nvSpPr>
          <p:cNvPr id="8" name="navButton"/>
          <p:cNvSpPr/>
          <p:nvPr/>
        </p:nvSpPr>
        <p:spPr>
          <a:xfrm>
            <a:off x="10835640" y="6419088"/>
            <a:ext cx="822960" cy="292608"/>
          </a:xfrm>
          <a:prstGeom prst="roundRect">
            <a:avLst>
              <a:gd name="adj" fmla="val 50000"/>
            </a:avLst>
          </a:prstGeom>
          <a:solidFill>
            <a:srgbClr val="FFFFFF"/>
          </a:solidFill>
          <a:ln w="12700">
            <a:solidFill>
              <a:srgbClr val="C9D3E3"/>
            </a:solidFill>
            <a:prstDash val="solid"/>
          </a:ln>
        </p:spPr>
      </p:sp>
      <p:sp>
        <p:nvSpPr>
          <p:cNvPr id="9" name="Text 7">
            <a:hlinkClick r:id="rId2" tooltip="Next slide" action="ppaction://hlinksldjump"/>
          </p:cNvPr>
          <p:cNvSpPr txBox="1"/>
          <p:nvPr/>
        </p:nvSpPr>
        <p:spPr>
          <a:xfrm>
            <a:off x="108356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2" action="ppaction://hlinksldjump" tooltip="Next slide">
                  <a:extLst>
                    <a:ext uri="{A12FA001-AC4F-418D-AE19-62706E023703}">
                      <ahyp:hlinkClr xmlns:ahyp="http://schemas.microsoft.com/office/drawing/2018/hyperlinkcolor" val="tx"/>
                    </a:ext>
                  </a:extLst>
                </a:hlinkClick>
              </a:rPr>
              <a:t>Next ›</a:t>
            </a:r>
            <a:endParaRPr lang="en-US" sz="1000" dirty="0"/>
          </a:p>
        </p:txBody>
      </p:sp>
      <p:sp>
        <p:nvSpPr>
          <p:cNvPr id="11" name="Text 8"/>
          <p:cNvSpPr txBox="1"/>
          <p:nvPr/>
        </p:nvSpPr>
        <p:spPr>
          <a:xfrm>
            <a:off x="548640" y="1280160"/>
            <a:ext cx="9144000" cy="274320"/>
          </a:xfrm>
          <a:prstGeom prst="rect">
            <a:avLst/>
          </a:prstGeom>
          <a:noFill/>
          <a:ln/>
        </p:spPr>
        <p:txBody>
          <a:bodyPr wrap="square" lIns="0" tIns="0" rIns="0" bIns="0" rtlCol="0" anchor="t"/>
          <a:lstStyle/>
          <a:p>
            <a:pPr indent="0" marL="0">
              <a:buNone/>
            </a:pPr>
            <a:r>
              <a:rPr lang="en-US" sz="1200" dirty="0">
                <a:solidFill>
                  <a:srgbClr val="5B6B82"/>
                </a:solidFill>
                <a:latin typeface="Calibri" pitchFamily="34" charset="0"/>
                <a:ea typeface="Calibri" pitchFamily="34" charset="-122"/>
                <a:cs typeface="Calibri" pitchFamily="34" charset="-120"/>
              </a:rPr>
              <a:t>Predicted probability that the application would be approved (Gradient Boosting)</a:t>
            </a:r>
            <a:endParaRPr lang="en-US" sz="1200" dirty="0"/>
          </a:p>
        </p:txBody>
      </p:sp>
      <p:sp>
        <p:nvSpPr>
          <p:cNvPr id="12" name="scaleBar"/>
          <p:cNvSpPr/>
          <p:nvPr/>
        </p:nvSpPr>
        <p:spPr>
          <a:xfrm>
            <a:off x="548640" y="1600200"/>
            <a:ext cx="1888693" cy="384048"/>
          </a:xfrm>
          <a:prstGeom prst="rect">
            <a:avLst/>
          </a:prstGeom>
          <a:solidFill>
            <a:srgbClr val="D64545"/>
          </a:solidFill>
          <a:ln w="12700">
            <a:solidFill>
              <a:srgbClr val="D64545"/>
            </a:solidFill>
            <a:prstDash val="solid"/>
          </a:ln>
        </p:spPr>
      </p:sp>
      <p:sp>
        <p:nvSpPr>
          <p:cNvPr id="13" name="scaleBar"/>
          <p:cNvSpPr/>
          <p:nvPr/>
        </p:nvSpPr>
        <p:spPr>
          <a:xfrm>
            <a:off x="2437333" y="1600200"/>
            <a:ext cx="7999171" cy="384048"/>
          </a:xfrm>
          <a:prstGeom prst="rect">
            <a:avLst/>
          </a:prstGeom>
          <a:solidFill>
            <a:srgbClr val="F28C28"/>
          </a:solidFill>
          <a:ln w="12700">
            <a:solidFill>
              <a:srgbClr val="F28C28"/>
            </a:solidFill>
            <a:prstDash val="solid"/>
          </a:ln>
        </p:spPr>
      </p:sp>
      <p:sp>
        <p:nvSpPr>
          <p:cNvPr id="14" name="scaleBar"/>
          <p:cNvSpPr/>
          <p:nvPr/>
        </p:nvSpPr>
        <p:spPr>
          <a:xfrm>
            <a:off x="10436504" y="1600200"/>
            <a:ext cx="1222096" cy="384048"/>
          </a:xfrm>
          <a:prstGeom prst="rect">
            <a:avLst/>
          </a:prstGeom>
          <a:solidFill>
            <a:srgbClr val="2E9E5B"/>
          </a:solidFill>
          <a:ln w="12700">
            <a:solidFill>
              <a:srgbClr val="2E9E5B"/>
            </a:solidFill>
            <a:prstDash val="solid"/>
          </a:ln>
        </p:spPr>
      </p:sp>
      <p:sp>
        <p:nvSpPr>
          <p:cNvPr id="15" name="Text 12"/>
          <p:cNvSpPr txBox="1"/>
          <p:nvPr/>
        </p:nvSpPr>
        <p:spPr>
          <a:xfrm>
            <a:off x="548640" y="2011680"/>
            <a:ext cx="731520" cy="274320"/>
          </a:xfrm>
          <a:prstGeom prst="rect">
            <a:avLst/>
          </a:prstGeom>
          <a:noFill/>
          <a:ln/>
        </p:spPr>
        <p:txBody>
          <a:bodyPr wrap="square" lIns="0" tIns="0" rIns="0" bIns="0" rtlCol="0" anchor="t"/>
          <a:lstStyle/>
          <a:p>
            <a:pPr algn="l" indent="0" marL="0">
              <a:buNone/>
            </a:pPr>
            <a:r>
              <a:rPr lang="en-US" sz="1200" b="1" dirty="0">
                <a:solidFill>
                  <a:srgbClr val="0B1F4B"/>
                </a:solidFill>
                <a:latin typeface="Calibri" pitchFamily="34" charset="0"/>
                <a:ea typeface="Calibri" pitchFamily="34" charset="-122"/>
                <a:cs typeface="Calibri" pitchFamily="34" charset="-120"/>
              </a:rPr>
              <a:t>0</a:t>
            </a:r>
            <a:endParaRPr lang="en-US" sz="1200" dirty="0"/>
          </a:p>
        </p:txBody>
      </p:sp>
      <p:sp>
        <p:nvSpPr>
          <p:cNvPr id="16" name="Text 13"/>
          <p:cNvSpPr txBox="1"/>
          <p:nvPr/>
        </p:nvSpPr>
        <p:spPr>
          <a:xfrm>
            <a:off x="2071573" y="2011680"/>
            <a:ext cx="731520" cy="274320"/>
          </a:xfrm>
          <a:prstGeom prst="rect">
            <a:avLst/>
          </a:prstGeom>
          <a:noFill/>
          <a:ln/>
        </p:spPr>
        <p:txBody>
          <a:bodyPr wrap="square" lIns="0" tIns="0" rIns="0" bIns="0" rtlCol="0" anchor="t"/>
          <a:lstStyle/>
          <a:p>
            <a:pPr algn="ctr" indent="0" marL="0">
              <a:buNone/>
            </a:pPr>
            <a:r>
              <a:rPr lang="en-US" sz="1200" b="1" dirty="0">
                <a:solidFill>
                  <a:srgbClr val="0B1F4B"/>
                </a:solidFill>
                <a:latin typeface="Calibri" pitchFamily="34" charset="0"/>
                <a:ea typeface="Calibri" pitchFamily="34" charset="-122"/>
                <a:cs typeface="Calibri" pitchFamily="34" charset="-120"/>
              </a:rPr>
              <a:t>0.17</a:t>
            </a:r>
            <a:endParaRPr lang="en-US" sz="1200" dirty="0"/>
          </a:p>
        </p:txBody>
      </p:sp>
      <p:sp>
        <p:nvSpPr>
          <p:cNvPr id="17" name="Text 14"/>
          <p:cNvSpPr txBox="1"/>
          <p:nvPr/>
        </p:nvSpPr>
        <p:spPr>
          <a:xfrm>
            <a:off x="10070744" y="2011680"/>
            <a:ext cx="731520" cy="274320"/>
          </a:xfrm>
          <a:prstGeom prst="rect">
            <a:avLst/>
          </a:prstGeom>
          <a:noFill/>
          <a:ln/>
        </p:spPr>
        <p:txBody>
          <a:bodyPr wrap="square" lIns="0" tIns="0" rIns="0" bIns="0" rtlCol="0" anchor="t"/>
          <a:lstStyle/>
          <a:p>
            <a:pPr algn="ctr" indent="0" marL="0">
              <a:buNone/>
            </a:pPr>
            <a:r>
              <a:rPr lang="en-US" sz="1200" b="1" dirty="0">
                <a:solidFill>
                  <a:srgbClr val="0B1F4B"/>
                </a:solidFill>
                <a:latin typeface="Calibri" pitchFamily="34" charset="0"/>
                <a:ea typeface="Calibri" pitchFamily="34" charset="-122"/>
                <a:cs typeface="Calibri" pitchFamily="34" charset="-120"/>
              </a:rPr>
              <a:t>0.89</a:t>
            </a:r>
            <a:endParaRPr lang="en-US" sz="1200" dirty="0"/>
          </a:p>
        </p:txBody>
      </p:sp>
      <p:sp>
        <p:nvSpPr>
          <p:cNvPr id="18" name="Text 15"/>
          <p:cNvSpPr txBox="1"/>
          <p:nvPr/>
        </p:nvSpPr>
        <p:spPr>
          <a:xfrm>
            <a:off x="10927080" y="2011680"/>
            <a:ext cx="731520" cy="274320"/>
          </a:xfrm>
          <a:prstGeom prst="rect">
            <a:avLst/>
          </a:prstGeom>
          <a:noFill/>
          <a:ln/>
        </p:spPr>
        <p:txBody>
          <a:bodyPr wrap="square" lIns="0" tIns="0" rIns="0" bIns="0" rtlCol="0" anchor="t"/>
          <a:lstStyle/>
          <a:p>
            <a:pPr algn="r" indent="0" marL="0">
              <a:buNone/>
            </a:pPr>
            <a:r>
              <a:rPr lang="en-US" sz="1200" b="1" dirty="0">
                <a:solidFill>
                  <a:srgbClr val="0B1F4B"/>
                </a:solidFill>
                <a:latin typeface="Calibri" pitchFamily="34" charset="0"/>
                <a:ea typeface="Calibri" pitchFamily="34" charset="-122"/>
                <a:cs typeface="Calibri" pitchFamily="34" charset="-120"/>
              </a:rPr>
              <a:t>1.0</a:t>
            </a:r>
            <a:endParaRPr lang="en-US" sz="1200" dirty="0"/>
          </a:p>
        </p:txBody>
      </p:sp>
      <p:sp>
        <p:nvSpPr>
          <p:cNvPr id="19" name="card"/>
          <p:cNvSpPr/>
          <p:nvPr/>
        </p:nvSpPr>
        <p:spPr>
          <a:xfrm>
            <a:off x="548640" y="2423160"/>
            <a:ext cx="3611880" cy="2148840"/>
          </a:xfrm>
          <a:prstGeom prst="roundRect">
            <a:avLst>
              <a:gd name="adj" fmla="val 5106"/>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20" name="iconCircle"/>
          <p:cNvSpPr/>
          <p:nvPr/>
        </p:nvSpPr>
        <p:spPr>
          <a:xfrm>
            <a:off x="731520" y="2560320"/>
            <a:ext cx="457200" cy="457200"/>
          </a:xfrm>
          <a:prstGeom prst="ellipse">
            <a:avLst/>
          </a:prstGeom>
          <a:solidFill>
            <a:srgbClr val="D64545"/>
          </a:solidFill>
          <a:ln w="12700">
            <a:solidFill>
              <a:srgbClr val="D64545"/>
            </a:solidFill>
            <a:prstDash val="solid"/>
          </a:ln>
        </p:spPr>
      </p:sp>
      <p:pic>
        <p:nvPicPr>
          <p:cNvPr id="21" name="Image 0" descr="TimesCircle icon">    </p:cNvPr>
          <p:cNvPicPr>
            <a:picLocks noChangeAspect="1"/>
          </p:cNvPicPr>
          <p:nvPr/>
        </p:nvPicPr>
        <p:blipFill>
          <a:blip r:embed="rId3"/>
          <a:stretch>
            <a:fillRect/>
          </a:stretch>
        </p:blipFill>
        <p:spPr>
          <a:xfrm>
            <a:off x="845820" y="2674620"/>
            <a:ext cx="228600" cy="228600"/>
          </a:xfrm>
          <a:prstGeom prst="rect">
            <a:avLst/>
          </a:prstGeom>
        </p:spPr>
      </p:pic>
      <p:sp>
        <p:nvSpPr>
          <p:cNvPr id="22" name="Text 18"/>
          <p:cNvSpPr txBox="1"/>
          <p:nvPr/>
        </p:nvSpPr>
        <p:spPr>
          <a:xfrm>
            <a:off x="1325880" y="2560320"/>
            <a:ext cx="2743200" cy="457200"/>
          </a:xfrm>
          <a:prstGeom prst="rect">
            <a:avLst/>
          </a:prstGeom>
          <a:noFill/>
          <a:ln/>
        </p:spPr>
        <p:txBody>
          <a:bodyPr wrap="square" lIns="0" tIns="0" rIns="0" bIns="0" rtlCol="0" anchor="ctr"/>
          <a:lstStyle/>
          <a:p>
            <a:pPr indent="0" marL="0">
              <a:buNone/>
            </a:pPr>
            <a:r>
              <a:rPr lang="en-US" sz="1700" b="1" dirty="0">
                <a:solidFill>
                  <a:srgbClr val="0B1F4B"/>
                </a:solidFill>
                <a:latin typeface="Calibri" pitchFamily="34" charset="0"/>
                <a:ea typeface="Calibri" pitchFamily="34" charset="-122"/>
                <a:cs typeface="Calibri" pitchFamily="34" charset="-120"/>
              </a:rPr>
              <a:t>Auto-decline</a:t>
            </a:r>
            <a:endParaRPr lang="en-US" sz="1700" dirty="0"/>
          </a:p>
        </p:txBody>
      </p:sp>
      <p:sp>
        <p:nvSpPr>
          <p:cNvPr id="23" name="Text 19"/>
          <p:cNvSpPr txBox="1"/>
          <p:nvPr/>
        </p:nvSpPr>
        <p:spPr>
          <a:xfrm>
            <a:off x="731520" y="3108960"/>
            <a:ext cx="3246120" cy="320040"/>
          </a:xfrm>
          <a:prstGeom prst="rect">
            <a:avLst/>
          </a:prstGeom>
          <a:noFill/>
          <a:ln/>
        </p:spPr>
        <p:txBody>
          <a:bodyPr wrap="square" lIns="0" tIns="0" rIns="0" bIns="0" rtlCol="0" anchor="t"/>
          <a:lstStyle/>
          <a:p>
            <a:pPr indent="0" marL="0">
              <a:buNone/>
            </a:pPr>
            <a:r>
              <a:rPr lang="en-US" sz="1300" b="1" dirty="0">
                <a:solidFill>
                  <a:srgbClr val="D64545"/>
                </a:solidFill>
                <a:latin typeface="Calibri" pitchFamily="34" charset="0"/>
                <a:ea typeface="Calibri" pitchFamily="34" charset="-122"/>
                <a:cs typeface="Calibri" pitchFamily="34" charset="-120"/>
              </a:rPr>
              <a:t>Approval probability below 0.17</a:t>
            </a:r>
            <a:endParaRPr lang="en-US" sz="1300" dirty="0"/>
          </a:p>
        </p:txBody>
      </p:sp>
      <p:sp>
        <p:nvSpPr>
          <p:cNvPr id="24" name="Text 20"/>
          <p:cNvSpPr txBox="1"/>
          <p:nvPr/>
        </p:nvSpPr>
        <p:spPr>
          <a:xfrm>
            <a:off x="731520" y="3456432"/>
            <a:ext cx="3246120" cy="640080"/>
          </a:xfrm>
          <a:prstGeom prst="rect">
            <a:avLst/>
          </a:prstGeom>
          <a:noFill/>
          <a:ln/>
        </p:spPr>
        <p:txBody>
          <a:bodyPr wrap="square" lIns="0" tIns="0" rIns="0" bIns="0" rtlCol="0" anchor="t"/>
          <a:lstStyle/>
          <a:p>
            <a:pPr indent="0" marL="0">
              <a:buNone/>
            </a:pPr>
            <a:r>
              <a:rPr lang="en-US" sz="1200" dirty="0">
                <a:solidFill>
                  <a:srgbClr val="5B6B82"/>
                </a:solidFill>
                <a:latin typeface="Calibri" pitchFamily="34" charset="0"/>
                <a:ea typeface="Calibri" pitchFamily="34" charset="-122"/>
                <a:cs typeface="Calibri" pitchFamily="34" charset="-120"/>
              </a:rPr>
              <a:t>4.59% of auto-declines were historically Approved (limit 5%)</a:t>
            </a:r>
            <a:endParaRPr lang="en-US" sz="1200" dirty="0"/>
          </a:p>
        </p:txBody>
      </p:sp>
      <p:sp>
        <p:nvSpPr>
          <p:cNvPr id="25" name="Text 21"/>
          <p:cNvSpPr txBox="1"/>
          <p:nvPr/>
        </p:nvSpPr>
        <p:spPr>
          <a:xfrm>
            <a:off x="731520" y="4114800"/>
            <a:ext cx="3246120" cy="365760"/>
          </a:xfrm>
          <a:prstGeom prst="rect">
            <a:avLst/>
          </a:prstGeom>
          <a:noFill/>
          <a:ln/>
        </p:spPr>
        <p:txBody>
          <a:bodyPr wrap="square" lIns="0" tIns="0" rIns="0" bIns="0" rtlCol="0" anchor="t"/>
          <a:lstStyle/>
          <a:p>
            <a:pPr indent="0" marL="0">
              <a:buNone/>
            </a:pPr>
            <a:r>
              <a:rPr lang="en-US" sz="1500" b="1" dirty="0">
                <a:solidFill>
                  <a:srgbClr val="D64545"/>
                </a:solidFill>
                <a:latin typeface="Calibri" pitchFamily="34" charset="0"/>
                <a:ea typeface="Calibri" pitchFamily="34" charset="-122"/>
                <a:cs typeface="Calibri" pitchFamily="34" charset="-120"/>
              </a:rPr>
              <a:t>24.5% of applications</a:t>
            </a:r>
            <a:endParaRPr lang="en-US" sz="1500" dirty="0"/>
          </a:p>
        </p:txBody>
      </p:sp>
      <p:sp>
        <p:nvSpPr>
          <p:cNvPr id="26" name="card"/>
          <p:cNvSpPr/>
          <p:nvPr/>
        </p:nvSpPr>
        <p:spPr>
          <a:xfrm>
            <a:off x="4297680" y="2423160"/>
            <a:ext cx="3611880" cy="2148840"/>
          </a:xfrm>
          <a:prstGeom prst="roundRect">
            <a:avLst>
              <a:gd name="adj" fmla="val 5106"/>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27" name="iconCircle"/>
          <p:cNvSpPr/>
          <p:nvPr/>
        </p:nvSpPr>
        <p:spPr>
          <a:xfrm>
            <a:off x="4480560" y="2560320"/>
            <a:ext cx="457200" cy="457200"/>
          </a:xfrm>
          <a:prstGeom prst="ellipse">
            <a:avLst/>
          </a:prstGeom>
          <a:solidFill>
            <a:srgbClr val="F28C28"/>
          </a:solidFill>
          <a:ln w="12700">
            <a:solidFill>
              <a:srgbClr val="F28C28"/>
            </a:solidFill>
            <a:prstDash val="solid"/>
          </a:ln>
        </p:spPr>
      </p:sp>
      <p:pic>
        <p:nvPicPr>
          <p:cNvPr id="28" name="Image 1" descr="UserCheck icon">    </p:cNvPr>
          <p:cNvPicPr>
            <a:picLocks noChangeAspect="1"/>
          </p:cNvPicPr>
          <p:nvPr/>
        </p:nvPicPr>
        <p:blipFill>
          <a:blip r:embed="rId4"/>
          <a:stretch>
            <a:fillRect/>
          </a:stretch>
        </p:blipFill>
        <p:spPr>
          <a:xfrm>
            <a:off x="4594860" y="2674620"/>
            <a:ext cx="228600" cy="228600"/>
          </a:xfrm>
          <a:prstGeom prst="rect">
            <a:avLst/>
          </a:prstGeom>
        </p:spPr>
      </p:pic>
      <p:sp>
        <p:nvSpPr>
          <p:cNvPr id="29" name="Text 24"/>
          <p:cNvSpPr txBox="1"/>
          <p:nvPr/>
        </p:nvSpPr>
        <p:spPr>
          <a:xfrm>
            <a:off x="5074920" y="2560320"/>
            <a:ext cx="2743200" cy="457200"/>
          </a:xfrm>
          <a:prstGeom prst="rect">
            <a:avLst/>
          </a:prstGeom>
          <a:noFill/>
          <a:ln/>
        </p:spPr>
        <p:txBody>
          <a:bodyPr wrap="square" lIns="0" tIns="0" rIns="0" bIns="0" rtlCol="0" anchor="ctr"/>
          <a:lstStyle/>
          <a:p>
            <a:pPr indent="0" marL="0">
              <a:buNone/>
            </a:pPr>
            <a:r>
              <a:rPr lang="en-US" sz="1700" b="1" dirty="0">
                <a:solidFill>
                  <a:srgbClr val="0B1F4B"/>
                </a:solidFill>
                <a:latin typeface="Calibri" pitchFamily="34" charset="0"/>
                <a:ea typeface="Calibri" pitchFamily="34" charset="-122"/>
                <a:cs typeface="Calibri" pitchFamily="34" charset="-120"/>
              </a:rPr>
              <a:t>Analyst review</a:t>
            </a:r>
            <a:endParaRPr lang="en-US" sz="1700" dirty="0"/>
          </a:p>
        </p:txBody>
      </p:sp>
      <p:sp>
        <p:nvSpPr>
          <p:cNvPr id="30" name="Text 25"/>
          <p:cNvSpPr txBox="1"/>
          <p:nvPr/>
        </p:nvSpPr>
        <p:spPr>
          <a:xfrm>
            <a:off x="4480560" y="3108960"/>
            <a:ext cx="3246120" cy="320040"/>
          </a:xfrm>
          <a:prstGeom prst="rect">
            <a:avLst/>
          </a:prstGeom>
          <a:noFill/>
          <a:ln/>
        </p:spPr>
        <p:txBody>
          <a:bodyPr wrap="square" lIns="0" tIns="0" rIns="0" bIns="0" rtlCol="0" anchor="t"/>
          <a:lstStyle/>
          <a:p>
            <a:pPr indent="0" marL="0">
              <a:buNone/>
            </a:pPr>
            <a:r>
              <a:rPr lang="en-US" sz="1300" b="1" dirty="0">
                <a:solidFill>
                  <a:srgbClr val="F28C28"/>
                </a:solidFill>
                <a:latin typeface="Calibri" pitchFamily="34" charset="0"/>
                <a:ea typeface="Calibri" pitchFamily="34" charset="-122"/>
                <a:cs typeface="Calibri" pitchFamily="34" charset="-120"/>
              </a:rPr>
              <a:t>Everything in between</a:t>
            </a:r>
            <a:endParaRPr lang="en-US" sz="1300" dirty="0"/>
          </a:p>
        </p:txBody>
      </p:sp>
      <p:sp>
        <p:nvSpPr>
          <p:cNvPr id="31" name="Text 26"/>
          <p:cNvSpPr txBox="1"/>
          <p:nvPr/>
        </p:nvSpPr>
        <p:spPr>
          <a:xfrm>
            <a:off x="4480560" y="3456432"/>
            <a:ext cx="3246120" cy="640080"/>
          </a:xfrm>
          <a:prstGeom prst="rect">
            <a:avLst/>
          </a:prstGeom>
          <a:noFill/>
          <a:ln/>
        </p:spPr>
        <p:txBody>
          <a:bodyPr wrap="square" lIns="0" tIns="0" rIns="0" bIns="0" rtlCol="0" anchor="t"/>
          <a:lstStyle/>
          <a:p>
            <a:pPr indent="0" marL="0">
              <a:buNone/>
            </a:pPr>
            <a:r>
              <a:rPr lang="en-US" sz="1200" dirty="0">
                <a:solidFill>
                  <a:srgbClr val="5B6B82"/>
                </a:solidFill>
                <a:latin typeface="Calibri" pitchFamily="34" charset="0"/>
                <a:ea typeface="Calibri" pitchFamily="34" charset="-122"/>
                <a:cs typeface="Calibri" pitchFamily="34" charset="-120"/>
              </a:rPr>
              <a:t>Uncertain cases need human judgement</a:t>
            </a:r>
            <a:endParaRPr lang="en-US" sz="1200" dirty="0"/>
          </a:p>
        </p:txBody>
      </p:sp>
      <p:sp>
        <p:nvSpPr>
          <p:cNvPr id="32" name="Text 27"/>
          <p:cNvSpPr txBox="1"/>
          <p:nvPr/>
        </p:nvSpPr>
        <p:spPr>
          <a:xfrm>
            <a:off x="4480560" y="4114800"/>
            <a:ext cx="3246120" cy="365760"/>
          </a:xfrm>
          <a:prstGeom prst="rect">
            <a:avLst/>
          </a:prstGeom>
          <a:noFill/>
          <a:ln/>
        </p:spPr>
        <p:txBody>
          <a:bodyPr wrap="square" lIns="0" tIns="0" rIns="0" bIns="0" rtlCol="0" anchor="t"/>
          <a:lstStyle/>
          <a:p>
            <a:pPr indent="0" marL="0">
              <a:buNone/>
            </a:pPr>
            <a:r>
              <a:rPr lang="en-US" sz="1500" b="1" dirty="0">
                <a:solidFill>
                  <a:srgbClr val="F28C28"/>
                </a:solidFill>
                <a:latin typeface="Calibri" pitchFamily="34" charset="0"/>
                <a:ea typeface="Calibri" pitchFamily="34" charset="-122"/>
                <a:cs typeface="Calibri" pitchFamily="34" charset="-120"/>
              </a:rPr>
              <a:t>56.5% of applications</a:t>
            </a:r>
            <a:endParaRPr lang="en-US" sz="1500" dirty="0"/>
          </a:p>
        </p:txBody>
      </p:sp>
      <p:sp>
        <p:nvSpPr>
          <p:cNvPr id="33" name="card"/>
          <p:cNvSpPr/>
          <p:nvPr/>
        </p:nvSpPr>
        <p:spPr>
          <a:xfrm>
            <a:off x="8046720" y="2423160"/>
            <a:ext cx="3611880" cy="2148840"/>
          </a:xfrm>
          <a:prstGeom prst="roundRect">
            <a:avLst>
              <a:gd name="adj" fmla="val 5106"/>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34" name="iconCircle"/>
          <p:cNvSpPr/>
          <p:nvPr/>
        </p:nvSpPr>
        <p:spPr>
          <a:xfrm>
            <a:off x="8229600" y="2560320"/>
            <a:ext cx="457200" cy="457200"/>
          </a:xfrm>
          <a:prstGeom prst="ellipse">
            <a:avLst/>
          </a:prstGeom>
          <a:solidFill>
            <a:srgbClr val="2E9E5B"/>
          </a:solidFill>
          <a:ln w="12700">
            <a:solidFill>
              <a:srgbClr val="2E9E5B"/>
            </a:solidFill>
            <a:prstDash val="solid"/>
          </a:ln>
        </p:spPr>
      </p:sp>
      <p:pic>
        <p:nvPicPr>
          <p:cNvPr id="35" name="Image 2" descr="Rocket icon">    </p:cNvPr>
          <p:cNvPicPr>
            <a:picLocks noChangeAspect="1"/>
          </p:cNvPicPr>
          <p:nvPr/>
        </p:nvPicPr>
        <p:blipFill>
          <a:blip r:embed="rId5"/>
          <a:stretch>
            <a:fillRect/>
          </a:stretch>
        </p:blipFill>
        <p:spPr>
          <a:xfrm>
            <a:off x="8343900" y="2674620"/>
            <a:ext cx="228600" cy="228600"/>
          </a:xfrm>
          <a:prstGeom prst="rect">
            <a:avLst/>
          </a:prstGeom>
        </p:spPr>
      </p:pic>
      <p:sp>
        <p:nvSpPr>
          <p:cNvPr id="36" name="Text 30"/>
          <p:cNvSpPr txBox="1"/>
          <p:nvPr/>
        </p:nvSpPr>
        <p:spPr>
          <a:xfrm>
            <a:off x="8823960" y="2560320"/>
            <a:ext cx="2743200" cy="457200"/>
          </a:xfrm>
          <a:prstGeom prst="rect">
            <a:avLst/>
          </a:prstGeom>
          <a:noFill/>
          <a:ln/>
        </p:spPr>
        <p:txBody>
          <a:bodyPr wrap="square" lIns="0" tIns="0" rIns="0" bIns="0" rtlCol="0" anchor="ctr"/>
          <a:lstStyle/>
          <a:p>
            <a:pPr indent="0" marL="0">
              <a:buNone/>
            </a:pPr>
            <a:r>
              <a:rPr lang="en-US" sz="1700" b="1" dirty="0">
                <a:solidFill>
                  <a:srgbClr val="0B1F4B"/>
                </a:solidFill>
                <a:latin typeface="Calibri" pitchFamily="34" charset="0"/>
                <a:ea typeface="Calibri" pitchFamily="34" charset="-122"/>
                <a:cs typeface="Calibri" pitchFamily="34" charset="-120"/>
              </a:rPr>
              <a:t>Fast-track</a:t>
            </a:r>
            <a:endParaRPr lang="en-US" sz="1700" dirty="0"/>
          </a:p>
        </p:txBody>
      </p:sp>
      <p:sp>
        <p:nvSpPr>
          <p:cNvPr id="37" name="Text 31"/>
          <p:cNvSpPr txBox="1"/>
          <p:nvPr/>
        </p:nvSpPr>
        <p:spPr>
          <a:xfrm>
            <a:off x="8229600" y="3108960"/>
            <a:ext cx="3246120" cy="320040"/>
          </a:xfrm>
          <a:prstGeom prst="rect">
            <a:avLst/>
          </a:prstGeom>
          <a:noFill/>
          <a:ln/>
        </p:spPr>
        <p:txBody>
          <a:bodyPr wrap="square" lIns="0" tIns="0" rIns="0" bIns="0" rtlCol="0" anchor="t"/>
          <a:lstStyle/>
          <a:p>
            <a:pPr indent="0" marL="0">
              <a:buNone/>
            </a:pPr>
            <a:r>
              <a:rPr lang="en-US" sz="1300" b="1" dirty="0">
                <a:solidFill>
                  <a:srgbClr val="2E9E5B"/>
                </a:solidFill>
                <a:latin typeface="Calibri" pitchFamily="34" charset="0"/>
                <a:ea typeface="Calibri" pitchFamily="34" charset="-122"/>
                <a:cs typeface="Calibri" pitchFamily="34" charset="-120"/>
              </a:rPr>
              <a:t>Approval probability 0.89 or above</a:t>
            </a:r>
            <a:endParaRPr lang="en-US" sz="1300" dirty="0"/>
          </a:p>
        </p:txBody>
      </p:sp>
      <p:sp>
        <p:nvSpPr>
          <p:cNvPr id="38" name="Text 32"/>
          <p:cNvSpPr txBox="1"/>
          <p:nvPr/>
        </p:nvSpPr>
        <p:spPr>
          <a:xfrm>
            <a:off x="8229600" y="3456432"/>
            <a:ext cx="3246120" cy="640080"/>
          </a:xfrm>
          <a:prstGeom prst="rect">
            <a:avLst/>
          </a:prstGeom>
          <a:noFill/>
          <a:ln/>
        </p:spPr>
        <p:txBody>
          <a:bodyPr wrap="square" lIns="0" tIns="0" rIns="0" bIns="0" rtlCol="0" anchor="t"/>
          <a:lstStyle/>
          <a:p>
            <a:pPr indent="0" marL="0">
              <a:buNone/>
            </a:pPr>
            <a:r>
              <a:rPr lang="en-US" sz="1200" dirty="0">
                <a:solidFill>
                  <a:srgbClr val="5B6B82"/>
                </a:solidFill>
                <a:latin typeface="Calibri" pitchFamily="34" charset="0"/>
                <a:ea typeface="Calibri" pitchFamily="34" charset="-122"/>
                <a:cs typeface="Calibri" pitchFamily="34" charset="-120"/>
              </a:rPr>
              <a:t>4.61% were historically Declined (limit 5%); light-touch check required</a:t>
            </a:r>
            <a:endParaRPr lang="en-US" sz="1200" dirty="0"/>
          </a:p>
        </p:txBody>
      </p:sp>
      <p:sp>
        <p:nvSpPr>
          <p:cNvPr id="39" name="Text 33"/>
          <p:cNvSpPr txBox="1"/>
          <p:nvPr/>
        </p:nvSpPr>
        <p:spPr>
          <a:xfrm>
            <a:off x="8229600" y="4114800"/>
            <a:ext cx="3246120" cy="365760"/>
          </a:xfrm>
          <a:prstGeom prst="rect">
            <a:avLst/>
          </a:prstGeom>
          <a:noFill/>
          <a:ln/>
        </p:spPr>
        <p:txBody>
          <a:bodyPr wrap="square" lIns="0" tIns="0" rIns="0" bIns="0" rtlCol="0" anchor="t"/>
          <a:lstStyle/>
          <a:p>
            <a:pPr indent="0" marL="0">
              <a:buNone/>
            </a:pPr>
            <a:r>
              <a:rPr lang="en-US" sz="1500" b="1" dirty="0">
                <a:solidFill>
                  <a:srgbClr val="2E9E5B"/>
                </a:solidFill>
                <a:latin typeface="Calibri" pitchFamily="34" charset="0"/>
                <a:ea typeface="Calibri" pitchFamily="34" charset="-122"/>
                <a:cs typeface="Calibri" pitchFamily="34" charset="-120"/>
              </a:rPr>
              <a:t>19.0% of applications</a:t>
            </a:r>
            <a:endParaRPr lang="en-US" sz="1500" dirty="0"/>
          </a:p>
        </p:txBody>
      </p:sp>
      <p:sp>
        <p:nvSpPr>
          <p:cNvPr id="40" name="card"/>
          <p:cNvSpPr/>
          <p:nvPr/>
        </p:nvSpPr>
        <p:spPr>
          <a:xfrm>
            <a:off x="548640" y="4709160"/>
            <a:ext cx="11109960" cy="1097280"/>
          </a:xfrm>
          <a:prstGeom prst="roundRect">
            <a:avLst>
              <a:gd name="adj" fmla="val 10000"/>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5800" y="4773168"/>
          <a:ext cx="10835640" cy="914400"/>
        </p:xfrm>
        <a:graphic>
          <a:graphicData uri="http://schemas.openxmlformats.org/drawingml/2006/table">
            <a:tbl>
              <a:tblPr/>
              <a:tblGrid>
                <a:gridCol w="2011680"/>
                <a:gridCol w="2194560"/>
                <a:gridCol w="2194560"/>
                <a:gridCol w="2331720"/>
                <a:gridCol w="2103120"/>
              </a:tblGrid>
              <a:tr h="3657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0B1F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Auto-decline if P(approval) &lt;</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0B1F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Fast-track if P(approval) ≥</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0B1F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Lanes: Decline / Review / Fast</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0B1F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Error: decline / fast lane</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0B1F4B"/>
                    </a:solidFill>
                  </a:tcPr>
                </a:tc>
              </a:tr>
              <a:tr h="301752">
                <a:tc>
                  <a:txBody>
                    <a:bodyPr/>
                    <a:lstStyle/>
                    <a:p>
                      <a:pPr algn="l" indent="0" marL="0">
                        <a:buNone/>
                      </a:pPr>
                      <a:r>
                        <a:rPr lang="en-US" sz="1200" dirty="0">
                          <a:solidFill>
                            <a:srgbClr val="1F2A44"/>
                          </a:solidFill>
                          <a:latin typeface="Calibri" pitchFamily="34" charset="0"/>
                          <a:ea typeface="Calibri" pitchFamily="34" charset="-122"/>
                          <a:cs typeface="Calibri" pitchFamily="34" charset="-120"/>
                        </a:rPr>
                        <a:t>Logistic Regression</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0.10</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0.90</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14.6% / 70.0% / 15.4%</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4.27% / 4.05%</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301752">
                <a:tc>
                  <a:txBody>
                    <a:bodyPr/>
                    <a:lstStyle/>
                    <a:p>
                      <a:pPr algn="l" indent="0" marL="0">
                        <a:buNone/>
                      </a:pPr>
                      <a:r>
                        <a:rPr lang="en-US" sz="1200" b="1" dirty="0">
                          <a:solidFill>
                            <a:srgbClr val="1F2A44"/>
                          </a:solidFill>
                          <a:latin typeface="Calibri" pitchFamily="34" charset="0"/>
                          <a:ea typeface="Calibri" pitchFamily="34" charset="-122"/>
                          <a:cs typeface="Calibri" pitchFamily="34" charset="-120"/>
                        </a:rPr>
                        <a:t>Gradient Boosting</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3F4EA"/>
                    </a:solidFill>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0.17</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3F4EA"/>
                    </a:solidFill>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0.89</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3F4EA"/>
                    </a:solidFill>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24.5% / 56.5% / 19.0%</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3F4EA"/>
                    </a:solidFill>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4.59% / 4.61%</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3F4EA"/>
                    </a:solidFill>
                  </a:tcPr>
                </a:tc>
              </a:tr>
            </a:tbl>
          </a:graphicData>
        </a:graphic>
      </p:graphicFrame>
      <p:sp>
        <p:nvSpPr>
          <p:cNvPr id="42" name="Text 35"/>
          <p:cNvSpPr txBox="1"/>
          <p:nvPr/>
        </p:nvSpPr>
        <p:spPr>
          <a:xfrm>
            <a:off x="548640" y="5943600"/>
            <a:ext cx="11109960" cy="320040"/>
          </a:xfrm>
          <a:prstGeom prst="rect">
            <a:avLst/>
          </a:prstGeom>
          <a:noFill/>
          <a:ln/>
        </p:spPr>
        <p:txBody>
          <a:bodyPr wrap="square" lIns="0" tIns="0" rIns="0" bIns="0" rtlCol="0" anchor="t"/>
          <a:lstStyle/>
          <a:p>
            <a:pPr algn="ctr" indent="0" marL="0">
              <a:buNone/>
            </a:pPr>
            <a:r>
              <a:rPr lang="en-US" sz="1200" dirty="0">
                <a:solidFill>
                  <a:srgbClr val="5B6B82"/>
                </a:solidFill>
                <a:latin typeface="Calibri" pitchFamily="34" charset="0"/>
                <a:ea typeface="Calibri" pitchFamily="34" charset="-122"/>
                <a:cs typeface="Calibri" pitchFamily="34" charset="-120"/>
              </a:rPr>
              <a:t>Both 5% limits are met by both models (test set, 2,400 applications). Thresholds are not guaranteed for future data.</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052560" cy="777240"/>
          </a:xfrm>
          <a:prstGeom prst="rect">
            <a:avLst/>
          </a:prstGeom>
          <a:noFill/>
          <a:ln/>
        </p:spPr>
        <p:txBody>
          <a:bodyPr wrap="square" lIns="0" tIns="0" rIns="0" bIns="0" rtlCol="0" anchor="ctr"/>
          <a:lstStyle/>
          <a:p>
            <a:pPr algn="l" indent="0" marL="0">
              <a:buNone/>
            </a:pPr>
            <a:r>
              <a:rPr lang="en-US" sz="2800" b="1" dirty="0">
                <a:solidFill>
                  <a:srgbClr val="0B1F4B"/>
                </a:solidFill>
                <a:latin typeface="Calibri" pitchFamily="34" charset="0"/>
                <a:ea typeface="Calibri" pitchFamily="34" charset="-122"/>
                <a:cs typeface="Calibri" pitchFamily="34" charset="-120"/>
              </a:rPr>
              <a:t>Business Impact: Gradient Boosting vs Logistic Regression</a:t>
            </a:r>
            <a:endParaRPr lang="en-US" sz="2800" dirty="0"/>
          </a:p>
        </p:txBody>
      </p:sp>
      <p:sp>
        <p:nvSpPr>
          <p:cNvPr id="3" name="tag"/>
          <p:cNvSpPr/>
          <p:nvPr/>
        </p:nvSpPr>
        <p:spPr>
          <a:xfrm>
            <a:off x="9738360" y="457200"/>
            <a:ext cx="1920240" cy="365760"/>
          </a:xfrm>
          <a:prstGeom prst="roundRect">
            <a:avLst>
              <a:gd name="adj" fmla="val 50000"/>
            </a:avLst>
          </a:prstGeom>
          <a:solidFill>
            <a:srgbClr val="F28C28"/>
          </a:solidFill>
          <a:ln w="12700">
            <a:solidFill>
              <a:srgbClr val="F28C28"/>
            </a:solidFill>
            <a:prstDash val="solid"/>
          </a:ln>
        </p:spPr>
      </p:sp>
      <p:sp>
        <p:nvSpPr>
          <p:cNvPr id="4" name="Text 2"/>
          <p:cNvSpPr txBox="1"/>
          <p:nvPr/>
        </p:nvSpPr>
        <p:spPr>
          <a:xfrm>
            <a:off x="9738360" y="457200"/>
            <a:ext cx="1920240"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BUSINESS IMPACT</a:t>
            </a:r>
            <a:endParaRPr lang="en-US" sz="1000" dirty="0"/>
          </a:p>
        </p:txBody>
      </p:sp>
      <p:sp>
        <p:nvSpPr>
          <p:cNvPr id="5" name="Text 3"/>
          <p:cNvSpPr txBox="1"/>
          <p:nvPr/>
        </p:nvSpPr>
        <p:spPr>
          <a:xfrm>
            <a:off x="8229600" y="6400800"/>
            <a:ext cx="1554480" cy="32004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17 / 20</a:t>
            </a:r>
            <a:endParaRPr lang="en-US" sz="1000" dirty="0"/>
          </a:p>
        </p:txBody>
      </p:sp>
      <p:sp>
        <p:nvSpPr>
          <p:cNvPr id="6" name="navButton"/>
          <p:cNvSpPr/>
          <p:nvPr/>
        </p:nvSpPr>
        <p:spPr>
          <a:xfrm>
            <a:off x="9921240" y="6419088"/>
            <a:ext cx="822960" cy="292608"/>
          </a:xfrm>
          <a:prstGeom prst="roundRect">
            <a:avLst>
              <a:gd name="adj" fmla="val 50000"/>
            </a:avLst>
          </a:prstGeom>
          <a:solidFill>
            <a:srgbClr val="FFFFFF"/>
          </a:solidFill>
          <a:ln w="12700">
            <a:solidFill>
              <a:srgbClr val="C9D3E3"/>
            </a:solidFill>
            <a:prstDash val="solid"/>
          </a:ln>
        </p:spPr>
      </p:sp>
      <p:sp>
        <p:nvSpPr>
          <p:cNvPr id="7" name="Text 5">
            <a:hlinkClick r:id="rId1" tooltip="Previous slide" action="ppaction://hlinksldjump"/>
          </p:cNvPr>
          <p:cNvSpPr txBox="1"/>
          <p:nvPr/>
        </p:nvSpPr>
        <p:spPr>
          <a:xfrm>
            <a:off x="99212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1" action="ppaction://hlinksldjump" tooltip="Previous slide">
                  <a:extLst>
                    <a:ext uri="{A12FA001-AC4F-418D-AE19-62706E023703}">
                      <ahyp:hlinkClr xmlns:ahyp="http://schemas.microsoft.com/office/drawing/2018/hyperlinkcolor" val="tx"/>
                    </a:ext>
                  </a:extLst>
                </a:hlinkClick>
              </a:rPr>
              <a:t>‹ Prev</a:t>
            </a:r>
            <a:endParaRPr lang="en-US" sz="1000" dirty="0"/>
          </a:p>
        </p:txBody>
      </p:sp>
      <p:sp>
        <p:nvSpPr>
          <p:cNvPr id="8" name="navButton"/>
          <p:cNvSpPr/>
          <p:nvPr/>
        </p:nvSpPr>
        <p:spPr>
          <a:xfrm>
            <a:off x="10835640" y="6419088"/>
            <a:ext cx="822960" cy="292608"/>
          </a:xfrm>
          <a:prstGeom prst="roundRect">
            <a:avLst>
              <a:gd name="adj" fmla="val 50000"/>
            </a:avLst>
          </a:prstGeom>
          <a:solidFill>
            <a:srgbClr val="FFFFFF"/>
          </a:solidFill>
          <a:ln w="12700">
            <a:solidFill>
              <a:srgbClr val="C9D3E3"/>
            </a:solidFill>
            <a:prstDash val="solid"/>
          </a:ln>
        </p:spPr>
      </p:sp>
      <p:sp>
        <p:nvSpPr>
          <p:cNvPr id="9" name="Text 7">
            <a:hlinkClick r:id="rId2" tooltip="Next slide" action="ppaction://hlinksldjump"/>
          </p:cNvPr>
          <p:cNvSpPr txBox="1"/>
          <p:nvPr/>
        </p:nvSpPr>
        <p:spPr>
          <a:xfrm>
            <a:off x="108356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2" action="ppaction://hlinksldjump" tooltip="Next slide">
                  <a:extLst>
                    <a:ext uri="{A12FA001-AC4F-418D-AE19-62706E023703}">
                      <ahyp:hlinkClr xmlns:ahyp="http://schemas.microsoft.com/office/drawing/2018/hyperlinkcolor" val="tx"/>
                    </a:ext>
                  </a:extLst>
                </a:hlinkClick>
              </a:rPr>
              <a:t>Next ›</a:t>
            </a:r>
            <a:endParaRPr lang="en-US" sz="1000" dirty="0"/>
          </a:p>
        </p:txBody>
      </p:sp>
      <p:sp>
        <p:nvSpPr>
          <p:cNvPr id="11" name="card"/>
          <p:cNvSpPr/>
          <p:nvPr/>
        </p:nvSpPr>
        <p:spPr>
          <a:xfrm>
            <a:off x="548640" y="1325880"/>
            <a:ext cx="5394960" cy="3840480"/>
          </a:xfrm>
          <a:prstGeom prst="roundRect">
            <a:avLst>
              <a:gd name="adj" fmla="val 2857"/>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graphicFrame>
        <p:nvGraphicFramePr>
          <p:cNvPr id="12" name="Chart 0" descr=""/>
          <p:cNvGraphicFramePr/>
          <p:nvPr/>
        </p:nvGraphicFramePr>
        <p:xfrm>
          <a:off x="640080" y="1417320"/>
          <a:ext cx="5212080" cy="3657600"/>
        </p:xfrm>
        <a:graphic xmlns:a="http://schemas.openxmlformats.org/drawingml/2006/main">
          <a:graphicData uri="http://schemas.openxmlformats.org/drawingml/2006/chart">
            <c:chart xmlns:c="http://schemas.openxmlformats.org/drawingml/2006/chart" r:id="rId3"/>
          </a:graphicData>
        </a:graphic>
      </p:graphicFrame>
      <p:sp>
        <p:nvSpPr>
          <p:cNvPr id="13" name="card"/>
          <p:cNvSpPr/>
          <p:nvPr/>
        </p:nvSpPr>
        <p:spPr>
          <a:xfrm>
            <a:off x="6126480" y="1325880"/>
            <a:ext cx="5532120" cy="2468880"/>
          </a:xfrm>
          <a:prstGeom prst="roundRect">
            <a:avLst>
              <a:gd name="adj" fmla="val 4444"/>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309360" y="1463040"/>
          <a:ext cx="5166360" cy="914400"/>
        </p:xfrm>
        <a:graphic>
          <a:graphicData uri="http://schemas.openxmlformats.org/drawingml/2006/table">
            <a:tbl>
              <a:tblPr/>
              <a:tblGrid>
                <a:gridCol w="2148840"/>
                <a:gridCol w="1280160"/>
                <a:gridCol w="1737360"/>
              </a:tblGrid>
              <a:tr h="41148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Per month (of 3,000)</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0B1F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Logistic</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0B1F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Gradient Boosting</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0B1F4B"/>
                    </a:solidFill>
                  </a:tcPr>
                </a:tc>
              </a:tr>
              <a:tr h="411480">
                <a:tc>
                  <a:txBody>
                    <a:bodyPr/>
                    <a:lstStyle/>
                    <a:p>
                      <a:pPr algn="l" indent="0" marL="0">
                        <a:buNone/>
                      </a:pPr>
                      <a:r>
                        <a:rPr lang="en-US" sz="1200" dirty="0">
                          <a:solidFill>
                            <a:srgbClr val="1F2A44"/>
                          </a:solidFill>
                          <a:latin typeface="Calibri" pitchFamily="34" charset="0"/>
                          <a:ea typeface="Calibri" pitchFamily="34" charset="-122"/>
                          <a:cs typeface="Calibri" pitchFamily="34" charset="-120"/>
                        </a:rPr>
                        <a:t>Auto-decline</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439</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735</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411480">
                <a:tc>
                  <a:txBody>
                    <a:bodyPr/>
                    <a:lstStyle/>
                    <a:p>
                      <a:pPr algn="l" indent="0" marL="0">
                        <a:buNone/>
                      </a:pPr>
                      <a:r>
                        <a:rPr lang="en-US" sz="1200" dirty="0">
                          <a:solidFill>
                            <a:srgbClr val="1F2A44"/>
                          </a:solidFill>
                          <a:latin typeface="Calibri" pitchFamily="34" charset="0"/>
                          <a:ea typeface="Calibri" pitchFamily="34" charset="-122"/>
                          <a:cs typeface="Calibri" pitchFamily="34" charset="-120"/>
                        </a:rPr>
                        <a:t>Fast-track</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462</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570</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411480">
                <a:tc>
                  <a:txBody>
                    <a:bodyPr/>
                    <a:lstStyle/>
                    <a:p>
                      <a:pPr algn="l" indent="0" marL="0">
                        <a:buNone/>
                      </a:pPr>
                      <a:r>
                        <a:rPr lang="en-US" sz="1200" dirty="0">
                          <a:solidFill>
                            <a:srgbClr val="1F2A44"/>
                          </a:solidFill>
                          <a:latin typeface="Calibri" pitchFamily="34" charset="0"/>
                          <a:ea typeface="Calibri" pitchFamily="34" charset="-122"/>
                          <a:cs typeface="Calibri" pitchFamily="34" charset="-120"/>
                        </a:rPr>
                        <a:t>Analyst review</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2,099</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1,695</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411480">
                <a:tc>
                  <a:txBody>
                    <a:bodyPr/>
                    <a:lstStyle/>
                    <a:p>
                      <a:pPr algn="l" indent="0" marL="0">
                        <a:buNone/>
                      </a:pPr>
                      <a:r>
                        <a:rPr lang="en-US" sz="1200" b="1" dirty="0">
                          <a:solidFill>
                            <a:srgbClr val="1F2A44"/>
                          </a:solidFill>
                          <a:latin typeface="Calibri" pitchFamily="34" charset="0"/>
                          <a:ea typeface="Calibri" pitchFamily="34" charset="-122"/>
                          <a:cs typeface="Calibri" pitchFamily="34" charset="-120"/>
                        </a:rPr>
                        <a:t>Analyst hours saved*</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3F4EA"/>
                    </a:solidFill>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375.4</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3F4EA"/>
                    </a:solidFill>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543.8</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3F4EA"/>
                    </a:solidFill>
                  </a:tcPr>
                </a:tc>
              </a:tr>
            </a:tbl>
          </a:graphicData>
        </a:graphic>
      </p:graphicFrame>
      <p:sp>
        <p:nvSpPr>
          <p:cNvPr id="15" name="stat"/>
          <p:cNvSpPr/>
          <p:nvPr/>
        </p:nvSpPr>
        <p:spPr>
          <a:xfrm>
            <a:off x="6126480" y="3931920"/>
            <a:ext cx="2697480" cy="1234440"/>
          </a:xfrm>
          <a:prstGeom prst="roundRect">
            <a:avLst>
              <a:gd name="adj" fmla="val 8889"/>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6" name="Text 11"/>
          <p:cNvSpPr txBox="1"/>
          <p:nvPr/>
        </p:nvSpPr>
        <p:spPr>
          <a:xfrm>
            <a:off x="6309360" y="4069080"/>
            <a:ext cx="2331720" cy="617220"/>
          </a:xfrm>
          <a:prstGeom prst="rect">
            <a:avLst/>
          </a:prstGeom>
          <a:noFill/>
          <a:ln/>
        </p:spPr>
        <p:txBody>
          <a:bodyPr wrap="square" lIns="0" tIns="0" rIns="0" bIns="0" rtlCol="0" anchor="ctr"/>
          <a:lstStyle/>
          <a:p>
            <a:pPr indent="0" marL="0">
              <a:buNone/>
            </a:pPr>
            <a:r>
              <a:rPr lang="en-US" sz="3400" b="1" dirty="0">
                <a:solidFill>
                  <a:srgbClr val="2E9E5B"/>
                </a:solidFill>
                <a:latin typeface="Calibri" pitchFamily="34" charset="0"/>
                <a:ea typeface="Calibri" pitchFamily="34" charset="-122"/>
                <a:cs typeface="Calibri" pitchFamily="34" charset="-120"/>
              </a:rPr>
              <a:t>−404</a:t>
            </a:r>
            <a:endParaRPr lang="en-US" sz="3400" dirty="0"/>
          </a:p>
        </p:txBody>
      </p:sp>
      <p:sp>
        <p:nvSpPr>
          <p:cNvPr id="17" name="Text 12"/>
          <p:cNvSpPr txBox="1"/>
          <p:nvPr/>
        </p:nvSpPr>
        <p:spPr>
          <a:xfrm>
            <a:off x="6309360" y="4610862"/>
            <a:ext cx="2331720" cy="518465"/>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fewer manual reviews a month</a:t>
            </a:r>
            <a:endParaRPr lang="en-US" sz="1300" dirty="0"/>
          </a:p>
        </p:txBody>
      </p:sp>
      <p:sp>
        <p:nvSpPr>
          <p:cNvPr id="18" name="stat"/>
          <p:cNvSpPr/>
          <p:nvPr/>
        </p:nvSpPr>
        <p:spPr>
          <a:xfrm>
            <a:off x="8961120" y="3931920"/>
            <a:ext cx="2697480" cy="1234440"/>
          </a:xfrm>
          <a:prstGeom prst="roundRect">
            <a:avLst>
              <a:gd name="adj" fmla="val 8889"/>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9" name="Text 14"/>
          <p:cNvSpPr txBox="1"/>
          <p:nvPr/>
        </p:nvSpPr>
        <p:spPr>
          <a:xfrm>
            <a:off x="9144000" y="4069080"/>
            <a:ext cx="2331720" cy="617220"/>
          </a:xfrm>
          <a:prstGeom prst="rect">
            <a:avLst/>
          </a:prstGeom>
          <a:noFill/>
          <a:ln/>
        </p:spPr>
        <p:txBody>
          <a:bodyPr wrap="square" lIns="0" tIns="0" rIns="0" bIns="0" rtlCol="0" anchor="ctr"/>
          <a:lstStyle/>
          <a:p>
            <a:pPr indent="0" marL="0">
              <a:buNone/>
            </a:pPr>
            <a:r>
              <a:rPr lang="en-US" sz="3400" b="1" dirty="0">
                <a:solidFill>
                  <a:srgbClr val="00A6A6"/>
                </a:solidFill>
                <a:latin typeface="Calibri" pitchFamily="34" charset="0"/>
                <a:ea typeface="Calibri" pitchFamily="34" charset="-122"/>
                <a:cs typeface="Calibri" pitchFamily="34" charset="-120"/>
              </a:rPr>
              <a:t>+168.4</a:t>
            </a:r>
            <a:endParaRPr lang="en-US" sz="3400" dirty="0"/>
          </a:p>
        </p:txBody>
      </p:sp>
      <p:sp>
        <p:nvSpPr>
          <p:cNvPr id="20" name="Text 15"/>
          <p:cNvSpPr txBox="1"/>
          <p:nvPr/>
        </p:nvSpPr>
        <p:spPr>
          <a:xfrm>
            <a:off x="9144000" y="4610862"/>
            <a:ext cx="2331720" cy="518465"/>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extra analyst hours saved a month</a:t>
            </a:r>
            <a:endParaRPr lang="en-US" sz="1300" dirty="0"/>
          </a:p>
        </p:txBody>
      </p:sp>
      <p:sp>
        <p:nvSpPr>
          <p:cNvPr id="21" name="note"/>
          <p:cNvSpPr/>
          <p:nvPr/>
        </p:nvSpPr>
        <p:spPr>
          <a:xfrm>
            <a:off x="548640" y="5349240"/>
            <a:ext cx="11109960" cy="868680"/>
          </a:xfrm>
          <a:prstGeom prst="roundRect">
            <a:avLst>
              <a:gd name="adj" fmla="val 12632"/>
            </a:avLst>
          </a:prstGeom>
          <a:solidFill>
            <a:srgbClr val="FFF1E0"/>
          </a:solidFill>
          <a:ln w="12700">
            <a:solidFill>
              <a:srgbClr val="F28C28"/>
            </a:solidFill>
            <a:prstDash val="solid"/>
          </a:ln>
        </p:spPr>
      </p:sp>
      <p:sp>
        <p:nvSpPr>
          <p:cNvPr id="22" name="iconCircle"/>
          <p:cNvSpPr/>
          <p:nvPr/>
        </p:nvSpPr>
        <p:spPr>
          <a:xfrm>
            <a:off x="731520" y="5554980"/>
            <a:ext cx="457200" cy="457200"/>
          </a:xfrm>
          <a:prstGeom prst="ellipse">
            <a:avLst/>
          </a:prstGeom>
          <a:solidFill>
            <a:srgbClr val="F28C28"/>
          </a:solidFill>
          <a:ln w="12700">
            <a:solidFill>
              <a:srgbClr val="F28C28"/>
            </a:solidFill>
            <a:prstDash val="solid"/>
          </a:ln>
        </p:spPr>
      </p:sp>
      <p:pic>
        <p:nvPicPr>
          <p:cNvPr id="23" name="Image 0" descr="Lightbulb icon">    </p:cNvPr>
          <p:cNvPicPr>
            <a:picLocks noChangeAspect="1"/>
          </p:cNvPicPr>
          <p:nvPr/>
        </p:nvPicPr>
        <p:blipFill>
          <a:blip r:embed="rId4"/>
          <a:stretch>
            <a:fillRect/>
          </a:stretch>
        </p:blipFill>
        <p:spPr>
          <a:xfrm>
            <a:off x="845820" y="5669280"/>
            <a:ext cx="228600" cy="228600"/>
          </a:xfrm>
          <a:prstGeom prst="rect">
            <a:avLst/>
          </a:prstGeom>
        </p:spPr>
      </p:pic>
      <p:sp>
        <p:nvSpPr>
          <p:cNvPr id="24" name="Text 18"/>
          <p:cNvSpPr txBox="1"/>
          <p:nvPr/>
        </p:nvSpPr>
        <p:spPr>
          <a:xfrm>
            <a:off x="1371600" y="5349240"/>
            <a:ext cx="10104120" cy="868680"/>
          </a:xfrm>
          <a:prstGeom prst="rect">
            <a:avLst/>
          </a:prstGeom>
          <a:noFill/>
          <a:ln/>
        </p:spPr>
        <p:txBody>
          <a:bodyPr wrap="square" lIns="0" tIns="0" rIns="0" bIns="0" rtlCol="0" anchor="ctr"/>
          <a:lstStyle/>
          <a:p>
            <a:pPr indent="0" marL="0">
              <a:buNone/>
            </a:pPr>
            <a:r>
              <a:rPr lang="en-US" sz="1300" b="1" dirty="0">
                <a:solidFill>
                  <a:srgbClr val="0B1F4B"/>
                </a:solidFill>
                <a:latin typeface="Calibri" pitchFamily="34" charset="0"/>
                <a:ea typeface="Calibri" pitchFamily="34" charset="-122"/>
                <a:cs typeface="Calibri" pitchFamily="34" charset="-120"/>
              </a:rPr>
              <a:t>*Coverage = share of the queue automated (30.0% vs 43.5%). Hours assume a full 25 min saved per case; fast-track still needs a light-touch check, so real savings are lower.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052560" cy="777240"/>
          </a:xfrm>
          <a:prstGeom prst="rect">
            <a:avLst/>
          </a:prstGeom>
          <a:noFill/>
          <a:ln/>
        </p:spPr>
        <p:txBody>
          <a:bodyPr wrap="square" lIns="0" tIns="0" rIns="0" bIns="0" rtlCol="0" anchor="ctr"/>
          <a:lstStyle/>
          <a:p>
            <a:pPr algn="l" indent="0" marL="0">
              <a:buNone/>
            </a:pPr>
            <a:r>
              <a:rPr lang="en-US" sz="2800" b="1" dirty="0">
                <a:solidFill>
                  <a:srgbClr val="0B1F4B"/>
                </a:solidFill>
                <a:latin typeface="Calibri" pitchFamily="34" charset="0"/>
                <a:ea typeface="Calibri" pitchFamily="34" charset="-122"/>
                <a:cs typeface="Calibri" pitchFamily="34" charset="-120"/>
              </a:rPr>
              <a:t>Final Credit Policy Recommendation — Step 5.11</a:t>
            </a:r>
            <a:endParaRPr lang="en-US" sz="2800" dirty="0"/>
          </a:p>
        </p:txBody>
      </p:sp>
      <p:sp>
        <p:nvSpPr>
          <p:cNvPr id="3" name="tag"/>
          <p:cNvSpPr/>
          <p:nvPr/>
        </p:nvSpPr>
        <p:spPr>
          <a:xfrm>
            <a:off x="9738360" y="457200"/>
            <a:ext cx="1920240" cy="365760"/>
          </a:xfrm>
          <a:prstGeom prst="roundRect">
            <a:avLst>
              <a:gd name="adj" fmla="val 50000"/>
            </a:avLst>
          </a:prstGeom>
          <a:solidFill>
            <a:srgbClr val="2E9E5B"/>
          </a:solidFill>
          <a:ln w="12700">
            <a:solidFill>
              <a:srgbClr val="2E9E5B"/>
            </a:solidFill>
            <a:prstDash val="solid"/>
          </a:ln>
        </p:spPr>
      </p:sp>
      <p:sp>
        <p:nvSpPr>
          <p:cNvPr id="4" name="Text 2"/>
          <p:cNvSpPr txBox="1"/>
          <p:nvPr/>
        </p:nvSpPr>
        <p:spPr>
          <a:xfrm>
            <a:off x="9738360" y="457200"/>
            <a:ext cx="1920240"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RECOMMENDATION</a:t>
            </a:r>
            <a:endParaRPr lang="en-US" sz="1000" dirty="0"/>
          </a:p>
        </p:txBody>
      </p:sp>
      <p:sp>
        <p:nvSpPr>
          <p:cNvPr id="5" name="Text 3"/>
          <p:cNvSpPr txBox="1"/>
          <p:nvPr/>
        </p:nvSpPr>
        <p:spPr>
          <a:xfrm>
            <a:off x="8229600" y="6400800"/>
            <a:ext cx="1554480" cy="32004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18 / 20</a:t>
            </a:r>
            <a:endParaRPr lang="en-US" sz="1000" dirty="0"/>
          </a:p>
        </p:txBody>
      </p:sp>
      <p:sp>
        <p:nvSpPr>
          <p:cNvPr id="6" name="navButton"/>
          <p:cNvSpPr/>
          <p:nvPr/>
        </p:nvSpPr>
        <p:spPr>
          <a:xfrm>
            <a:off x="9921240" y="6419088"/>
            <a:ext cx="822960" cy="292608"/>
          </a:xfrm>
          <a:prstGeom prst="roundRect">
            <a:avLst>
              <a:gd name="adj" fmla="val 50000"/>
            </a:avLst>
          </a:prstGeom>
          <a:solidFill>
            <a:srgbClr val="FFFFFF"/>
          </a:solidFill>
          <a:ln w="12700">
            <a:solidFill>
              <a:srgbClr val="C9D3E3"/>
            </a:solidFill>
            <a:prstDash val="solid"/>
          </a:ln>
        </p:spPr>
      </p:sp>
      <p:sp>
        <p:nvSpPr>
          <p:cNvPr id="7" name="Text 5">
            <a:hlinkClick r:id="rId1" tooltip="Previous slide" action="ppaction://hlinksldjump"/>
          </p:cNvPr>
          <p:cNvSpPr txBox="1"/>
          <p:nvPr/>
        </p:nvSpPr>
        <p:spPr>
          <a:xfrm>
            <a:off x="99212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1" action="ppaction://hlinksldjump" tooltip="Previous slide">
                  <a:extLst>
                    <a:ext uri="{A12FA001-AC4F-418D-AE19-62706E023703}">
                      <ahyp:hlinkClr xmlns:ahyp="http://schemas.microsoft.com/office/drawing/2018/hyperlinkcolor" val="tx"/>
                    </a:ext>
                  </a:extLst>
                </a:hlinkClick>
              </a:rPr>
              <a:t>‹ Prev</a:t>
            </a:r>
            <a:endParaRPr lang="en-US" sz="1000" dirty="0"/>
          </a:p>
        </p:txBody>
      </p:sp>
      <p:sp>
        <p:nvSpPr>
          <p:cNvPr id="8" name="navButton"/>
          <p:cNvSpPr/>
          <p:nvPr/>
        </p:nvSpPr>
        <p:spPr>
          <a:xfrm>
            <a:off x="10835640" y="6419088"/>
            <a:ext cx="822960" cy="292608"/>
          </a:xfrm>
          <a:prstGeom prst="roundRect">
            <a:avLst>
              <a:gd name="adj" fmla="val 50000"/>
            </a:avLst>
          </a:prstGeom>
          <a:solidFill>
            <a:srgbClr val="FFFFFF"/>
          </a:solidFill>
          <a:ln w="12700">
            <a:solidFill>
              <a:srgbClr val="C9D3E3"/>
            </a:solidFill>
            <a:prstDash val="solid"/>
          </a:ln>
        </p:spPr>
      </p:sp>
      <p:sp>
        <p:nvSpPr>
          <p:cNvPr id="9" name="Text 7">
            <a:hlinkClick r:id="rId2" tooltip="Next slide" action="ppaction://hlinksldjump"/>
          </p:cNvPr>
          <p:cNvSpPr txBox="1"/>
          <p:nvPr/>
        </p:nvSpPr>
        <p:spPr>
          <a:xfrm>
            <a:off x="108356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2" action="ppaction://hlinksldjump" tooltip="Next slide">
                  <a:extLst>
                    <a:ext uri="{A12FA001-AC4F-418D-AE19-62706E023703}">
                      <ahyp:hlinkClr xmlns:ahyp="http://schemas.microsoft.com/office/drawing/2018/hyperlinkcolor" val="tx"/>
                    </a:ext>
                  </a:extLst>
                </a:hlinkClick>
              </a:rPr>
              <a:t>Next ›</a:t>
            </a:r>
            <a:endParaRPr lang="en-US" sz="1000" dirty="0"/>
          </a:p>
        </p:txBody>
      </p:sp>
      <p:sp>
        <p:nvSpPr>
          <p:cNvPr id="11" name="card"/>
          <p:cNvSpPr/>
          <p:nvPr/>
        </p:nvSpPr>
        <p:spPr>
          <a:xfrm>
            <a:off x="548640" y="1325880"/>
            <a:ext cx="3611880" cy="1965960"/>
          </a:xfrm>
          <a:prstGeom prst="roundRect">
            <a:avLst>
              <a:gd name="adj" fmla="val 5581"/>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2" name="iconCircle"/>
          <p:cNvSpPr/>
          <p:nvPr/>
        </p:nvSpPr>
        <p:spPr>
          <a:xfrm>
            <a:off x="731520" y="1463040"/>
            <a:ext cx="502920" cy="502920"/>
          </a:xfrm>
          <a:prstGeom prst="ellipse">
            <a:avLst/>
          </a:prstGeom>
          <a:solidFill>
            <a:srgbClr val="0B1F4B"/>
          </a:solidFill>
          <a:ln w="12700">
            <a:solidFill>
              <a:srgbClr val="0B1F4B"/>
            </a:solidFill>
            <a:prstDash val="solid"/>
          </a:ln>
        </p:spPr>
      </p:sp>
      <p:pic>
        <p:nvPicPr>
          <p:cNvPr id="13" name="Image 0" descr="Rocket icon">    </p:cNvPr>
          <p:cNvPicPr>
            <a:picLocks noChangeAspect="1"/>
          </p:cNvPicPr>
          <p:nvPr/>
        </p:nvPicPr>
        <p:blipFill>
          <a:blip r:embed="rId3"/>
          <a:stretch>
            <a:fillRect/>
          </a:stretch>
        </p:blipFill>
        <p:spPr>
          <a:xfrm>
            <a:off x="857250" y="1588770"/>
            <a:ext cx="251460" cy="251460"/>
          </a:xfrm>
          <a:prstGeom prst="rect">
            <a:avLst/>
          </a:prstGeom>
        </p:spPr>
      </p:pic>
      <p:sp>
        <p:nvSpPr>
          <p:cNvPr id="14" name="Text 10"/>
          <p:cNvSpPr txBox="1"/>
          <p:nvPr/>
        </p:nvSpPr>
        <p:spPr>
          <a:xfrm>
            <a:off x="1371600" y="1463040"/>
            <a:ext cx="2697480" cy="502920"/>
          </a:xfrm>
          <a:prstGeom prst="rect">
            <a:avLst/>
          </a:prstGeom>
          <a:noFill/>
          <a:ln/>
        </p:spPr>
        <p:txBody>
          <a:bodyPr wrap="square" lIns="0" tIns="0" rIns="0" bIns="0" rtlCol="0" anchor="ctr"/>
          <a:lstStyle/>
          <a:p>
            <a:pPr indent="0" marL="0">
              <a:buNone/>
            </a:pPr>
            <a:r>
              <a:rPr lang="en-US" sz="1600" b="1" dirty="0">
                <a:solidFill>
                  <a:srgbClr val="0B1F4B"/>
                </a:solidFill>
                <a:latin typeface="Calibri" pitchFamily="34" charset="0"/>
                <a:ea typeface="Calibri" pitchFamily="34" charset="-122"/>
                <a:cs typeface="Calibri" pitchFamily="34" charset="-120"/>
              </a:rPr>
              <a:t>Pilot Gradient Boosting</a:t>
            </a:r>
            <a:endParaRPr lang="en-US" sz="1600" dirty="0"/>
          </a:p>
        </p:txBody>
      </p:sp>
      <p:sp>
        <p:nvSpPr>
          <p:cNvPr id="15" name="Text 11"/>
          <p:cNvSpPr txBox="1"/>
          <p:nvPr/>
        </p:nvSpPr>
        <p:spPr>
          <a:xfrm>
            <a:off x="731520" y="2103120"/>
            <a:ext cx="3246120" cy="1143000"/>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Best ROC-AUC (0.8896). Keep Logistic Regression as an explainable benchmark.</a:t>
            </a:r>
            <a:endParaRPr lang="en-US" sz="1300" dirty="0"/>
          </a:p>
        </p:txBody>
      </p:sp>
      <p:sp>
        <p:nvSpPr>
          <p:cNvPr id="16" name="card"/>
          <p:cNvSpPr/>
          <p:nvPr/>
        </p:nvSpPr>
        <p:spPr>
          <a:xfrm>
            <a:off x="4297680" y="1325880"/>
            <a:ext cx="3611880" cy="1965960"/>
          </a:xfrm>
          <a:prstGeom prst="roundRect">
            <a:avLst>
              <a:gd name="adj" fmla="val 5581"/>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7" name="iconCircle"/>
          <p:cNvSpPr/>
          <p:nvPr/>
        </p:nvSpPr>
        <p:spPr>
          <a:xfrm>
            <a:off x="4480560" y="1463040"/>
            <a:ext cx="502920" cy="502920"/>
          </a:xfrm>
          <a:prstGeom prst="ellipse">
            <a:avLst/>
          </a:prstGeom>
          <a:solidFill>
            <a:srgbClr val="00A6A6"/>
          </a:solidFill>
          <a:ln w="12700">
            <a:solidFill>
              <a:srgbClr val="00A6A6"/>
            </a:solidFill>
            <a:prstDash val="solid"/>
          </a:ln>
        </p:spPr>
      </p:sp>
      <p:pic>
        <p:nvPicPr>
          <p:cNvPr id="18" name="Image 1" descr="SlidersH icon">    </p:cNvPr>
          <p:cNvPicPr>
            <a:picLocks noChangeAspect="1"/>
          </p:cNvPicPr>
          <p:nvPr/>
        </p:nvPicPr>
        <p:blipFill>
          <a:blip r:embed="rId4"/>
          <a:stretch>
            <a:fillRect/>
          </a:stretch>
        </p:blipFill>
        <p:spPr>
          <a:xfrm>
            <a:off x="4606290" y="1588770"/>
            <a:ext cx="251460" cy="251460"/>
          </a:xfrm>
          <a:prstGeom prst="rect">
            <a:avLst/>
          </a:prstGeom>
        </p:spPr>
      </p:pic>
      <p:sp>
        <p:nvSpPr>
          <p:cNvPr id="19" name="Text 14"/>
          <p:cNvSpPr txBox="1"/>
          <p:nvPr/>
        </p:nvSpPr>
        <p:spPr>
          <a:xfrm>
            <a:off x="5120640" y="1463040"/>
            <a:ext cx="2697480" cy="502920"/>
          </a:xfrm>
          <a:prstGeom prst="rect">
            <a:avLst/>
          </a:prstGeom>
          <a:noFill/>
          <a:ln/>
        </p:spPr>
        <p:txBody>
          <a:bodyPr wrap="square" lIns="0" tIns="0" rIns="0" bIns="0" rtlCol="0" anchor="ctr"/>
          <a:lstStyle/>
          <a:p>
            <a:pPr indent="0" marL="0">
              <a:buNone/>
            </a:pPr>
            <a:r>
              <a:rPr lang="en-US" sz="1600" b="1" dirty="0">
                <a:solidFill>
                  <a:srgbClr val="0B1F4B"/>
                </a:solidFill>
                <a:latin typeface="Calibri" pitchFamily="34" charset="0"/>
                <a:ea typeface="Calibri" pitchFamily="34" charset="-122"/>
                <a:cs typeface="Calibri" pitchFamily="34" charset="-120"/>
              </a:rPr>
              <a:t>Thresholds and lanes</a:t>
            </a:r>
            <a:endParaRPr lang="en-US" sz="1600" dirty="0"/>
          </a:p>
        </p:txBody>
      </p:sp>
      <p:sp>
        <p:nvSpPr>
          <p:cNvPr id="20" name="Text 15"/>
          <p:cNvSpPr txBox="1"/>
          <p:nvPr/>
        </p:nvSpPr>
        <p:spPr>
          <a:xfrm>
            <a:off x="4480560" y="2103120"/>
            <a:ext cx="3246120" cy="1143000"/>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Auto-decline if P(approval) &lt; 0.17 (24.5%); fast-track if ≥ 0.89 (19.0%); review 56.5%.</a:t>
            </a:r>
            <a:endParaRPr lang="en-US" sz="1300" dirty="0"/>
          </a:p>
        </p:txBody>
      </p:sp>
      <p:sp>
        <p:nvSpPr>
          <p:cNvPr id="21" name="card"/>
          <p:cNvSpPr/>
          <p:nvPr/>
        </p:nvSpPr>
        <p:spPr>
          <a:xfrm>
            <a:off x="8046720" y="1325880"/>
            <a:ext cx="3611880" cy="1965960"/>
          </a:xfrm>
          <a:prstGeom prst="roundRect">
            <a:avLst>
              <a:gd name="adj" fmla="val 5581"/>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22" name="iconCircle"/>
          <p:cNvSpPr/>
          <p:nvPr/>
        </p:nvSpPr>
        <p:spPr>
          <a:xfrm>
            <a:off x="8229600" y="1463040"/>
            <a:ext cx="502920" cy="502920"/>
          </a:xfrm>
          <a:prstGeom prst="ellipse">
            <a:avLst/>
          </a:prstGeom>
          <a:solidFill>
            <a:srgbClr val="F28C28"/>
          </a:solidFill>
          <a:ln w="12700">
            <a:solidFill>
              <a:srgbClr val="F28C28"/>
            </a:solidFill>
            <a:prstDash val="solid"/>
          </a:ln>
        </p:spPr>
      </p:sp>
      <p:pic>
        <p:nvPicPr>
          <p:cNvPr id="23" name="Image 2" descr="Clock icon">    </p:cNvPr>
          <p:cNvPicPr>
            <a:picLocks noChangeAspect="1"/>
          </p:cNvPicPr>
          <p:nvPr/>
        </p:nvPicPr>
        <p:blipFill>
          <a:blip r:embed="rId5"/>
          <a:stretch>
            <a:fillRect/>
          </a:stretch>
        </p:blipFill>
        <p:spPr>
          <a:xfrm>
            <a:off x="8355330" y="1588770"/>
            <a:ext cx="251460" cy="251460"/>
          </a:xfrm>
          <a:prstGeom prst="rect">
            <a:avLst/>
          </a:prstGeom>
        </p:spPr>
      </p:pic>
      <p:sp>
        <p:nvSpPr>
          <p:cNvPr id="24" name="Text 18"/>
          <p:cNvSpPr txBox="1"/>
          <p:nvPr/>
        </p:nvSpPr>
        <p:spPr>
          <a:xfrm>
            <a:off x="8869680" y="1463040"/>
            <a:ext cx="2697480" cy="502920"/>
          </a:xfrm>
          <a:prstGeom prst="rect">
            <a:avLst/>
          </a:prstGeom>
          <a:noFill/>
          <a:ln/>
        </p:spPr>
        <p:txBody>
          <a:bodyPr wrap="square" lIns="0" tIns="0" rIns="0" bIns="0" rtlCol="0" anchor="ctr"/>
          <a:lstStyle/>
          <a:p>
            <a:pPr indent="0" marL="0">
              <a:buNone/>
            </a:pPr>
            <a:r>
              <a:rPr lang="en-US" sz="1600" b="1" dirty="0">
                <a:solidFill>
                  <a:srgbClr val="0B1F4B"/>
                </a:solidFill>
                <a:latin typeface="Calibri" pitchFamily="34" charset="0"/>
                <a:ea typeface="Calibri" pitchFamily="34" charset="-122"/>
                <a:cs typeface="Calibri" pitchFamily="34" charset="-120"/>
              </a:rPr>
              <a:t>Operational benefit</a:t>
            </a:r>
            <a:endParaRPr lang="en-US" sz="1600" dirty="0"/>
          </a:p>
        </p:txBody>
      </p:sp>
      <p:sp>
        <p:nvSpPr>
          <p:cNvPr id="25" name="Text 19"/>
          <p:cNvSpPr txBox="1"/>
          <p:nvPr/>
        </p:nvSpPr>
        <p:spPr>
          <a:xfrm>
            <a:off x="8229600" y="2103120"/>
            <a:ext cx="3246120" cy="1143000"/>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≈1,305 applications automated and 543.8 hours saved a month; 404 fewer reviews than Logistic Regression.</a:t>
            </a:r>
            <a:endParaRPr lang="en-US" sz="1300" dirty="0"/>
          </a:p>
        </p:txBody>
      </p:sp>
      <p:sp>
        <p:nvSpPr>
          <p:cNvPr id="26" name="card"/>
          <p:cNvSpPr/>
          <p:nvPr/>
        </p:nvSpPr>
        <p:spPr>
          <a:xfrm>
            <a:off x="548640" y="3429000"/>
            <a:ext cx="3611880" cy="1965960"/>
          </a:xfrm>
          <a:prstGeom prst="roundRect">
            <a:avLst>
              <a:gd name="adj" fmla="val 5581"/>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27" name="iconCircle"/>
          <p:cNvSpPr/>
          <p:nvPr/>
        </p:nvSpPr>
        <p:spPr>
          <a:xfrm>
            <a:off x="731520" y="3566160"/>
            <a:ext cx="502920" cy="502920"/>
          </a:xfrm>
          <a:prstGeom prst="ellipse">
            <a:avLst/>
          </a:prstGeom>
          <a:solidFill>
            <a:srgbClr val="6C4AB6"/>
          </a:solidFill>
          <a:ln w="12700">
            <a:solidFill>
              <a:srgbClr val="6C4AB6"/>
            </a:solidFill>
            <a:prstDash val="solid"/>
          </a:ln>
        </p:spPr>
      </p:sp>
      <p:pic>
        <p:nvPicPr>
          <p:cNvPr id="28" name="Image 3" descr="UserCheck icon">    </p:cNvPr>
          <p:cNvPicPr>
            <a:picLocks noChangeAspect="1"/>
          </p:cNvPicPr>
          <p:nvPr/>
        </p:nvPicPr>
        <p:blipFill>
          <a:blip r:embed="rId6"/>
          <a:stretch>
            <a:fillRect/>
          </a:stretch>
        </p:blipFill>
        <p:spPr>
          <a:xfrm>
            <a:off x="857250" y="3691890"/>
            <a:ext cx="251460" cy="251460"/>
          </a:xfrm>
          <a:prstGeom prst="rect">
            <a:avLst/>
          </a:prstGeom>
        </p:spPr>
      </p:pic>
      <p:sp>
        <p:nvSpPr>
          <p:cNvPr id="29" name="Text 22"/>
          <p:cNvSpPr txBox="1"/>
          <p:nvPr/>
        </p:nvSpPr>
        <p:spPr>
          <a:xfrm>
            <a:off x="1371600" y="3566160"/>
            <a:ext cx="2697480" cy="502920"/>
          </a:xfrm>
          <a:prstGeom prst="rect">
            <a:avLst/>
          </a:prstGeom>
          <a:noFill/>
          <a:ln/>
        </p:spPr>
        <p:txBody>
          <a:bodyPr wrap="square" lIns="0" tIns="0" rIns="0" bIns="0" rtlCol="0" anchor="ctr"/>
          <a:lstStyle/>
          <a:p>
            <a:pPr indent="0" marL="0">
              <a:buNone/>
            </a:pPr>
            <a:r>
              <a:rPr lang="en-US" sz="1600" b="1" dirty="0">
                <a:solidFill>
                  <a:srgbClr val="0B1F4B"/>
                </a:solidFill>
                <a:latin typeface="Calibri" pitchFamily="34" charset="0"/>
                <a:ea typeface="Calibri" pitchFamily="34" charset="-122"/>
                <a:cs typeface="Calibri" pitchFamily="34" charset="-120"/>
              </a:rPr>
              <a:t>Always human review</a:t>
            </a:r>
            <a:endParaRPr lang="en-US" sz="1600" dirty="0"/>
          </a:p>
        </p:txBody>
      </p:sp>
      <p:sp>
        <p:nvSpPr>
          <p:cNvPr id="30" name="Text 23"/>
          <p:cNvSpPr txBox="1"/>
          <p:nvPr/>
        </p:nvSpPr>
        <p:spPr>
          <a:xfrm>
            <a:off x="731520" y="4206240"/>
            <a:ext cx="3246120" cy="1143000"/>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Borderline cases, missing or limited credit history, and cases flagged by affordability or fairness checks.</a:t>
            </a:r>
            <a:endParaRPr lang="en-US" sz="1300" dirty="0"/>
          </a:p>
        </p:txBody>
      </p:sp>
      <p:sp>
        <p:nvSpPr>
          <p:cNvPr id="31" name="card"/>
          <p:cNvSpPr/>
          <p:nvPr/>
        </p:nvSpPr>
        <p:spPr>
          <a:xfrm>
            <a:off x="4297680" y="3429000"/>
            <a:ext cx="3611880" cy="1965960"/>
          </a:xfrm>
          <a:prstGeom prst="roundRect">
            <a:avLst>
              <a:gd name="adj" fmla="val 5581"/>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32" name="iconCircle"/>
          <p:cNvSpPr/>
          <p:nvPr/>
        </p:nvSpPr>
        <p:spPr>
          <a:xfrm>
            <a:off x="4480560" y="3566160"/>
            <a:ext cx="502920" cy="502920"/>
          </a:xfrm>
          <a:prstGeom prst="ellipse">
            <a:avLst/>
          </a:prstGeom>
          <a:solidFill>
            <a:srgbClr val="2E9E5B"/>
          </a:solidFill>
          <a:ln w="12700">
            <a:solidFill>
              <a:srgbClr val="2E9E5B"/>
            </a:solidFill>
            <a:prstDash val="solid"/>
          </a:ln>
        </p:spPr>
      </p:sp>
      <p:pic>
        <p:nvPicPr>
          <p:cNvPr id="33" name="Image 4" descr="BalanceScale icon">    </p:cNvPr>
          <p:cNvPicPr>
            <a:picLocks noChangeAspect="1"/>
          </p:cNvPicPr>
          <p:nvPr/>
        </p:nvPicPr>
        <p:blipFill>
          <a:blip r:embed="rId7"/>
          <a:stretch>
            <a:fillRect/>
          </a:stretch>
        </p:blipFill>
        <p:spPr>
          <a:xfrm>
            <a:off x="4606290" y="3691890"/>
            <a:ext cx="251460" cy="251460"/>
          </a:xfrm>
          <a:prstGeom prst="rect">
            <a:avLst/>
          </a:prstGeom>
        </p:spPr>
      </p:pic>
      <p:sp>
        <p:nvSpPr>
          <p:cNvPr id="34" name="Text 26"/>
          <p:cNvSpPr txBox="1"/>
          <p:nvPr/>
        </p:nvSpPr>
        <p:spPr>
          <a:xfrm>
            <a:off x="5120640" y="3566160"/>
            <a:ext cx="2697480" cy="502920"/>
          </a:xfrm>
          <a:prstGeom prst="rect">
            <a:avLst/>
          </a:prstGeom>
          <a:noFill/>
          <a:ln/>
        </p:spPr>
        <p:txBody>
          <a:bodyPr wrap="square" lIns="0" tIns="0" rIns="0" bIns="0" rtlCol="0" anchor="ctr"/>
          <a:lstStyle/>
          <a:p>
            <a:pPr indent="0" marL="0">
              <a:buNone/>
            </a:pPr>
            <a:r>
              <a:rPr lang="en-US" sz="1600" b="1" dirty="0">
                <a:solidFill>
                  <a:srgbClr val="0B1F4B"/>
                </a:solidFill>
                <a:latin typeface="Calibri" pitchFamily="34" charset="0"/>
                <a:ea typeface="Calibri" pitchFamily="34" charset="-122"/>
                <a:cs typeface="Calibri" pitchFamily="34" charset="-120"/>
              </a:rPr>
              <a:t>Fairness monitoring</a:t>
            </a:r>
            <a:endParaRPr lang="en-US" sz="1600" dirty="0"/>
          </a:p>
        </p:txBody>
      </p:sp>
      <p:sp>
        <p:nvSpPr>
          <p:cNvPr id="35" name="Text 27"/>
          <p:cNvSpPr txBox="1"/>
          <p:nvPr/>
        </p:nvSpPr>
        <p:spPr>
          <a:xfrm>
            <a:off x="4480560" y="4206240"/>
            <a:ext cx="3246120" cy="1143000"/>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Track approval, lane and error rates by gender and employment type every month.</a:t>
            </a:r>
            <a:endParaRPr lang="en-US" sz="1300" dirty="0"/>
          </a:p>
        </p:txBody>
      </p:sp>
      <p:sp>
        <p:nvSpPr>
          <p:cNvPr id="36" name="card"/>
          <p:cNvSpPr/>
          <p:nvPr/>
        </p:nvSpPr>
        <p:spPr>
          <a:xfrm>
            <a:off x="8046720" y="3429000"/>
            <a:ext cx="3611880" cy="1965960"/>
          </a:xfrm>
          <a:prstGeom prst="roundRect">
            <a:avLst>
              <a:gd name="adj" fmla="val 5581"/>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37" name="iconCircle"/>
          <p:cNvSpPr/>
          <p:nvPr/>
        </p:nvSpPr>
        <p:spPr>
          <a:xfrm>
            <a:off x="8229600" y="3566160"/>
            <a:ext cx="502920" cy="502920"/>
          </a:xfrm>
          <a:prstGeom prst="ellipse">
            <a:avLst/>
          </a:prstGeom>
          <a:solidFill>
            <a:srgbClr val="D64545"/>
          </a:solidFill>
          <a:ln w="12700">
            <a:solidFill>
              <a:srgbClr val="D64545"/>
            </a:solidFill>
            <a:prstDash val="solid"/>
          </a:ln>
        </p:spPr>
      </p:sp>
      <p:pic>
        <p:nvPicPr>
          <p:cNvPr id="38" name="Image 5" descr="Eye icon">    </p:cNvPr>
          <p:cNvPicPr>
            <a:picLocks noChangeAspect="1"/>
          </p:cNvPicPr>
          <p:nvPr/>
        </p:nvPicPr>
        <p:blipFill>
          <a:blip r:embed="rId8"/>
          <a:stretch>
            <a:fillRect/>
          </a:stretch>
        </p:blipFill>
        <p:spPr>
          <a:xfrm>
            <a:off x="8355330" y="3691890"/>
            <a:ext cx="251460" cy="251460"/>
          </a:xfrm>
          <a:prstGeom prst="rect">
            <a:avLst/>
          </a:prstGeom>
        </p:spPr>
      </p:pic>
      <p:sp>
        <p:nvSpPr>
          <p:cNvPr id="39" name="Text 30"/>
          <p:cNvSpPr txBox="1"/>
          <p:nvPr/>
        </p:nvSpPr>
        <p:spPr>
          <a:xfrm>
            <a:off x="8869680" y="3566160"/>
            <a:ext cx="2697480" cy="502920"/>
          </a:xfrm>
          <a:prstGeom prst="rect">
            <a:avLst/>
          </a:prstGeom>
          <a:noFill/>
          <a:ln/>
        </p:spPr>
        <p:txBody>
          <a:bodyPr wrap="square" lIns="0" tIns="0" rIns="0" bIns="0" rtlCol="0" anchor="ctr"/>
          <a:lstStyle/>
          <a:p>
            <a:pPr indent="0" marL="0">
              <a:buNone/>
            </a:pPr>
            <a:r>
              <a:rPr lang="en-US" sz="1600" b="1" dirty="0">
                <a:solidFill>
                  <a:srgbClr val="0B1F4B"/>
                </a:solidFill>
                <a:latin typeface="Calibri" pitchFamily="34" charset="0"/>
                <a:ea typeface="Calibri" pitchFamily="34" charset="-122"/>
                <a:cs typeface="Calibri" pitchFamily="34" charset="-120"/>
              </a:rPr>
              <a:t>Pre-launch testing</a:t>
            </a:r>
            <a:endParaRPr lang="en-US" sz="1600" dirty="0"/>
          </a:p>
        </p:txBody>
      </p:sp>
      <p:sp>
        <p:nvSpPr>
          <p:cNvPr id="40" name="Text 31"/>
          <p:cNvSpPr txBox="1"/>
          <p:nvPr/>
        </p:nvSpPr>
        <p:spPr>
          <a:xfrm>
            <a:off x="8229600" y="4206240"/>
            <a:ext cx="3246120" cy="1143000"/>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Shadow-mode pilot: compare lanes with analyst decisions; confirm both errors stay ≤ 5%.</a:t>
            </a:r>
            <a:endParaRPr lang="en-US" sz="1300" dirty="0"/>
          </a:p>
        </p:txBody>
      </p:sp>
      <p:sp>
        <p:nvSpPr>
          <p:cNvPr id="41" name="caution"/>
          <p:cNvSpPr/>
          <p:nvPr/>
        </p:nvSpPr>
        <p:spPr>
          <a:xfrm>
            <a:off x="548640" y="5577840"/>
            <a:ext cx="11109960" cy="658368"/>
          </a:xfrm>
          <a:prstGeom prst="roundRect">
            <a:avLst>
              <a:gd name="adj" fmla="val 16667"/>
            </a:avLst>
          </a:prstGeom>
          <a:solidFill>
            <a:srgbClr val="0B1F4B"/>
          </a:solidFill>
          <a:ln w="6350">
            <a:solidFill>
              <a:srgbClr val="0B1F4B"/>
            </a:solidFill>
            <a:prstDash val="solid"/>
          </a:ln>
        </p:spPr>
      </p:sp>
      <p:sp>
        <p:nvSpPr>
          <p:cNvPr id="42" name="Text 33"/>
          <p:cNvSpPr txBox="1"/>
          <p:nvPr/>
        </p:nvSpPr>
        <p:spPr>
          <a:xfrm>
            <a:off x="822960" y="5577840"/>
            <a:ext cx="10607040" cy="65836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Historical decisions may contain bias. Model outputs should support, not replace, responsible human decisions.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052560" cy="777240"/>
          </a:xfrm>
          <a:prstGeom prst="rect">
            <a:avLst/>
          </a:prstGeom>
          <a:noFill/>
          <a:ln/>
        </p:spPr>
        <p:txBody>
          <a:bodyPr wrap="square" lIns="0" tIns="0" rIns="0" bIns="0" rtlCol="0" anchor="ctr"/>
          <a:lstStyle/>
          <a:p>
            <a:pPr algn="l" indent="0" marL="0">
              <a:buNone/>
            </a:pPr>
            <a:r>
              <a:rPr lang="en-US" sz="2800" b="1" dirty="0">
                <a:solidFill>
                  <a:srgbClr val="0B1F4B"/>
                </a:solidFill>
                <a:latin typeface="Calibri" pitchFamily="34" charset="0"/>
                <a:ea typeface="Calibri" pitchFamily="34" charset="-122"/>
                <a:cs typeface="Calibri" pitchFamily="34" charset="-120"/>
              </a:rPr>
              <a:t>Understanding Applicant Segments — Step 5.12</a:t>
            </a:r>
            <a:endParaRPr lang="en-US" sz="2800" dirty="0"/>
          </a:p>
        </p:txBody>
      </p:sp>
      <p:sp>
        <p:nvSpPr>
          <p:cNvPr id="3" name="tag"/>
          <p:cNvSpPr/>
          <p:nvPr/>
        </p:nvSpPr>
        <p:spPr>
          <a:xfrm>
            <a:off x="9738360" y="457200"/>
            <a:ext cx="1920240" cy="365760"/>
          </a:xfrm>
          <a:prstGeom prst="roundRect">
            <a:avLst>
              <a:gd name="adj" fmla="val 50000"/>
            </a:avLst>
          </a:prstGeom>
          <a:solidFill>
            <a:srgbClr val="00A6A6"/>
          </a:solidFill>
          <a:ln w="12700">
            <a:solidFill>
              <a:srgbClr val="00A6A6"/>
            </a:solidFill>
            <a:prstDash val="solid"/>
          </a:ln>
        </p:spPr>
      </p:sp>
      <p:sp>
        <p:nvSpPr>
          <p:cNvPr id="4" name="Text 2"/>
          <p:cNvSpPr txBox="1"/>
          <p:nvPr/>
        </p:nvSpPr>
        <p:spPr>
          <a:xfrm>
            <a:off x="9738360" y="457200"/>
            <a:ext cx="1920240"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OPTIONAL ANALYSIS</a:t>
            </a:r>
            <a:endParaRPr lang="en-US" sz="1000" dirty="0"/>
          </a:p>
        </p:txBody>
      </p:sp>
      <p:sp>
        <p:nvSpPr>
          <p:cNvPr id="5" name="Text 3"/>
          <p:cNvSpPr txBox="1"/>
          <p:nvPr/>
        </p:nvSpPr>
        <p:spPr>
          <a:xfrm>
            <a:off x="8229600" y="6400800"/>
            <a:ext cx="1554480" cy="32004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19 / 20</a:t>
            </a:r>
            <a:endParaRPr lang="en-US" sz="1000" dirty="0"/>
          </a:p>
        </p:txBody>
      </p:sp>
      <p:sp>
        <p:nvSpPr>
          <p:cNvPr id="6" name="navButton"/>
          <p:cNvSpPr/>
          <p:nvPr/>
        </p:nvSpPr>
        <p:spPr>
          <a:xfrm>
            <a:off x="9921240" y="6419088"/>
            <a:ext cx="822960" cy="292608"/>
          </a:xfrm>
          <a:prstGeom prst="roundRect">
            <a:avLst>
              <a:gd name="adj" fmla="val 50000"/>
            </a:avLst>
          </a:prstGeom>
          <a:solidFill>
            <a:srgbClr val="FFFFFF"/>
          </a:solidFill>
          <a:ln w="12700">
            <a:solidFill>
              <a:srgbClr val="C9D3E3"/>
            </a:solidFill>
            <a:prstDash val="solid"/>
          </a:ln>
        </p:spPr>
      </p:sp>
      <p:sp>
        <p:nvSpPr>
          <p:cNvPr id="7" name="Text 5">
            <a:hlinkClick r:id="rId1" tooltip="Previous slide" action="ppaction://hlinksldjump"/>
          </p:cNvPr>
          <p:cNvSpPr txBox="1"/>
          <p:nvPr/>
        </p:nvSpPr>
        <p:spPr>
          <a:xfrm>
            <a:off x="99212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1" action="ppaction://hlinksldjump" tooltip="Previous slide">
                  <a:extLst>
                    <a:ext uri="{A12FA001-AC4F-418D-AE19-62706E023703}">
                      <ahyp:hlinkClr xmlns:ahyp="http://schemas.microsoft.com/office/drawing/2018/hyperlinkcolor" val="tx"/>
                    </a:ext>
                  </a:extLst>
                </a:hlinkClick>
              </a:rPr>
              <a:t>‹ Prev</a:t>
            </a:r>
            <a:endParaRPr lang="en-US" sz="1000" dirty="0"/>
          </a:p>
        </p:txBody>
      </p:sp>
      <p:sp>
        <p:nvSpPr>
          <p:cNvPr id="8" name="navButton"/>
          <p:cNvSpPr/>
          <p:nvPr/>
        </p:nvSpPr>
        <p:spPr>
          <a:xfrm>
            <a:off x="10835640" y="6419088"/>
            <a:ext cx="822960" cy="292608"/>
          </a:xfrm>
          <a:prstGeom prst="roundRect">
            <a:avLst>
              <a:gd name="adj" fmla="val 50000"/>
            </a:avLst>
          </a:prstGeom>
          <a:solidFill>
            <a:srgbClr val="FFFFFF"/>
          </a:solidFill>
          <a:ln w="12700">
            <a:solidFill>
              <a:srgbClr val="C9D3E3"/>
            </a:solidFill>
            <a:prstDash val="solid"/>
          </a:ln>
        </p:spPr>
      </p:sp>
      <p:sp>
        <p:nvSpPr>
          <p:cNvPr id="9" name="Text 7">
            <a:hlinkClick r:id="rId2" tooltip="Next slide" action="ppaction://hlinksldjump"/>
          </p:cNvPr>
          <p:cNvSpPr txBox="1"/>
          <p:nvPr/>
        </p:nvSpPr>
        <p:spPr>
          <a:xfrm>
            <a:off x="108356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2" action="ppaction://hlinksldjump" tooltip="Next slide">
                  <a:extLst>
                    <a:ext uri="{A12FA001-AC4F-418D-AE19-62706E023703}">
                      <ahyp:hlinkClr xmlns:ahyp="http://schemas.microsoft.com/office/drawing/2018/hyperlinkcolor" val="tx"/>
                    </a:ext>
                  </a:extLst>
                </a:hlinkClick>
              </a:rPr>
              <a:t>Next ›</a:t>
            </a:r>
            <a:endParaRPr lang="en-US" sz="1000" dirty="0"/>
          </a:p>
        </p:txBody>
      </p:sp>
      <p:sp>
        <p:nvSpPr>
          <p:cNvPr id="11" name="card"/>
          <p:cNvSpPr/>
          <p:nvPr/>
        </p:nvSpPr>
        <p:spPr>
          <a:xfrm>
            <a:off x="548640" y="1325880"/>
            <a:ext cx="6583680" cy="2926080"/>
          </a:xfrm>
          <a:prstGeom prst="roundRect">
            <a:avLst>
              <a:gd name="adj" fmla="val 3750"/>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graphicFrame>
        <p:nvGraphicFramePr>
          <p:cNvPr id="12" name="Chart 0" descr=""/>
          <p:cNvGraphicFramePr/>
          <p:nvPr/>
        </p:nvGraphicFramePr>
        <p:xfrm>
          <a:off x="640080" y="1371600"/>
          <a:ext cx="6400800" cy="2834640"/>
        </p:xfrm>
        <a:graphic xmlns:a="http://schemas.openxmlformats.org/drawingml/2006/main">
          <a:graphicData uri="http://schemas.openxmlformats.org/drawingml/2006/chart">
            <c:chart xmlns:c="http://schemas.openxmlformats.org/drawingml/2006/chart" r:id="rId3"/>
          </a:graphicData>
        </a:graphic>
      </p:graphicFrame>
      <p:sp>
        <p:nvSpPr>
          <p:cNvPr id="13" name="stat"/>
          <p:cNvSpPr/>
          <p:nvPr/>
        </p:nvSpPr>
        <p:spPr>
          <a:xfrm>
            <a:off x="7315200" y="1325880"/>
            <a:ext cx="4343400" cy="1325880"/>
          </a:xfrm>
          <a:prstGeom prst="roundRect">
            <a:avLst>
              <a:gd name="adj" fmla="val 8276"/>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4" name="Text 10"/>
          <p:cNvSpPr txBox="1"/>
          <p:nvPr/>
        </p:nvSpPr>
        <p:spPr>
          <a:xfrm>
            <a:off x="7498080" y="1463040"/>
            <a:ext cx="3977640" cy="662940"/>
          </a:xfrm>
          <a:prstGeom prst="rect">
            <a:avLst/>
          </a:prstGeom>
          <a:noFill/>
          <a:ln/>
        </p:spPr>
        <p:txBody>
          <a:bodyPr wrap="square" lIns="0" tIns="0" rIns="0" bIns="0" rtlCol="0" anchor="ctr"/>
          <a:lstStyle/>
          <a:p>
            <a:pPr indent="0" marL="0">
              <a:buNone/>
            </a:pPr>
            <a:r>
              <a:rPr lang="en-US" sz="3400" b="1" dirty="0">
                <a:solidFill>
                  <a:srgbClr val="F28C28"/>
                </a:solidFill>
                <a:latin typeface="Calibri" pitchFamily="34" charset="0"/>
                <a:ea typeface="Calibri" pitchFamily="34" charset="-122"/>
                <a:cs typeface="Calibri" pitchFamily="34" charset="-120"/>
              </a:rPr>
              <a:t>26.13%</a:t>
            </a:r>
            <a:endParaRPr lang="en-US" sz="3400" dirty="0"/>
          </a:p>
        </p:txBody>
      </p:sp>
      <p:sp>
        <p:nvSpPr>
          <p:cNvPr id="15" name="Text 11"/>
          <p:cNvSpPr txBox="1"/>
          <p:nvPr/>
        </p:nvSpPr>
        <p:spPr>
          <a:xfrm>
            <a:off x="7498080" y="2055114"/>
            <a:ext cx="3977640" cy="556870"/>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Higher-Income Applicants: highest model test error, so keep a human close</a:t>
            </a:r>
            <a:endParaRPr lang="en-US" sz="1300" dirty="0"/>
          </a:p>
        </p:txBody>
      </p:sp>
      <p:sp>
        <p:nvSpPr>
          <p:cNvPr id="16" name="stat"/>
          <p:cNvSpPr/>
          <p:nvPr/>
        </p:nvSpPr>
        <p:spPr>
          <a:xfrm>
            <a:off x="7315200" y="2788920"/>
            <a:ext cx="4343400" cy="1463040"/>
          </a:xfrm>
          <a:prstGeom prst="roundRect">
            <a:avLst>
              <a:gd name="adj" fmla="val 7500"/>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sp>
        <p:nvSpPr>
          <p:cNvPr id="17" name="Text 13"/>
          <p:cNvSpPr txBox="1"/>
          <p:nvPr/>
        </p:nvSpPr>
        <p:spPr>
          <a:xfrm>
            <a:off x="7498080" y="2926080"/>
            <a:ext cx="3977640" cy="731520"/>
          </a:xfrm>
          <a:prstGeom prst="rect">
            <a:avLst/>
          </a:prstGeom>
          <a:noFill/>
          <a:ln/>
        </p:spPr>
        <p:txBody>
          <a:bodyPr wrap="square" lIns="0" tIns="0" rIns="0" bIns="0" rtlCol="0" anchor="ctr"/>
          <a:lstStyle/>
          <a:p>
            <a:pPr indent="0" marL="0">
              <a:buNone/>
            </a:pPr>
            <a:r>
              <a:rPr lang="en-US" sz="3400" b="1" dirty="0">
                <a:solidFill>
                  <a:srgbClr val="6C4AB6"/>
                </a:solidFill>
                <a:latin typeface="Calibri" pitchFamily="34" charset="0"/>
                <a:ea typeface="Calibri" pitchFamily="34" charset="-122"/>
                <a:cs typeface="Calibri" pitchFamily="34" charset="-120"/>
              </a:rPr>
              <a:t>0.72</a:t>
            </a:r>
            <a:endParaRPr lang="en-US" sz="3400" dirty="0"/>
          </a:p>
        </p:txBody>
      </p:sp>
      <p:sp>
        <p:nvSpPr>
          <p:cNvPr id="18" name="Text 14"/>
          <p:cNvSpPr txBox="1"/>
          <p:nvPr/>
        </p:nvSpPr>
        <p:spPr>
          <a:xfrm>
            <a:off x="7498080" y="3593592"/>
            <a:ext cx="3977640" cy="614477"/>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High FOIR segment: highest average FOIR (EMIs ≈ 72% of income)</a:t>
            </a:r>
            <a:endParaRPr lang="en-US" sz="1300" dirty="0"/>
          </a:p>
        </p:txBody>
      </p:sp>
      <p:sp>
        <p:nvSpPr>
          <p:cNvPr id="19" name="card"/>
          <p:cNvSpPr/>
          <p:nvPr/>
        </p:nvSpPr>
        <p:spPr>
          <a:xfrm>
            <a:off x="548640" y="4389120"/>
            <a:ext cx="11109960" cy="1828800"/>
          </a:xfrm>
          <a:prstGeom prst="roundRect">
            <a:avLst>
              <a:gd name="adj" fmla="val 6000"/>
            </a:avLst>
          </a:prstGeom>
          <a:solidFill>
            <a:srgbClr val="FFFFFF"/>
          </a:solidFill>
          <a:ln w="6350">
            <a:solidFill>
              <a:srgbClr val="FFFFFF"/>
            </a:solidFill>
            <a:prstDash val="solid"/>
          </a:ln>
          <a:effectLst>
            <a:outerShdw sx="100000" sy="100000" kx="0" ky="0" algn="bl" rotWithShape="0" blurRad="76200" dist="25400" dir="5400000">
              <a:srgbClr val="000000">
                <a:alpha val="12000"/>
              </a:srgbClr>
            </a:outerShdw>
          </a:effectLst>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31520" y="4480560"/>
          <a:ext cx="10744200" cy="914400"/>
        </p:xfrm>
        <a:graphic>
          <a:graphicData uri="http://schemas.openxmlformats.org/drawingml/2006/table">
            <a:tbl>
              <a:tblPr/>
              <a:tblGrid>
                <a:gridCol w="3291840"/>
                <a:gridCol w="1371600"/>
                <a:gridCol w="1463040"/>
                <a:gridCol w="1280160"/>
                <a:gridCol w="1645920"/>
                <a:gridCol w="1691640"/>
              </a:tblGrid>
              <a:tr h="329184">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Segment</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0B1F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Applicants</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0B1F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Avg income</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0B1F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Avg FOIR</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0B1F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Approval</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0B1F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Test error</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0B1F4B"/>
                    </a:solidFill>
                  </a:tcPr>
                </a:tc>
              </a:tr>
              <a:tr h="329184">
                <a:tc>
                  <a:txBody>
                    <a:bodyPr/>
                    <a:lstStyle/>
                    <a:p>
                      <a:pPr algn="l" indent="0" marL="0">
                        <a:buNone/>
                      </a:pPr>
                      <a:r>
                        <a:rPr lang="en-US" sz="1200" b="1" dirty="0">
                          <a:solidFill>
                            <a:srgbClr val="1F2A44"/>
                          </a:solidFill>
                          <a:latin typeface="Calibri" pitchFamily="34" charset="0"/>
                          <a:ea typeface="Calibri" pitchFamily="34" charset="-122"/>
                          <a:cs typeface="Calibri" pitchFamily="34" charset="-120"/>
                        </a:rPr>
                        <a:t>Higher-Income Applicants</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1E0"/>
                    </a:solidFill>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1,736</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1E0"/>
                    </a:solidFill>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₹1,20,870</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1E0"/>
                    </a:solidFill>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0.32</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1E0"/>
                    </a:solidFill>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59.22%</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1E0"/>
                    </a:solidFill>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26.13%</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1E0"/>
                    </a:solidFill>
                  </a:tcPr>
                </a:tc>
              </a:tr>
              <a:tr h="329184">
                <a:tc>
                  <a:txBody>
                    <a:bodyPr/>
                    <a:lstStyle/>
                    <a:p>
                      <a:pPr algn="l" indent="0" marL="0">
                        <a:buNone/>
                      </a:pPr>
                      <a:r>
                        <a:rPr lang="en-US" sz="1200" dirty="0">
                          <a:solidFill>
                            <a:srgbClr val="1F2A44"/>
                          </a:solidFill>
                          <a:latin typeface="Calibri" pitchFamily="34" charset="0"/>
                          <a:ea typeface="Calibri" pitchFamily="34" charset="-122"/>
                          <a:cs typeface="Calibri" pitchFamily="34" charset="-120"/>
                        </a:rPr>
                        <a:t>Moderate Income / Shorter Tenure</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5,916</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₹44,978</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0.29</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53.50%</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20.24%</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F2A44"/>
                          </a:solidFill>
                          <a:latin typeface="Calibri" pitchFamily="34" charset="0"/>
                          <a:ea typeface="Calibri" pitchFamily="34" charset="-122"/>
                          <a:cs typeface="Calibri" pitchFamily="34" charset="-120"/>
                        </a:rPr>
                        <a:t>Established Employment</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2,599</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₹55,907</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0.31</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67.76%</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18.28%</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F2A44"/>
                          </a:solidFill>
                          <a:latin typeface="Calibri" pitchFamily="34" charset="0"/>
                          <a:ea typeface="Calibri" pitchFamily="34" charset="-122"/>
                          <a:cs typeface="Calibri" pitchFamily="34" charset="-120"/>
                        </a:rPr>
                        <a:t>High FOIR / Affordability Risk</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1,749</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₹51,723</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0.72</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22.81%</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44"/>
                          </a:solidFill>
                          <a:latin typeface="Calibri" pitchFamily="34" charset="0"/>
                          <a:ea typeface="Calibri" pitchFamily="34" charset="-122"/>
                          <a:cs typeface="Calibri" pitchFamily="34" charset="-120"/>
                        </a:rPr>
                        <a:t>14.25%</a:t>
                      </a:r>
                      <a:endParaRPr lang="en-US" sz="1200" dirty="0">
                        <a:latin typeface="Calibri" charset="0"/>
                        <a:ea typeface="Calibri" charset="0"/>
                        <a:cs typeface="Calibri" charset="0"/>
                      </a:endParaRPr>
                    </a:p>
                  </a:txBody>
                  <a:tcPr marL="91440" marR="91440" marT="45720" marB="4572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txBox="1"/>
          <p:nvPr/>
        </p:nvSpPr>
        <p:spPr>
          <a:xfrm>
            <a:off x="548640" y="36576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Three takeaways</a:t>
            </a:r>
            <a:endParaRPr lang="en-US" sz="2800" dirty="0"/>
          </a:p>
        </p:txBody>
      </p:sp>
      <p:sp>
        <p:nvSpPr>
          <p:cNvPr id="4" name="takeaway"/>
          <p:cNvSpPr/>
          <p:nvPr/>
        </p:nvSpPr>
        <p:spPr>
          <a:xfrm>
            <a:off x="548640" y="1280160"/>
            <a:ext cx="3611880" cy="2834640"/>
          </a:xfrm>
          <a:prstGeom prst="roundRect">
            <a:avLst>
              <a:gd name="adj" fmla="val 3871"/>
            </a:avLst>
          </a:prstGeom>
          <a:solidFill>
            <a:srgbClr val="16337A"/>
          </a:solidFill>
          <a:ln w="19050">
            <a:solidFill>
              <a:srgbClr val="00A6A6"/>
            </a:solidFill>
            <a:prstDash val="solid"/>
          </a:ln>
        </p:spPr>
      </p:sp>
      <p:sp>
        <p:nvSpPr>
          <p:cNvPr id="5" name="num"/>
          <p:cNvSpPr/>
          <p:nvPr/>
        </p:nvSpPr>
        <p:spPr>
          <a:xfrm>
            <a:off x="777240" y="1463040"/>
            <a:ext cx="548640" cy="548640"/>
          </a:xfrm>
          <a:prstGeom prst="ellipse">
            <a:avLst/>
          </a:prstGeom>
          <a:solidFill>
            <a:srgbClr val="00A6A6"/>
          </a:solidFill>
          <a:ln w="12700">
            <a:solidFill>
              <a:srgbClr val="00A6A6"/>
            </a:solidFill>
            <a:prstDash val="solid"/>
          </a:ln>
        </p:spPr>
      </p:sp>
      <p:sp>
        <p:nvSpPr>
          <p:cNvPr id="6" name="Text 3"/>
          <p:cNvSpPr txBox="1"/>
          <p:nvPr/>
        </p:nvSpPr>
        <p:spPr>
          <a:xfrm>
            <a:off x="777240" y="14630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4"/>
          <p:cNvSpPr txBox="1"/>
          <p:nvPr/>
        </p:nvSpPr>
        <p:spPr>
          <a:xfrm>
            <a:off x="1463040" y="1463040"/>
            <a:ext cx="256032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Historical patterns are learnable</a:t>
            </a:r>
            <a:endParaRPr lang="en-US" sz="1600" dirty="0"/>
          </a:p>
        </p:txBody>
      </p:sp>
      <p:sp>
        <p:nvSpPr>
          <p:cNvPr id="8" name="Text 5"/>
          <p:cNvSpPr txBox="1"/>
          <p:nvPr/>
        </p:nvSpPr>
        <p:spPr>
          <a:xfrm>
            <a:off x="777240" y="2194560"/>
            <a:ext cx="3200400" cy="1828800"/>
          </a:xfrm>
          <a:prstGeom prst="rect">
            <a:avLst/>
          </a:prstGeom>
          <a:noFill/>
          <a:ln/>
        </p:spPr>
        <p:txBody>
          <a:bodyPr wrap="square" lIns="0" tIns="0" rIns="0" bIns="0" rtlCol="0" anchor="t"/>
          <a:lstStyle/>
          <a:p>
            <a:pPr indent="0" marL="0">
              <a:buNone/>
            </a:pPr>
            <a:r>
              <a:rPr lang="en-US" sz="1300" dirty="0">
                <a:solidFill>
                  <a:srgbClr val="D6E2F5"/>
                </a:solidFill>
                <a:latin typeface="Calibri" pitchFamily="34" charset="0"/>
                <a:ea typeface="Calibri" pitchFamily="34" charset="-122"/>
                <a:cs typeface="Calibri" pitchFamily="34" charset="-120"/>
              </a:rPr>
              <a:t>Past decisions follow credit score, FOIR and delinquencies, so ML can flag clear-cut cases for review.</a:t>
            </a:r>
            <a:endParaRPr lang="en-US" sz="1300" dirty="0"/>
          </a:p>
        </p:txBody>
      </p:sp>
      <p:sp>
        <p:nvSpPr>
          <p:cNvPr id="9" name="takeaway"/>
          <p:cNvSpPr/>
          <p:nvPr/>
        </p:nvSpPr>
        <p:spPr>
          <a:xfrm>
            <a:off x="4297680" y="1280160"/>
            <a:ext cx="3611880" cy="2834640"/>
          </a:xfrm>
          <a:prstGeom prst="roundRect">
            <a:avLst>
              <a:gd name="adj" fmla="val 3871"/>
            </a:avLst>
          </a:prstGeom>
          <a:solidFill>
            <a:srgbClr val="16337A"/>
          </a:solidFill>
          <a:ln w="19050">
            <a:solidFill>
              <a:srgbClr val="6C4AB6"/>
            </a:solidFill>
            <a:prstDash val="solid"/>
          </a:ln>
        </p:spPr>
      </p:sp>
      <p:sp>
        <p:nvSpPr>
          <p:cNvPr id="10" name="num"/>
          <p:cNvSpPr/>
          <p:nvPr/>
        </p:nvSpPr>
        <p:spPr>
          <a:xfrm>
            <a:off x="4526280" y="1463040"/>
            <a:ext cx="548640" cy="548640"/>
          </a:xfrm>
          <a:prstGeom prst="ellipse">
            <a:avLst/>
          </a:prstGeom>
          <a:solidFill>
            <a:srgbClr val="6C4AB6"/>
          </a:solidFill>
          <a:ln w="12700">
            <a:solidFill>
              <a:srgbClr val="6C4AB6"/>
            </a:solidFill>
            <a:prstDash val="solid"/>
          </a:ln>
        </p:spPr>
      </p:sp>
      <p:sp>
        <p:nvSpPr>
          <p:cNvPr id="11" name="Text 8"/>
          <p:cNvSpPr txBox="1"/>
          <p:nvPr/>
        </p:nvSpPr>
        <p:spPr>
          <a:xfrm>
            <a:off x="4526280" y="14630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9"/>
          <p:cNvSpPr txBox="1"/>
          <p:nvPr/>
        </p:nvSpPr>
        <p:spPr>
          <a:xfrm>
            <a:off x="5212080" y="1463040"/>
            <a:ext cx="256032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Gradient Boosting helps most</a:t>
            </a:r>
            <a:endParaRPr lang="en-US" sz="1600" dirty="0"/>
          </a:p>
        </p:txBody>
      </p:sp>
      <p:sp>
        <p:nvSpPr>
          <p:cNvPr id="13" name="Text 10"/>
          <p:cNvSpPr txBox="1"/>
          <p:nvPr/>
        </p:nvSpPr>
        <p:spPr>
          <a:xfrm>
            <a:off x="4526280" y="2194560"/>
            <a:ext cx="3200400" cy="1828800"/>
          </a:xfrm>
          <a:prstGeom prst="rect">
            <a:avLst/>
          </a:prstGeom>
          <a:noFill/>
          <a:ln/>
        </p:spPr>
        <p:txBody>
          <a:bodyPr wrap="square" lIns="0" tIns="0" rIns="0" bIns="0" rtlCol="0" anchor="t"/>
          <a:lstStyle/>
          <a:p>
            <a:pPr indent="0" marL="0">
              <a:buNone/>
            </a:pPr>
            <a:r>
              <a:rPr lang="en-US" sz="1300" dirty="0">
                <a:solidFill>
                  <a:srgbClr val="D6E2F5"/>
                </a:solidFill>
                <a:latin typeface="Calibri" pitchFamily="34" charset="0"/>
                <a:ea typeface="Calibri" pitchFamily="34" charset="-122"/>
                <a:cs typeface="Calibri" pitchFamily="34" charset="-120"/>
              </a:rPr>
              <a:t>It automates 43.5% of the queue vs 30.0% for Logistic Regression, with both lanes within 5% error.</a:t>
            </a:r>
            <a:endParaRPr lang="en-US" sz="1300" dirty="0"/>
          </a:p>
        </p:txBody>
      </p:sp>
      <p:sp>
        <p:nvSpPr>
          <p:cNvPr id="14" name="takeaway"/>
          <p:cNvSpPr/>
          <p:nvPr/>
        </p:nvSpPr>
        <p:spPr>
          <a:xfrm>
            <a:off x="8046720" y="1280160"/>
            <a:ext cx="3611880" cy="2834640"/>
          </a:xfrm>
          <a:prstGeom prst="roundRect">
            <a:avLst>
              <a:gd name="adj" fmla="val 3871"/>
            </a:avLst>
          </a:prstGeom>
          <a:solidFill>
            <a:srgbClr val="16337A"/>
          </a:solidFill>
          <a:ln w="19050">
            <a:solidFill>
              <a:srgbClr val="F28C28"/>
            </a:solidFill>
            <a:prstDash val="solid"/>
          </a:ln>
        </p:spPr>
      </p:sp>
      <p:sp>
        <p:nvSpPr>
          <p:cNvPr id="15" name="num"/>
          <p:cNvSpPr/>
          <p:nvPr/>
        </p:nvSpPr>
        <p:spPr>
          <a:xfrm>
            <a:off x="8275320" y="1463040"/>
            <a:ext cx="548640" cy="548640"/>
          </a:xfrm>
          <a:prstGeom prst="ellipse">
            <a:avLst/>
          </a:prstGeom>
          <a:solidFill>
            <a:srgbClr val="F28C28"/>
          </a:solidFill>
          <a:ln w="12700">
            <a:solidFill>
              <a:srgbClr val="F28C28"/>
            </a:solidFill>
            <a:prstDash val="solid"/>
          </a:ln>
        </p:spPr>
      </p:sp>
      <p:sp>
        <p:nvSpPr>
          <p:cNvPr id="16" name="Text 13"/>
          <p:cNvSpPr txBox="1"/>
          <p:nvPr/>
        </p:nvSpPr>
        <p:spPr>
          <a:xfrm>
            <a:off x="8275320" y="14630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4"/>
          <p:cNvSpPr txBox="1"/>
          <p:nvPr/>
        </p:nvSpPr>
        <p:spPr>
          <a:xfrm>
            <a:off x="8961120" y="1463040"/>
            <a:ext cx="256032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Test before going live</a:t>
            </a:r>
            <a:endParaRPr lang="en-US" sz="1600" dirty="0"/>
          </a:p>
        </p:txBody>
      </p:sp>
      <p:sp>
        <p:nvSpPr>
          <p:cNvPr id="18" name="Text 15"/>
          <p:cNvSpPr txBox="1"/>
          <p:nvPr/>
        </p:nvSpPr>
        <p:spPr>
          <a:xfrm>
            <a:off x="8275320" y="2194560"/>
            <a:ext cx="3200400" cy="1828800"/>
          </a:xfrm>
          <a:prstGeom prst="rect">
            <a:avLst/>
          </a:prstGeom>
          <a:noFill/>
          <a:ln/>
        </p:spPr>
        <p:txBody>
          <a:bodyPr wrap="square" lIns="0" tIns="0" rIns="0" bIns="0" rtlCol="0" anchor="t"/>
          <a:lstStyle/>
          <a:p>
            <a:pPr indent="0" marL="0">
              <a:buNone/>
            </a:pPr>
            <a:r>
              <a:rPr lang="en-US" sz="1300" dirty="0">
                <a:solidFill>
                  <a:srgbClr val="D6E2F5"/>
                </a:solidFill>
                <a:latin typeface="Calibri" pitchFamily="34" charset="0"/>
                <a:ea typeface="Calibri" pitchFamily="34" charset="-122"/>
                <a:cs typeface="Calibri" pitchFamily="34" charset="-120"/>
              </a:rPr>
              <a:t>Six months of data may carry bias: use shadow-mode testing, fairness monitoring and human review. K-Means (Step 5.12): Higher-Income segment had the most errors (26.13%).</a:t>
            </a:r>
            <a:endParaRPr lang="en-US" sz="1300" dirty="0"/>
          </a:p>
        </p:txBody>
      </p:sp>
      <p:sp>
        <p:nvSpPr>
          <p:cNvPr id="19" name="Text 16"/>
          <p:cNvSpPr txBox="1"/>
          <p:nvPr/>
        </p:nvSpPr>
        <p:spPr>
          <a:xfrm>
            <a:off x="548640" y="4572000"/>
            <a:ext cx="64008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20" name="Text 17"/>
          <p:cNvSpPr txBox="1"/>
          <p:nvPr/>
        </p:nvSpPr>
        <p:spPr>
          <a:xfrm>
            <a:off x="548640" y="5394960"/>
            <a:ext cx="6400800" cy="457200"/>
          </a:xfrm>
          <a:prstGeom prst="rect">
            <a:avLst/>
          </a:prstGeom>
          <a:noFill/>
          <a:ln/>
        </p:spPr>
        <p:txBody>
          <a:bodyPr wrap="square" lIns="0" tIns="0" rIns="0" bIns="0" rtlCol="0" anchor="t"/>
          <a:lstStyle/>
          <a:p>
            <a:pPr indent="0" marL="0">
              <a:buNone/>
            </a:pPr>
            <a:r>
              <a:rPr lang="en-US" sz="2200" b="1" dirty="0">
                <a:solidFill>
                  <a:srgbClr val="7FE0E0"/>
                </a:solidFill>
                <a:latin typeface="Calibri" pitchFamily="34" charset="0"/>
                <a:ea typeface="Calibri" pitchFamily="34" charset="-122"/>
                <a:cs typeface="Calibri" pitchFamily="34" charset="-120"/>
              </a:rPr>
              <a:t>Questions?</a:t>
            </a:r>
            <a:endParaRPr lang="en-US" sz="2200" dirty="0"/>
          </a:p>
        </p:txBody>
      </p:sp>
      <p:sp>
        <p:nvSpPr>
          <p:cNvPr id="21" name="Text 18"/>
          <p:cNvSpPr txBox="1"/>
          <p:nvPr/>
        </p:nvSpPr>
        <p:spPr>
          <a:xfrm>
            <a:off x="548640" y="5897880"/>
            <a:ext cx="6400800" cy="32004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Presented by D Koteswara Rao</a:t>
            </a:r>
            <a:endParaRPr lang="en-US" sz="1300" dirty="0"/>
          </a:p>
        </p:txBody>
      </p:sp>
      <p:sp>
        <p:nvSpPr>
          <p:cNvPr id="22" name="iconCircle"/>
          <p:cNvSpPr/>
          <p:nvPr/>
        </p:nvSpPr>
        <p:spPr>
          <a:xfrm>
            <a:off x="9966960" y="4617720"/>
            <a:ext cx="1371600" cy="1371600"/>
          </a:xfrm>
          <a:prstGeom prst="ellipse">
            <a:avLst/>
          </a:prstGeom>
          <a:solidFill>
            <a:srgbClr val="00A6A6"/>
          </a:solidFill>
          <a:ln w="12700">
            <a:solidFill>
              <a:srgbClr val="00A6A6"/>
            </a:solidFill>
            <a:prstDash val="solid"/>
          </a:ln>
        </p:spPr>
      </p:sp>
      <p:pic>
        <p:nvPicPr>
          <p:cNvPr id="23" name="Image 0" descr="University icon">    </p:cNvPr>
          <p:cNvPicPr>
            <a:picLocks noChangeAspect="1"/>
          </p:cNvPicPr>
          <p:nvPr/>
        </p:nvPicPr>
        <p:blipFill>
          <a:blip r:embed="rId1"/>
          <a:stretch>
            <a:fillRect/>
          </a:stretch>
        </p:blipFill>
        <p:spPr>
          <a:xfrm>
            <a:off x="10309860" y="4960620"/>
            <a:ext cx="685800" cy="685800"/>
          </a:xfrm>
          <a:prstGeom prst="rect">
            <a:avLst/>
          </a:prstGeom>
        </p:spPr>
      </p:pic>
      <p:sp>
        <p:nvSpPr>
          <p:cNvPr id="24" name="Text 20"/>
          <p:cNvSpPr txBox="1"/>
          <p:nvPr/>
        </p:nvSpPr>
        <p:spPr>
          <a:xfrm>
            <a:off x="8229600" y="6400800"/>
            <a:ext cx="1554480" cy="320040"/>
          </a:xfrm>
          <a:prstGeom prst="rect">
            <a:avLst/>
          </a:prstGeom>
          <a:noFill/>
          <a:ln/>
        </p:spPr>
        <p:txBody>
          <a:bodyPr wrap="square" lIns="0" tIns="0" rIns="0" bIns="0" rtlCol="0" anchor="ctr"/>
          <a:lstStyle/>
          <a:p>
            <a:pPr algn="r" indent="0" marL="0">
              <a:buNone/>
            </a:pPr>
            <a:r>
              <a:rPr lang="en-US" sz="1000" dirty="0">
                <a:solidFill>
                  <a:srgbClr val="B8C4DC"/>
                </a:solidFill>
                <a:latin typeface="Calibri" pitchFamily="34" charset="0"/>
                <a:ea typeface="Calibri" pitchFamily="34" charset="-122"/>
                <a:cs typeface="Calibri" pitchFamily="34" charset="-120"/>
              </a:rPr>
              <a:t>20 / 20</a:t>
            </a:r>
            <a:endParaRPr lang="en-US" sz="1000" dirty="0"/>
          </a:p>
        </p:txBody>
      </p:sp>
      <p:sp>
        <p:nvSpPr>
          <p:cNvPr id="25" name="navButton"/>
          <p:cNvSpPr/>
          <p:nvPr/>
        </p:nvSpPr>
        <p:spPr>
          <a:xfrm>
            <a:off x="9921240" y="6419088"/>
            <a:ext cx="822960" cy="292608"/>
          </a:xfrm>
          <a:prstGeom prst="roundRect">
            <a:avLst>
              <a:gd name="adj" fmla="val 50000"/>
            </a:avLst>
          </a:prstGeom>
          <a:solidFill>
            <a:srgbClr val="FFFFFF"/>
          </a:solidFill>
          <a:ln w="12700">
            <a:solidFill>
              <a:srgbClr val="FFFFFF"/>
            </a:solidFill>
            <a:prstDash val="solid"/>
          </a:ln>
        </p:spPr>
      </p:sp>
      <p:sp>
        <p:nvSpPr>
          <p:cNvPr id="26" name="Text 22">
            <a:hlinkClick r:id="rId2" tooltip="Previous slide" action="ppaction://hlinksldjump"/>
          </p:cNvPr>
          <p:cNvSpPr txBox="1"/>
          <p:nvPr/>
        </p:nvSpPr>
        <p:spPr>
          <a:xfrm>
            <a:off x="99212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2" action="ppaction://hlinksldjump" tooltip="Previous slide">
                  <a:extLst>
                    <a:ext uri="{A12FA001-AC4F-418D-AE19-62706E023703}">
                      <ahyp:hlinkClr xmlns:ahyp="http://schemas.microsoft.com/office/drawing/2018/hyperlinkcolor" val="tx"/>
                    </a:ext>
                  </a:extLst>
                </a:hlinkClick>
              </a:rPr>
              <a:t>‹ Prev</a:t>
            </a:r>
            <a:endParaRPr lang="en-US" sz="1000" dirty="0"/>
          </a:p>
        </p:txBody>
      </p:sp>
      <p:sp>
        <p:nvSpPr>
          <p:cNvPr id="27" name="navButton"/>
          <p:cNvSpPr/>
          <p:nvPr/>
        </p:nvSpPr>
        <p:spPr>
          <a:xfrm>
            <a:off x="10835640" y="6419088"/>
            <a:ext cx="822960" cy="292608"/>
          </a:xfrm>
          <a:prstGeom prst="roundRect">
            <a:avLst>
              <a:gd name="adj" fmla="val 50000"/>
            </a:avLst>
          </a:prstGeom>
          <a:solidFill>
            <a:srgbClr val="FFFFFF"/>
          </a:solidFill>
          <a:ln w="12700">
            <a:solidFill>
              <a:srgbClr val="FFFFFF"/>
            </a:solidFill>
            <a:prstDash val="solid"/>
          </a:ln>
        </p:spPr>
      </p:sp>
      <p:sp>
        <p:nvSpPr>
          <p:cNvPr id="28" name="Text 24">
            <a:hlinkClick r:id="rId3" tooltip="Back to start" action="ppaction://hlinksldjump"/>
          </p:cNvPr>
          <p:cNvSpPr txBox="1"/>
          <p:nvPr/>
        </p:nvSpPr>
        <p:spPr>
          <a:xfrm>
            <a:off x="10835640" y="6419088"/>
            <a:ext cx="822960" cy="292608"/>
          </a:xfrm>
          <a:prstGeom prst="rect">
            <a:avLst/>
          </a:prstGeom>
          <a:noFill/>
          <a:ln/>
        </p:spPr>
        <p:txBody>
          <a:bodyPr wrap="square" lIns="0" tIns="0" rIns="0" bIns="0" rtlCol="0" anchor="ctr"/>
          <a:lstStyle/>
          <a:p>
            <a:pPr algn="ctr" indent="0" marL="0">
              <a:buNone/>
            </a:pPr>
            <a:r>
              <a:rPr lang="en-US" sz="1000" u="sng" dirty="0">
                <a:solidFill>
                  <a:srgbClr val="0B1F4B"/>
                </a:solidFill>
                <a:latin typeface="Calibri" pitchFamily="34" charset="0"/>
                <a:ea typeface="Calibri" pitchFamily="34" charset="-122"/>
                <a:cs typeface="Calibri" pitchFamily="34" charset="-120"/>
                <a:hlinkClick r:id="rId3" action="ppaction://hlinksldjump" tooltip="Back to start">
                  <a:extLst>
                    <a:ext uri="{A12FA001-AC4F-418D-AE19-62706E023703}">
                      <ahyp:hlinkClr xmlns:ahyp="http://schemas.microsoft.com/office/drawing/2018/hyperlinkcolor" val="tx"/>
                    </a:ext>
                  </a:extLst>
                </a:hlinkClick>
              </a:rPr>
              <a:t>Start ›</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Pre-Screening Engine — Loan Intake Optimisation</dc:title>
  <dc:subject>PptxGenJS Presentation</dc:subject>
  <dc:creator>D Koteswara Rao</dc:creator>
  <cp:lastModifiedBy>D Koteswara Rao</cp:lastModifiedBy>
  <cp:revision>1</cp:revision>
  <dcterms:created xsi:type="dcterms:W3CDTF">2026-10-24T16:00:20Z</dcterms:created>
  <dcterms:modified xsi:type="dcterms:W3CDTF">2026-10-24T16:00:20Z</dcterms:modified>
</cp:coreProperties>
</file>